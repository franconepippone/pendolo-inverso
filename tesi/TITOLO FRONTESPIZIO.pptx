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10"/>
  </p:notesMasterIdLst>
  <p:sldIdLst>
    <p:sldId id="627" r:id="rId2"/>
    <p:sldId id="261" r:id="rId3"/>
    <p:sldId id="776" r:id="rId4"/>
    <p:sldId id="777" r:id="rId5"/>
    <p:sldId id="778" r:id="rId6"/>
    <p:sldId id="257" r:id="rId7"/>
    <p:sldId id="259" r:id="rId8"/>
    <p:sldId id="260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5F237-52C5-4C20-9496-EA43D1817310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E2964-AD7C-4037-8D8B-BD216FABB8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815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0267-42D8-F44A-8A36-0D6F655D7E7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0820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E2964-AD7C-4037-8D8B-BD216FABB8C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9383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E2964-AD7C-4037-8D8B-BD216FABB8C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6136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1F552F-9CEC-8A6D-378B-63439E4FE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E2CDB2-1EBF-F0A2-02E9-60AAEE147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A2ACCD-3CAE-A25E-389D-9C2E4F54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625596-0168-E43F-1A44-18ABB5EB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ABF4D8-383A-E2D5-EC75-6C0F802D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0010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9DEC15-CF29-DD01-3AE5-24E0E02B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D80807-0606-F5A2-5763-E7E2B260D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43734B-28CF-95D4-1016-802B792F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56C43C-5B7E-3E66-2DC1-EE39F95F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FF026C-2F8F-B87D-DD05-F7371FD1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20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60059F-D516-9AD5-EFCC-ADBF4E714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603A63A-9DD7-E36A-488C-8D0B93D74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D89D9D-1E94-9517-1159-D2DAA3EB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AF9696-2D2A-A83E-5A2F-5D00D86F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35D1E5-E65E-E0E8-0A98-FDE943D2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1329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B3BF9-5DCB-1AA5-F85E-1B9A7E79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236577-9886-2DD5-C580-5E0B8D1C6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2479916-CEAA-8487-59CD-54BC4E738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DB21D57-1BEE-1788-51A8-2A8B883B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F9D9F30-918D-5BE1-C156-48C9468E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AFAD5D-E476-54AA-E232-19EE2F51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525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08972-7D7C-C1DB-E2D0-BC5A96A3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AA3A8DA-7433-C021-07BC-D6C532A53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ADF457F-01D5-6843-88A0-719D40135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8ACF49C-6B50-1963-4A19-CE69C4965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843838-5DC1-CC0A-183B-408B8DC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4E8827D-9683-53E8-B2CF-BF518717F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2DFA632-51AF-23DD-A4AC-131DD20F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A11E6B-BA7C-7A09-5EFB-058F66F6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922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9521DE-F273-76BA-B6FA-00A8AA68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ABEBFE9-4783-3CEA-ED41-7C9F3A37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F599B0D-0D65-C43A-0E6B-10EA26D5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1D6836-E5D7-BBF4-0782-3BFA4744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854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C788298-F33A-CE3E-A448-027506CE4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39F91B-22C3-309C-C752-E54CF9DB8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3757BE-2C8E-EE32-A22E-98C827DED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304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5E037A-3DB8-1257-3717-EBF75479E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2EC8A0-DC1B-F039-5769-2CC1286E3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F9216D3-8D14-93E3-FF11-4DED5ACEC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B168971-28EB-D9E6-1DBE-607F6BC8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E78E189-8986-07A4-9FD6-27DEA6E6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92E7AF5-C682-E944-02BD-BBD6BACD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722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5725E9-8948-A60C-1FDE-442B54F6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ABE2E78-459E-D570-6C2A-E19DE9772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CDF3609-C9C7-A8CD-F13A-C1F7059A2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53F2F2A-B333-6FB8-D127-6272B710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A4C827A-C6A0-02F3-3C6E-508E01F0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00D4FD-2C27-A893-DF4C-CEEB8D6B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83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DBD548-2E7A-FB1A-CC53-7BE184C2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4D7C56E-CE89-256F-9567-34D29845B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06253F-3565-5C3B-D31C-9AE40FD0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5CDB64-1E19-EA22-24E1-94D54AA7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36FF0E-A4DA-9B0A-9535-941D865D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672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BA32158-6E19-B48C-24A7-077BE7958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5271163-A711-5098-185F-642E0C5B8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755558-79A4-01AC-A999-D6D1C46E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FF6796-C997-C429-F771-8D4C14F8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5882D9-49FB-9C09-A53E-A8C981C1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201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 - Title DISI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963EB6B-22F8-2649-9B74-6E8F102B3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991273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333443F-F1E4-C54F-90F9-7AB74BFF9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953" y="2343597"/>
            <a:ext cx="8499225" cy="4782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 i="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it-IT" dirty="0"/>
              <a:t>Clicca per modificare Nome Cognome</a:t>
            </a:r>
          </a:p>
          <a:p>
            <a:endParaRPr lang="it-IT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C41F5B-B420-6540-A8B7-0B9A1BD134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0953" y="411805"/>
            <a:ext cx="8499232" cy="189239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000" b="1" i="0" cap="none" baseline="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en-US" noProof="0" dirty="0" err="1"/>
              <a:t>Clicca</a:t>
            </a:r>
            <a:r>
              <a:rPr lang="en-US" noProof="0" dirty="0"/>
              <a:t> per </a:t>
            </a:r>
            <a:r>
              <a:rPr lang="en-US" noProof="0" dirty="0" err="1"/>
              <a:t>modificare</a:t>
            </a:r>
            <a:r>
              <a:rPr lang="en-US" noProof="0" dirty="0"/>
              <a:t> il </a:t>
            </a:r>
            <a:r>
              <a:rPr lang="en-US" noProof="0" dirty="0" err="1"/>
              <a:t>Titolo</a:t>
            </a:r>
            <a:endParaRPr lang="en-US" noProof="0" dirty="0"/>
          </a:p>
        </p:txBody>
      </p:sp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DFFF06FE-CA4D-9D45-BE63-0442E9678ABC}"/>
              </a:ext>
            </a:extLst>
          </p:cNvPr>
          <p:cNvCxnSpPr>
            <a:cxnSpLocks/>
          </p:cNvCxnSpPr>
          <p:nvPr userDrawn="1"/>
        </p:nvCxnSpPr>
        <p:spPr>
          <a:xfrm>
            <a:off x="580288" y="0"/>
            <a:ext cx="0" cy="6336323"/>
          </a:xfrm>
          <a:prstGeom prst="line">
            <a:avLst/>
          </a:prstGeom>
          <a:ln w="19050">
            <a:solidFill>
              <a:srgbClr val="FFFFFF">
                <a:alpha val="1490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>
            <a:extLst>
              <a:ext uri="{FF2B5EF4-FFF2-40B4-BE49-F238E27FC236}">
                <a16:creationId xmlns:a16="http://schemas.microsoft.com/office/drawing/2014/main" id="{059DBBDF-10AF-FC40-8026-487E3F309663}"/>
              </a:ext>
            </a:extLst>
          </p:cNvPr>
          <p:cNvSpPr txBox="1">
            <a:spLocks/>
          </p:cNvSpPr>
          <p:nvPr userDrawn="1"/>
        </p:nvSpPr>
        <p:spPr>
          <a:xfrm>
            <a:off x="890952" y="2843349"/>
            <a:ext cx="8499225" cy="478256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2400" b="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829AA67-F8E0-5C4D-A4A2-DAABD6F1BA4F}"/>
              </a:ext>
            </a:extLst>
          </p:cNvPr>
          <p:cNvSpPr/>
          <p:nvPr userDrawn="1"/>
        </p:nvSpPr>
        <p:spPr>
          <a:xfrm>
            <a:off x="549809" y="520399"/>
            <a:ext cx="60959" cy="7619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 b="0" i="0" dirty="0">
              <a:latin typeface="Open Sans Condensed Light" panose="020B0306030504020204" pitchFamily="34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1EE0ACF-3CC0-B342-87F5-9328576E86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1125" y="3148428"/>
            <a:ext cx="8499052" cy="990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667" b="0" i="0"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</a:lstStyle>
          <a:p>
            <a:r>
              <a:rPr lang="it-IT" b="0" dirty="0"/>
              <a:t>Università degli Studi dell’Aquila / </a:t>
            </a:r>
            <a:r>
              <a:rPr lang="it-IT" b="0" dirty="0" err="1"/>
              <a:t>Italy</a:t>
            </a:r>
            <a:endParaRPr lang="it-IT" b="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B33B02C-8FFF-5347-B037-1CF0840DF5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02976" y="255753"/>
            <a:ext cx="2439216" cy="83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79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 INDENT TITLE + CONTENT (pros &amp; 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E60C47F7-94A7-514E-AFC0-4FA6262B33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6462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43FA650-A669-E840-9116-A5DF3AA2B8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377310" y="333558"/>
            <a:ext cx="598669" cy="32987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11413428" y="313830"/>
            <a:ext cx="598669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800" b="0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600" b="0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014DC56-5737-8D41-BE91-5D4C5DF1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903" y="989655"/>
            <a:ext cx="11766428" cy="5534788"/>
          </a:xfrm>
          <a:prstGeom prst="rect">
            <a:avLst/>
          </a:prstGeom>
        </p:spPr>
        <p:txBody>
          <a:bodyPr>
            <a:normAutofit/>
          </a:bodyPr>
          <a:lstStyle>
            <a:lvl1pPr marL="594769" indent="-531271">
              <a:buClr>
                <a:srgbClr val="335C79"/>
              </a:buClr>
              <a:buSzPct val="100000"/>
              <a:buFontTx/>
              <a:buBlip>
                <a:blip r:embed="rId4"/>
              </a:buBlip>
              <a:tabLst/>
              <a:defRPr lang="it-IT" sz="3733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  <a:lvl2pPr marL="594769" indent="-590536">
              <a:lnSpc>
                <a:spcPct val="100000"/>
              </a:lnSpc>
              <a:spcAft>
                <a:spcPts val="1200"/>
              </a:spcAft>
              <a:buFont typeface="Font di sistema regolare"/>
              <a:buChar char=" "/>
              <a:tabLst/>
              <a:defRPr lang="it-IT" sz="32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2pPr>
            <a:lvl3pPr marL="1185304" indent="-590536">
              <a:spcBef>
                <a:spcPts val="1333"/>
              </a:spcBef>
              <a:buSzPct val="120000"/>
              <a:buFontTx/>
              <a:buBlip>
                <a:blip r:embed="rId5"/>
              </a:buBlip>
              <a:tabLst>
                <a:tab pos="1062540" algn="l"/>
              </a:tabLst>
              <a:defRPr lang="it-IT" sz="32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3pPr>
            <a:lvl4pPr marL="1185304" indent="-529153">
              <a:spcBef>
                <a:spcPts val="1333"/>
              </a:spcBef>
              <a:buSzPct val="100000"/>
              <a:buFont typeface="Font di sistema regolare"/>
              <a:buChar char="◦"/>
              <a:tabLst>
                <a:tab pos="1062540" algn="l"/>
              </a:tabLst>
              <a:defRPr lang="en-US" sz="32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4pPr>
            <a:lvl5pPr marL="1185304" indent="-590536">
              <a:spcBef>
                <a:spcPts val="1333"/>
              </a:spcBef>
              <a:buSzPct val="120000"/>
              <a:buFontTx/>
              <a:buBlip>
                <a:blip r:embed="rId6"/>
              </a:buBlip>
              <a:tabLst>
                <a:tab pos="1062540" algn="l"/>
              </a:tabLst>
              <a:defRPr lang="en-US" sz="32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5pPr>
            <a:lvl6pPr marL="1661542" indent="-414856">
              <a:spcBef>
                <a:spcPts val="800"/>
              </a:spcBef>
              <a:buFont typeface="Wingdings" pitchFamily="2" charset="2"/>
              <a:buChar char="§"/>
              <a:tabLst/>
              <a:defRPr lang="en-US" sz="24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</a:lstStyle>
          <a:p>
            <a:pPr lv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lvl="2"/>
            <a:r>
              <a:rPr lang="it-IT" noProof="0" dirty="0"/>
              <a:t>Terzo livello</a:t>
            </a:r>
          </a:p>
          <a:p>
            <a:pPr lvl="3"/>
            <a:r>
              <a:rPr lang="it-IT" noProof="0" dirty="0"/>
              <a:t>Quarto livello</a:t>
            </a:r>
          </a:p>
          <a:p>
            <a:pPr lvl="5"/>
            <a:r>
              <a:rPr lang="it-IT" noProof="0" dirty="0"/>
              <a:t>Sesto livello</a:t>
            </a:r>
          </a:p>
          <a:p>
            <a:pPr lvl="4"/>
            <a:r>
              <a:rPr lang="it-IT" noProof="0" dirty="0"/>
              <a:t>Quinto livello</a:t>
            </a:r>
            <a:endParaRPr lang="en-US" noProof="0" dirty="0"/>
          </a:p>
        </p:txBody>
      </p:sp>
      <p:sp>
        <p:nvSpPr>
          <p:cNvPr id="10" name="Titolo 15">
            <a:extLst>
              <a:ext uri="{FF2B5EF4-FFF2-40B4-BE49-F238E27FC236}">
                <a16:creationId xmlns:a16="http://schemas.microsoft.com/office/drawing/2014/main" id="{991C5DF8-5124-854A-975C-D3E1EEF10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04" y="151284"/>
            <a:ext cx="10799233" cy="5680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4267" b="1" i="0" kern="1200" cap="none" baseline="0">
                <a:solidFill>
                  <a:srgbClr val="094F6D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082978F-DE05-DDB8-F0B4-5C033F40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3A18871-A9FE-DE01-6B68-5CFA5CA1F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5BB0B2-D3C1-1C79-51B5-80A5DF8AD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B3C06-EBFA-4AA2-BEBD-F77A4F840EB3}" type="datetimeFigureOut">
              <a:rPr lang="it-IT" smtClean="0"/>
              <a:t>18/07/2025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88B751-F181-F7A7-08BA-0449DCA7C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B41BDE-C9D1-4500-94B9-38BCE4796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6CD19-A3AE-4381-B79C-1D89286C18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818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ttotitolo 4">
            <a:extLst>
              <a:ext uri="{FF2B5EF4-FFF2-40B4-BE49-F238E27FC236}">
                <a16:creationId xmlns:a16="http://schemas.microsoft.com/office/drawing/2014/main" id="{6D054B59-6F48-3443-8D51-FDD479C83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Americo Cherubini - 289499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2908C81-1CF5-9D42-A169-1D21FF90F8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 err="1"/>
              <a:t>Identificazione</a:t>
            </a:r>
            <a:r>
              <a:rPr lang="en-US" noProof="0" dirty="0"/>
              <a:t> die </a:t>
            </a:r>
            <a:r>
              <a:rPr lang="en-US" noProof="0" dirty="0" err="1"/>
              <a:t>parametri</a:t>
            </a:r>
            <a:r>
              <a:rPr lang="en-US" noProof="0" dirty="0"/>
              <a:t> e </a:t>
            </a:r>
            <a:r>
              <a:rPr lang="en-US" noProof="0" dirty="0" err="1"/>
              <a:t>controllo</a:t>
            </a:r>
            <a:r>
              <a:rPr lang="en-US" noProof="0" dirty="0"/>
              <a:t> di un </a:t>
            </a:r>
            <a:r>
              <a:rPr lang="en-US" noProof="0" dirty="0" err="1"/>
              <a:t>pendolo</a:t>
            </a:r>
            <a:r>
              <a:rPr lang="en-US" noProof="0" dirty="0"/>
              <a:t> </a:t>
            </a:r>
            <a:r>
              <a:rPr lang="en-US" noProof="0" dirty="0" err="1"/>
              <a:t>inverso</a:t>
            </a:r>
            <a:r>
              <a:rPr lang="en-US" noProof="0" dirty="0"/>
              <a:t> </a:t>
            </a:r>
            <a:r>
              <a:rPr lang="en-US" noProof="0" dirty="0" err="1"/>
              <a:t>su</a:t>
            </a:r>
            <a:r>
              <a:rPr lang="en-US" noProof="0" dirty="0"/>
              <a:t> un </a:t>
            </a:r>
            <a:r>
              <a:rPr lang="en-US" noProof="0" dirty="0" err="1"/>
              <a:t>canale</a:t>
            </a:r>
            <a:r>
              <a:rPr lang="en-US" noProof="0" dirty="0"/>
              <a:t> di </a:t>
            </a:r>
            <a:r>
              <a:rPr lang="en-US" noProof="0" dirty="0" err="1"/>
              <a:t>comunicazione</a:t>
            </a:r>
            <a:endParaRPr lang="en-US" noProof="0" dirty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401C706-CF6E-FC4F-86AF-5BB6C7AA53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Università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dell’Aquila</a:t>
            </a:r>
            <a:r>
              <a:rPr lang="en-US" dirty="0"/>
              <a:t> / Italy</a:t>
            </a:r>
          </a:p>
        </p:txBody>
      </p:sp>
    </p:spTree>
    <p:extLst>
      <p:ext uri="{BB962C8B-B14F-4D97-AF65-F5344CB8AC3E}">
        <p14:creationId xmlns:p14="http://schemas.microsoft.com/office/powerpoint/2010/main" val="240478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BFDFA6-5BBA-366A-6B10-BBDC202E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Panoramica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94E456-13A4-7455-282C-7C3CB076E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Sviluppo dell’ambiente di simulazione</a:t>
            </a:r>
          </a:p>
          <a:p>
            <a:r>
              <a:rPr lang="it-IT" dirty="0"/>
              <a:t>Stabilizzazione con PID</a:t>
            </a:r>
          </a:p>
          <a:p>
            <a:pPr lvl="1"/>
            <a:r>
              <a:rPr lang="it-IT" dirty="0"/>
              <a:t>Richiami su controllore PID</a:t>
            </a:r>
          </a:p>
          <a:p>
            <a:r>
              <a:rPr lang="it-IT" dirty="0"/>
              <a:t>Raccolta dati input-output</a:t>
            </a:r>
          </a:p>
          <a:p>
            <a:r>
              <a:rPr lang="it-IT" dirty="0"/>
              <a:t>Stima delle matrici A, B del sistema con regressione lineare</a:t>
            </a:r>
          </a:p>
          <a:p>
            <a:pPr lvl="1"/>
            <a:r>
              <a:rPr lang="it-IT" dirty="0"/>
              <a:t>Stima in caso di rumore</a:t>
            </a:r>
          </a:p>
          <a:p>
            <a:pPr lvl="1"/>
            <a:r>
              <a:rPr lang="it-IT" dirty="0"/>
              <a:t>Stima in caso di perdite di dati sul dataset</a:t>
            </a:r>
          </a:p>
          <a:p>
            <a:r>
              <a:rPr lang="it-IT" dirty="0"/>
              <a:t>Controllo ottimo con LQR</a:t>
            </a:r>
          </a:p>
          <a:p>
            <a:pPr lvl="1"/>
            <a:r>
              <a:rPr lang="it-IT" dirty="0"/>
              <a:t>Tracciamento del gradino con Internal Model Design</a:t>
            </a:r>
          </a:p>
          <a:p>
            <a:r>
              <a:rPr lang="it-IT" dirty="0"/>
              <a:t>Perdite di pacchetti</a:t>
            </a:r>
          </a:p>
          <a:p>
            <a:pPr lvl="1"/>
            <a:r>
              <a:rPr lang="it-IT" dirty="0"/>
              <a:t>Policy di controllo per far fronte alle perdite</a:t>
            </a:r>
          </a:p>
          <a:p>
            <a:r>
              <a:rPr lang="it-IT" dirty="0"/>
              <a:t>Conclusioni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984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5B36776-A015-8A23-E9F3-15C543447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Sviluppo dell’ambiente di simulazione</a:t>
            </a:r>
          </a:p>
          <a:p>
            <a:r>
              <a:rPr lang="it-IT" dirty="0"/>
              <a:t>Stabilizzazione con PID</a:t>
            </a:r>
          </a:p>
          <a:p>
            <a:pPr lvl="1"/>
            <a:r>
              <a:rPr lang="it-IT" dirty="0"/>
              <a:t>Richiami su controllore PID</a:t>
            </a:r>
          </a:p>
          <a:p>
            <a:r>
              <a:rPr lang="it-IT" dirty="0"/>
              <a:t>Raccolta dati input-output</a:t>
            </a:r>
          </a:p>
          <a:p>
            <a:r>
              <a:rPr lang="it-IT" dirty="0"/>
              <a:t>Stima delle matrici A, B del sistema con regressione lineare</a:t>
            </a:r>
          </a:p>
          <a:p>
            <a:pPr lvl="1">
              <a:spcAft>
                <a:spcPts val="0"/>
              </a:spcAft>
            </a:pPr>
            <a:r>
              <a:rPr lang="it-IT" dirty="0"/>
              <a:t>Stima in caso di rumore</a:t>
            </a:r>
          </a:p>
          <a:p>
            <a:pPr lvl="1"/>
            <a:r>
              <a:rPr lang="it-IT" dirty="0"/>
              <a:t>Stima in caso di perdite di dati sul dataset</a:t>
            </a:r>
          </a:p>
          <a:p>
            <a:r>
              <a:rPr lang="it-IT" dirty="0"/>
              <a:t>Controllo ottimo con LQR</a:t>
            </a:r>
          </a:p>
          <a:p>
            <a:pPr lvl="1"/>
            <a:r>
              <a:rPr lang="it-IT" dirty="0"/>
              <a:t>Tracciamento del gradino con Internal Model Design</a:t>
            </a:r>
          </a:p>
          <a:p>
            <a:r>
              <a:rPr lang="it-IT" dirty="0"/>
              <a:t>Perdite di pacchetti</a:t>
            </a:r>
          </a:p>
          <a:p>
            <a:pPr lvl="1"/>
            <a:r>
              <a:rPr lang="it-IT" dirty="0"/>
              <a:t>Policy di controllo per far fronte alle perdite</a:t>
            </a:r>
          </a:p>
          <a:p>
            <a:r>
              <a:rPr lang="it-IT" dirty="0"/>
              <a:t>Conclusioni</a:t>
            </a:r>
          </a:p>
          <a:p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566D1E5-C637-171F-AD1D-102043D3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Panoramica generale</a:t>
            </a:r>
          </a:p>
        </p:txBody>
      </p:sp>
    </p:spTree>
    <p:extLst>
      <p:ext uri="{BB962C8B-B14F-4D97-AF65-F5344CB8AC3E}">
        <p14:creationId xmlns:p14="http://schemas.microsoft.com/office/powerpoint/2010/main" val="379427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5B36776-A015-8A23-E9F3-15C543447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903" y="989655"/>
            <a:ext cx="11914090" cy="1247565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Vengono derivate le equazioni del moto di un pendolo inverso su carrello, e vengono implementate in codice.</a:t>
            </a:r>
          </a:p>
          <a:p>
            <a:pPr lvl="1"/>
            <a:r>
              <a:rPr lang="it-IT" dirty="0"/>
              <a:t>Viene utilizzato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t-IT" sz="2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ATLAB</a:t>
            </a:r>
            <a:r>
              <a:rPr lang="it-IT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®</a:t>
            </a:r>
            <a:r>
              <a:rPr lang="it-IT" dirty="0">
                <a:latin typeface="Open Sans Condensed Light" panose="020B0604020202020204" charset="0"/>
                <a:ea typeface="Open Sans Condensed Light" panose="020B0604020202020204" charset="0"/>
                <a:cs typeface="Open Sans Condensed Light" panose="020B0604020202020204" charset="0"/>
              </a:rPr>
              <a:t> come ambiente di sviluppo.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566D1E5-C637-171F-AD1D-102043D3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Sviluppo dell’ambiente di simulazione</a:t>
            </a:r>
          </a:p>
        </p:txBody>
      </p:sp>
      <p:pic>
        <p:nvPicPr>
          <p:cNvPr id="4" name="Elemento grafico 20">
            <a:extLst>
              <a:ext uri="{FF2B5EF4-FFF2-40B4-BE49-F238E27FC236}">
                <a16:creationId xmlns:a16="http://schemas.microsoft.com/office/drawing/2014/main" id="{063AD83B-7DB1-12C7-B60A-F00096A317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288" t="16464" r="26240" b="19737"/>
          <a:stretch>
            <a:fillRect/>
          </a:stretch>
        </p:blipFill>
        <p:spPr bwMode="auto">
          <a:xfrm>
            <a:off x="316992" y="2392552"/>
            <a:ext cx="4870396" cy="37613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2DC5230-B5FA-9CC6-48E7-5D8B066D74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066"/>
          <a:stretch>
            <a:fillRect/>
          </a:stretch>
        </p:blipFill>
        <p:spPr>
          <a:xfrm>
            <a:off x="5431858" y="2237220"/>
            <a:ext cx="6662135" cy="4072021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681FBF4D-5319-6FA2-32C4-7EA35BC8C076}"/>
              </a:ext>
            </a:extLst>
          </p:cNvPr>
          <p:cNvGrpSpPr/>
          <p:nvPr/>
        </p:nvGrpSpPr>
        <p:grpSpPr>
          <a:xfrm>
            <a:off x="4476214" y="3757049"/>
            <a:ext cx="1103306" cy="772093"/>
            <a:chOff x="6069591" y="1319532"/>
            <a:chExt cx="1000092" cy="678684"/>
          </a:xfrm>
        </p:grpSpPr>
        <p:cxnSp>
          <p:nvCxnSpPr>
            <p:cNvPr id="7" name="Connettore 1 65">
              <a:extLst>
                <a:ext uri="{FF2B5EF4-FFF2-40B4-BE49-F238E27FC236}">
                  <a16:creationId xmlns:a16="http://schemas.microsoft.com/office/drawing/2014/main" id="{4844108B-364E-02CE-BBE8-EBC1F9B12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7012" y="1658874"/>
              <a:ext cx="342671" cy="339342"/>
            </a:xfrm>
            <a:prstGeom prst="line">
              <a:avLst/>
            </a:prstGeom>
            <a:ln w="203200" cap="rnd">
              <a:solidFill>
                <a:srgbClr val="55A2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942EAD24-0229-890E-C8BA-E712272A37FB}"/>
                </a:ext>
              </a:extLst>
            </p:cNvPr>
            <p:cNvGrpSpPr/>
            <p:nvPr/>
          </p:nvGrpSpPr>
          <p:grpSpPr>
            <a:xfrm>
              <a:off x="6069591" y="1319532"/>
              <a:ext cx="1000092" cy="339342"/>
              <a:chOff x="6069591" y="1319532"/>
              <a:chExt cx="1000092" cy="339342"/>
            </a:xfrm>
          </p:grpSpPr>
          <p:cxnSp>
            <p:nvCxnSpPr>
              <p:cNvPr id="9" name="Connettore 1 67">
                <a:extLst>
                  <a:ext uri="{FF2B5EF4-FFF2-40B4-BE49-F238E27FC236}">
                    <a16:creationId xmlns:a16="http://schemas.microsoft.com/office/drawing/2014/main" id="{4EE6BA69-F259-2AC8-BCAF-A10BB8C96E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69591" y="1658874"/>
                <a:ext cx="1000092" cy="0"/>
              </a:xfrm>
              <a:prstGeom prst="line">
                <a:avLst/>
              </a:prstGeom>
              <a:ln w="203200" cap="rnd">
                <a:solidFill>
                  <a:srgbClr val="55A2D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ttore 1 68">
                <a:extLst>
                  <a:ext uri="{FF2B5EF4-FFF2-40B4-BE49-F238E27FC236}">
                    <a16:creationId xmlns:a16="http://schemas.microsoft.com/office/drawing/2014/main" id="{EDE1867B-05B2-76E6-2923-B9EB22117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7012" y="1319532"/>
                <a:ext cx="342671" cy="339342"/>
              </a:xfrm>
              <a:prstGeom prst="line">
                <a:avLst/>
              </a:prstGeom>
              <a:ln w="203200" cap="rnd">
                <a:solidFill>
                  <a:srgbClr val="55A2D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1374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DBF8-2871-DF61-4547-0871F960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1D9D96E-4BC7-8117-AB12-4D6A6CEDD6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Controllore Proporzionale-Derivativo-Integrativo, ampliamente utilizzato nell’industria a causa della sua semplicità e affidabilità.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C37711F-3B01-54F7-B9E1-D26F8740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Stabilizzazione con PID - Richiami</a:t>
            </a:r>
          </a:p>
        </p:txBody>
      </p:sp>
    </p:spTree>
    <p:extLst>
      <p:ext uri="{BB962C8B-B14F-4D97-AF65-F5344CB8AC3E}">
        <p14:creationId xmlns:p14="http://schemas.microsoft.com/office/powerpoint/2010/main" val="278680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E22A66-4B97-8627-DA5C-BE691A2D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Sviluppo dell’ambiente di simulazione</a:t>
            </a:r>
          </a:p>
        </p:txBody>
      </p:sp>
      <p:pic>
        <p:nvPicPr>
          <p:cNvPr id="4" name="Elemento grafico 20">
            <a:extLst>
              <a:ext uri="{FF2B5EF4-FFF2-40B4-BE49-F238E27FC236}">
                <a16:creationId xmlns:a16="http://schemas.microsoft.com/office/drawing/2014/main" id="{442063EA-D5F9-49A8-06AA-B023A0991E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288" t="16464" r="26240" b="19737"/>
          <a:stretch>
            <a:fillRect/>
          </a:stretch>
        </p:blipFill>
        <p:spPr bwMode="auto">
          <a:xfrm>
            <a:off x="838200" y="2191385"/>
            <a:ext cx="3895725" cy="30086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1AE8F39-C0A4-2659-CC08-9DB4D9A04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69F1ECC-5362-A64A-F54F-389548BBA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67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26F2ED2-81A1-B3C5-1E56-2F533C207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846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32" name="Freccia a destra 31">
            <a:extLst>
              <a:ext uri="{FF2B5EF4-FFF2-40B4-BE49-F238E27FC236}">
                <a16:creationId xmlns:a16="http://schemas.microsoft.com/office/drawing/2014/main" id="{A5DB37C4-D65E-130E-64C0-57C9A5A4262F}"/>
              </a:ext>
            </a:extLst>
          </p:cNvPr>
          <p:cNvSpPr/>
          <p:nvPr/>
        </p:nvSpPr>
        <p:spPr>
          <a:xfrm>
            <a:off x="4459605" y="3096006"/>
            <a:ext cx="978408" cy="665987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C2C78B90-0A62-3887-A5F4-1EC0C861DF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3066"/>
          <a:stretch>
            <a:fillRect/>
          </a:stretch>
        </p:blipFill>
        <p:spPr>
          <a:xfrm>
            <a:off x="5636133" y="1859344"/>
            <a:ext cx="5781675" cy="353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38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DD00F5-9E8F-2E27-B664-70E4B81A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Controllore PID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F30B861E-59BA-B75D-F02B-1AFF6429A5AF}"/>
                  </a:ext>
                </a:extLst>
              </p:cNvPr>
              <p:cNvSpPr txBox="1"/>
              <p:nvPr/>
            </p:nvSpPr>
            <p:spPr>
              <a:xfrm>
                <a:off x="4411218" y="695347"/>
                <a:ext cx="6094476" cy="665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it-IT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it-IT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it-IT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it-IT" i="0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it-IT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it-IT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F30B861E-59BA-B75D-F02B-1AFF6429A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218" y="695347"/>
                <a:ext cx="6094476" cy="665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magine 10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5EE0A42-A50A-FF83-96EA-9A0DC798C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45" y="1360465"/>
            <a:ext cx="8314309" cy="49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5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430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224</Words>
  <Application>Microsoft Office PowerPoint</Application>
  <PresentationFormat>Widescreen</PresentationFormat>
  <Paragraphs>40</Paragraphs>
  <Slides>8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Font di sistema regolare</vt:lpstr>
      <vt:lpstr>Open Sans Condensed</vt:lpstr>
      <vt:lpstr>Open Sans Condensed Light</vt:lpstr>
      <vt:lpstr>Times New Roman</vt:lpstr>
      <vt:lpstr>Wingdings</vt:lpstr>
      <vt:lpstr>Tema di Office</vt:lpstr>
      <vt:lpstr>Identificazione die parametri e controllo di un pendolo inverso su un canale di comunicazione</vt:lpstr>
      <vt:lpstr>Panoramica</vt:lpstr>
      <vt:lpstr>Panoramica generale</vt:lpstr>
      <vt:lpstr>Sviluppo dell’ambiente di simulazione</vt:lpstr>
      <vt:lpstr>Stabilizzazione con PID - Richiami</vt:lpstr>
      <vt:lpstr>Sviluppo dell’ambiente di simulazione</vt:lpstr>
      <vt:lpstr>Controllore PID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Americo Cherubini</dc:creator>
  <cp:lastModifiedBy>Americo Cherubini</cp:lastModifiedBy>
  <cp:revision>4</cp:revision>
  <dcterms:created xsi:type="dcterms:W3CDTF">2025-07-18T07:46:47Z</dcterms:created>
  <dcterms:modified xsi:type="dcterms:W3CDTF">2025-07-18T09:44:13Z</dcterms:modified>
</cp:coreProperties>
</file>