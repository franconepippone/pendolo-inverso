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305" r:id="rId5"/>
    <p:sldId id="301" r:id="rId6"/>
    <p:sldId id="293" r:id="rId7"/>
    <p:sldId id="306" r:id="rId8"/>
    <p:sldId id="307" r:id="rId9"/>
    <p:sldId id="308" r:id="rId10"/>
    <p:sldId id="309" r:id="rId11"/>
    <p:sldId id="310" r:id="rId12"/>
    <p:sldId id="315" r:id="rId13"/>
    <p:sldId id="311" r:id="rId14"/>
    <p:sldId id="312" r:id="rId15"/>
    <p:sldId id="313" r:id="rId16"/>
    <p:sldId id="314" r:id="rId17"/>
    <p:sldId id="291" r:id="rId18"/>
    <p:sldId id="302" r:id="rId19"/>
    <p:sldId id="30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438" userDrawn="1">
          <p15:clr>
            <a:srgbClr val="F26B43"/>
          </p15:clr>
        </p15:guide>
        <p15:guide id="3" pos="7287" userDrawn="1">
          <p15:clr>
            <a:srgbClr val="F26B43"/>
          </p15:clr>
        </p15:guide>
        <p15:guide id="4" orient="horz" pos="2160">
          <p15:clr>
            <a:srgbClr val="A4A3A4"/>
          </p15:clr>
        </p15:guide>
        <p15:guide id="5" pos="50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96B5"/>
    <a:srgbClr val="2BADD5"/>
    <a:srgbClr val="1F7E9C"/>
    <a:srgbClr val="080808"/>
    <a:srgbClr val="424242"/>
    <a:srgbClr val="F68631"/>
    <a:srgbClr val="A03A8D"/>
    <a:srgbClr val="686969"/>
    <a:srgbClr val="E21932"/>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ile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Stile medio 2 - Color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Stile medio 2 - Color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Stile medio 2 - Color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Stile medio 2 - Color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Stile medio 2 - Colore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43" autoAdjust="0"/>
    <p:restoredTop sz="80135" autoAdjust="0"/>
  </p:normalViewPr>
  <p:slideViewPr>
    <p:cSldViewPr snapToGrid="0">
      <p:cViewPr varScale="1">
        <p:scale>
          <a:sx n="76" d="100"/>
          <a:sy n="76" d="100"/>
        </p:scale>
        <p:origin x="1214" y="58"/>
      </p:cViewPr>
      <p:guideLst>
        <p:guide pos="438"/>
        <p:guide pos="7287"/>
        <p:guide orient="horz" pos="2160"/>
        <p:guide pos="506"/>
      </p:guideLst>
    </p:cSldViewPr>
  </p:slideViewPr>
  <p:notesTextViewPr>
    <p:cViewPr>
      <p:scale>
        <a:sx n="133" d="100"/>
        <a:sy n="133"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C386CD-5F94-4069-B86B-B77DBC7E53F4}" type="datetimeFigureOut">
              <a:rPr lang="en-US" smtClean="0"/>
              <a:t>7/22/2025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CAE05B-DE45-46FB-8F49-5AB447A5654C}" type="slidenum">
              <a:rPr lang="en-US" smtClean="0"/>
              <a:t>‹N›</a:t>
            </a:fld>
            <a:endParaRPr lang="en-US"/>
          </a:p>
        </p:txBody>
      </p:sp>
    </p:spTree>
    <p:extLst>
      <p:ext uri="{BB962C8B-B14F-4D97-AF65-F5344CB8AC3E}">
        <p14:creationId xmlns:p14="http://schemas.microsoft.com/office/powerpoint/2010/main" val="1634045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lvl="0"/>
            <a:r>
              <a:rPr lang="it-IT" sz="1200" kern="1200" dirty="0">
                <a:solidFill>
                  <a:schemeClr val="tx1"/>
                </a:solidFill>
                <a:effectLst/>
                <a:latin typeface="+mn-lt"/>
                <a:ea typeface="+mn-ea"/>
                <a:cs typeface="+mn-cs"/>
              </a:rPr>
              <a:t>In questa tesi è proposto uno studio con approccio sperimentale ai problemi dell’identificazione e controllo di un pendolo inverso, considerando anche la presenza di canali di comunicazione realistici, affetti da disturbi.</a:t>
            </a:r>
          </a:p>
          <a:p>
            <a:endParaRPr lang="it-IT" dirty="0"/>
          </a:p>
        </p:txBody>
      </p:sp>
      <p:sp>
        <p:nvSpPr>
          <p:cNvPr id="4" name="Segnaposto numero diapositiva 3"/>
          <p:cNvSpPr>
            <a:spLocks noGrp="1"/>
          </p:cNvSpPr>
          <p:nvPr>
            <p:ph type="sldNum" sz="quarter" idx="5"/>
          </p:nvPr>
        </p:nvSpPr>
        <p:spPr/>
        <p:txBody>
          <a:bodyPr/>
          <a:lstStyle/>
          <a:p>
            <a:fld id="{66CAE05B-DE45-46FB-8F49-5AB447A5654C}" type="slidenum">
              <a:rPr lang="en-US" smtClean="0"/>
              <a:t>1</a:t>
            </a:fld>
            <a:endParaRPr lang="en-US"/>
          </a:p>
        </p:txBody>
      </p:sp>
    </p:spTree>
    <p:extLst>
      <p:ext uri="{BB962C8B-B14F-4D97-AF65-F5344CB8AC3E}">
        <p14:creationId xmlns:p14="http://schemas.microsoft.com/office/powerpoint/2010/main" val="9096275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lvl="0"/>
            <a:r>
              <a:rPr lang="it-IT" sz="1200" kern="1200" dirty="0">
                <a:solidFill>
                  <a:schemeClr val="tx1"/>
                </a:solidFill>
                <a:effectLst/>
                <a:latin typeface="+mn-lt"/>
                <a:ea typeface="+mn-ea"/>
                <a:cs typeface="+mn-cs"/>
              </a:rPr>
              <a:t>Dopo aver svolto del lavoro preliminare, e aver stabilizzato il sistema con controllori PID, è stato possibile raccogliere dei dati sulla dinamica input output del sistema, e quindi procedere con gli obiettivi principali della tesi.</a:t>
            </a:r>
          </a:p>
          <a:p>
            <a:pPr lvl="0"/>
            <a:endParaRPr lang="it-IT" sz="1200" kern="1200" dirty="0">
              <a:solidFill>
                <a:schemeClr val="tx1"/>
              </a:solidFill>
              <a:effectLst/>
              <a:latin typeface="+mn-lt"/>
              <a:ea typeface="+mn-ea"/>
              <a:cs typeface="+mn-cs"/>
            </a:endParaRPr>
          </a:p>
          <a:p>
            <a:pPr lvl="0"/>
            <a:r>
              <a:rPr lang="it-IT" sz="1200" kern="1200" dirty="0">
                <a:solidFill>
                  <a:schemeClr val="tx1"/>
                </a:solidFill>
                <a:effectLst/>
                <a:latin typeface="+mn-lt"/>
                <a:ea typeface="+mn-ea"/>
                <a:cs typeface="+mn-cs"/>
              </a:rPr>
              <a:t>Il contributo principale dato da questo lavoro è quello di affrontare il problema dell’identificazione del sistema a partire dalla solo comportamento ingresso-uscita; in presenza o meno di disturbi di comunicazione,</a:t>
            </a:r>
          </a:p>
          <a:p>
            <a:pPr lvl="0"/>
            <a:endParaRPr lang="it-IT" sz="1200" kern="1200" dirty="0">
              <a:solidFill>
                <a:schemeClr val="tx1"/>
              </a:solidFill>
              <a:effectLst/>
              <a:latin typeface="+mn-lt"/>
              <a:ea typeface="+mn-ea"/>
              <a:cs typeface="+mn-cs"/>
            </a:endParaRPr>
          </a:p>
          <a:p>
            <a:pPr lvl="0"/>
            <a:r>
              <a:rPr lang="it-IT" sz="1200" kern="1200" dirty="0">
                <a:solidFill>
                  <a:schemeClr val="tx1"/>
                </a:solidFill>
                <a:effectLst/>
                <a:latin typeface="+mn-lt"/>
                <a:ea typeface="+mn-ea"/>
                <a:cs typeface="+mn-cs"/>
              </a:rPr>
              <a:t>progettazione, attraverso il modello identificato, di controllori ottimi;</a:t>
            </a:r>
          </a:p>
          <a:p>
            <a:pPr lvl="0"/>
            <a:endParaRPr lang="it-IT" sz="1200" kern="1200" dirty="0">
              <a:solidFill>
                <a:schemeClr val="tx1"/>
              </a:solidFill>
              <a:effectLst/>
              <a:latin typeface="+mn-lt"/>
              <a:ea typeface="+mn-ea"/>
              <a:cs typeface="+mn-cs"/>
            </a:endParaRPr>
          </a:p>
          <a:p>
            <a:pPr lvl="0"/>
            <a:r>
              <a:rPr lang="it-IT" sz="1200" kern="1200" dirty="0">
                <a:solidFill>
                  <a:schemeClr val="tx1"/>
                </a:solidFill>
                <a:effectLst/>
                <a:latin typeface="+mn-lt"/>
                <a:ea typeface="+mn-ea"/>
                <a:cs typeface="+mn-cs"/>
              </a:rPr>
              <a:t>E infine valutazione della robustezza di questi controllori a perdite di pacchetti di attuazione, considerando anche l’introduzione di policy di controllo compensative per migliorare le performance.</a:t>
            </a:r>
          </a:p>
          <a:p>
            <a:pPr lvl="0"/>
            <a:r>
              <a:rPr lang="it-IT" sz="1200" kern="1200" dirty="0">
                <a:solidFill>
                  <a:schemeClr val="tx1"/>
                </a:solidFill>
                <a:effectLst/>
                <a:latin typeface="+mn-lt"/>
                <a:ea typeface="+mn-ea"/>
                <a:cs typeface="+mn-cs"/>
              </a:rPr>
              <a:t>--- VECCHIO</a:t>
            </a: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r>
              <a:rPr lang="it-IT" sz="1200" kern="1200" dirty="0">
                <a:solidFill>
                  <a:schemeClr val="tx1"/>
                </a:solidFill>
                <a:effectLst/>
                <a:latin typeface="+mn-lt"/>
                <a:ea typeface="+mn-ea"/>
                <a:cs typeface="+mn-cs"/>
              </a:rPr>
              <a:t>È i quali si effettua la stima delle matrici A B del sistema in forma spazio stato,  utilizzando la regressione lineare; viene inoltre valutato l’impatto che disturbi realistici (perdite e rumore) hanno sull’errore nella stima.</a:t>
            </a:r>
          </a:p>
          <a:p>
            <a:pPr lvl="0"/>
            <a:endParaRPr lang="it-IT" sz="1200" kern="1200" dirty="0">
              <a:solidFill>
                <a:schemeClr val="tx1"/>
              </a:solidFill>
              <a:effectLst/>
              <a:latin typeface="+mn-lt"/>
              <a:ea typeface="+mn-ea"/>
              <a:cs typeface="+mn-cs"/>
            </a:endParaRPr>
          </a:p>
          <a:p>
            <a:pPr lvl="0"/>
            <a:r>
              <a:rPr lang="it-IT" sz="1200" kern="1200" dirty="0">
                <a:solidFill>
                  <a:schemeClr val="tx1"/>
                </a:solidFill>
                <a:effectLst/>
                <a:latin typeface="+mn-lt"/>
                <a:ea typeface="+mn-ea"/>
                <a:cs typeface="+mn-cs"/>
              </a:rPr>
              <a:t>Identificate le matrici del sistema, si può procedere alla sintesi per via analitica di controllori ottimi, </a:t>
            </a:r>
            <a:r>
              <a:rPr lang="it-IT" sz="1200" kern="1200" dirty="0" err="1">
                <a:solidFill>
                  <a:schemeClr val="tx1"/>
                </a:solidFill>
                <a:effectLst/>
                <a:latin typeface="+mn-lt"/>
                <a:ea typeface="+mn-ea"/>
                <a:cs typeface="+mn-cs"/>
              </a:rPr>
              <a:t>utilizzanto</a:t>
            </a:r>
            <a:r>
              <a:rPr lang="it-IT" sz="1200" kern="1200" dirty="0">
                <a:solidFill>
                  <a:schemeClr val="tx1"/>
                </a:solidFill>
                <a:effectLst/>
                <a:latin typeface="+mn-lt"/>
                <a:ea typeface="+mn-ea"/>
                <a:cs typeface="+mn-cs"/>
              </a:rPr>
              <a:t> tecniche come LQR e il principio dell’internal model design</a:t>
            </a:r>
          </a:p>
          <a:p>
            <a:pPr lvl="0"/>
            <a:endParaRPr lang="it-IT" sz="1200" kern="1200" dirty="0">
              <a:solidFill>
                <a:schemeClr val="tx1"/>
              </a:solidFill>
              <a:effectLst/>
              <a:latin typeface="+mn-lt"/>
              <a:ea typeface="+mn-ea"/>
              <a:cs typeface="+mn-cs"/>
            </a:endParaRPr>
          </a:p>
          <a:p>
            <a:pPr lvl="0"/>
            <a:r>
              <a:rPr lang="it-IT" sz="1200" kern="1200" dirty="0">
                <a:solidFill>
                  <a:schemeClr val="tx1"/>
                </a:solidFill>
                <a:effectLst/>
                <a:latin typeface="+mn-lt"/>
                <a:ea typeface="+mn-ea"/>
                <a:cs typeface="+mn-cs"/>
              </a:rPr>
              <a:t>infine viene valutata la robustezza di questi controllori ‘ attraverso l’introduzione di perdite di pacchetti di attuazione, ed è valutato il miglioramento in performance che si ottiene dall’introduzione di una policy di </a:t>
            </a:r>
            <a:r>
              <a:rPr lang="it-IT" sz="1200" kern="1200" dirty="0" err="1">
                <a:solidFill>
                  <a:schemeClr val="tx1"/>
                </a:solidFill>
                <a:effectLst/>
                <a:latin typeface="+mn-lt"/>
                <a:ea typeface="+mn-ea"/>
                <a:cs typeface="+mn-cs"/>
              </a:rPr>
              <a:t>contrllo</a:t>
            </a:r>
            <a:r>
              <a:rPr lang="it-IT" sz="1200" kern="1200" dirty="0">
                <a:solidFill>
                  <a:schemeClr val="tx1"/>
                </a:solidFill>
                <a:effectLst/>
                <a:latin typeface="+mn-lt"/>
                <a:ea typeface="+mn-ea"/>
                <a:cs typeface="+mn-cs"/>
              </a:rPr>
              <a:t> compensativa basata su </a:t>
            </a:r>
            <a:r>
              <a:rPr lang="it-IT" sz="1200" kern="1200" dirty="0" err="1">
                <a:solidFill>
                  <a:schemeClr val="tx1"/>
                </a:solidFill>
                <a:effectLst/>
                <a:latin typeface="+mn-lt"/>
                <a:ea typeface="+mn-ea"/>
                <a:cs typeface="+mn-cs"/>
              </a:rPr>
              <a:t>hold</a:t>
            </a:r>
            <a:r>
              <a:rPr lang="it-IT" sz="1200" kern="1200" dirty="0">
                <a:solidFill>
                  <a:schemeClr val="tx1"/>
                </a:solidFill>
                <a:effectLst/>
                <a:latin typeface="+mn-lt"/>
                <a:ea typeface="+mn-ea"/>
                <a:cs typeface="+mn-cs"/>
              </a:rPr>
              <a:t> del segnale di ingresso di controllo.</a:t>
            </a:r>
          </a:p>
        </p:txBody>
      </p:sp>
      <p:sp>
        <p:nvSpPr>
          <p:cNvPr id="4" name="Segnaposto numero diapositiva 3"/>
          <p:cNvSpPr>
            <a:spLocks noGrp="1"/>
          </p:cNvSpPr>
          <p:nvPr>
            <p:ph type="sldNum" sz="quarter" idx="5"/>
          </p:nvPr>
        </p:nvSpPr>
        <p:spPr/>
        <p:txBody>
          <a:bodyPr/>
          <a:lstStyle/>
          <a:p>
            <a:fld id="{66CAE05B-DE45-46FB-8F49-5AB447A5654C}" type="slidenum">
              <a:rPr lang="en-US" smtClean="0"/>
              <a:t>2</a:t>
            </a:fld>
            <a:endParaRPr lang="en-US"/>
          </a:p>
        </p:txBody>
      </p:sp>
    </p:spTree>
    <p:extLst>
      <p:ext uri="{BB962C8B-B14F-4D97-AF65-F5344CB8AC3E}">
        <p14:creationId xmlns:p14="http://schemas.microsoft.com/office/powerpoint/2010/main" val="1634964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tx1"/>
                </a:solidFill>
                <a:effectLst/>
                <a:latin typeface="+mn-lt"/>
                <a:ea typeface="+mn-ea"/>
                <a:cs typeface="+mn-cs"/>
              </a:rPr>
              <a:t>Le leggi del moto del sistema si derivano a partire dal diagramma a corpo libero; del diagramma in particolare notiamo la forza F, che corrisponde all’ingresso di controllo.</a:t>
            </a:r>
            <a:br>
              <a:rPr lang="it-IT" sz="1200" kern="1200" dirty="0">
                <a:solidFill>
                  <a:schemeClr val="tx1"/>
                </a:solidFill>
                <a:effectLst/>
                <a:latin typeface="+mn-lt"/>
                <a:ea typeface="+mn-ea"/>
                <a:cs typeface="+mn-cs"/>
              </a:rPr>
            </a:br>
            <a:endParaRPr lang="it-IT"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tx1"/>
                </a:solidFill>
                <a:effectLst/>
                <a:latin typeface="+mn-lt"/>
                <a:ea typeface="+mn-ea"/>
                <a:cs typeface="+mn-cs"/>
              </a:rPr>
              <a:t>Si giunge dunque alle equazioni differenziali del secondo ordine non lineari riportate, che verranno usate per la simulazione.</a:t>
            </a:r>
          </a:p>
          <a:p>
            <a:endParaRPr lang="it-IT" dirty="0"/>
          </a:p>
        </p:txBody>
      </p:sp>
      <p:sp>
        <p:nvSpPr>
          <p:cNvPr id="4" name="Segnaposto numero diapositiva 3"/>
          <p:cNvSpPr>
            <a:spLocks noGrp="1"/>
          </p:cNvSpPr>
          <p:nvPr>
            <p:ph type="sldNum" sz="quarter" idx="5"/>
          </p:nvPr>
        </p:nvSpPr>
        <p:spPr/>
        <p:txBody>
          <a:bodyPr/>
          <a:lstStyle/>
          <a:p>
            <a:fld id="{66CAE05B-DE45-46FB-8F49-5AB447A5654C}" type="slidenum">
              <a:rPr lang="en-US" smtClean="0"/>
              <a:t>3</a:t>
            </a:fld>
            <a:endParaRPr lang="en-US"/>
          </a:p>
        </p:txBody>
      </p:sp>
    </p:spTree>
    <p:extLst>
      <p:ext uri="{BB962C8B-B14F-4D97-AF65-F5344CB8AC3E}">
        <p14:creationId xmlns:p14="http://schemas.microsoft.com/office/powerpoint/2010/main" val="42519292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tx1"/>
                </a:solidFill>
                <a:effectLst/>
                <a:latin typeface="+mn-lt"/>
                <a:ea typeface="+mn-ea"/>
                <a:cs typeface="+mn-cs"/>
              </a:rPr>
              <a:t>E’ stato scelto di utilizzare il solutore numerico RK-4, con un passo di simulazione di 1ms, mentre è stato scelto un periodo di loop del controllore di 5ms.</a:t>
            </a:r>
          </a:p>
          <a:p>
            <a:pPr marL="0" marR="0" lvl="0" indent="0" algn="l" defTabSz="914400" rtl="0" eaLnBrk="1" fontAlgn="auto" latinLnBrk="0" hangingPunct="1">
              <a:lnSpc>
                <a:spcPct val="100000"/>
              </a:lnSpc>
              <a:spcBef>
                <a:spcPts val="0"/>
              </a:spcBef>
              <a:spcAft>
                <a:spcPts val="0"/>
              </a:spcAft>
              <a:buClrTx/>
              <a:buSzTx/>
              <a:buFontTx/>
              <a:buNone/>
              <a:tabLst/>
              <a:defRPr/>
            </a:pPr>
            <a:br>
              <a:rPr lang="it-IT" sz="1200" kern="1200" dirty="0">
                <a:solidFill>
                  <a:schemeClr val="tx1"/>
                </a:solidFill>
                <a:effectLst/>
                <a:latin typeface="+mn-lt"/>
                <a:ea typeface="+mn-ea"/>
                <a:cs typeface="+mn-cs"/>
              </a:rPr>
            </a:br>
            <a:r>
              <a:rPr lang="it-IT" sz="1200" kern="1200" dirty="0">
                <a:solidFill>
                  <a:schemeClr val="tx1"/>
                </a:solidFill>
                <a:effectLst/>
                <a:latin typeface="+mn-lt"/>
                <a:ea typeface="+mn-ea"/>
                <a:cs typeface="+mn-cs"/>
              </a:rPr>
              <a:t>Sulla destra è riportato il grafico di una simulazione preliminare del sistema libero, senza alcun ingresso di controllo</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tx1"/>
                </a:solidFill>
                <a:effectLst/>
                <a:latin typeface="+mn-lt"/>
                <a:ea typeface="+mn-ea"/>
                <a:cs typeface="+mn-cs"/>
              </a:rPr>
              <a:t>dove, nel secondo riquadro, in cui è mostrato l’andamento dell’angolo theta, si nota come il pendolo, inizialmente posto nel punto di equilibrio instabile, si rovescia e inizia ad oscillare intorno al punto di equilibrio naturale, riproducendo quindi fedelmente il comportamento atteso.</a:t>
            </a:r>
          </a:p>
          <a:p>
            <a:endParaRPr lang="it-IT" dirty="0"/>
          </a:p>
        </p:txBody>
      </p:sp>
      <p:sp>
        <p:nvSpPr>
          <p:cNvPr id="4" name="Segnaposto numero diapositiva 3"/>
          <p:cNvSpPr>
            <a:spLocks noGrp="1"/>
          </p:cNvSpPr>
          <p:nvPr>
            <p:ph type="sldNum" sz="quarter" idx="5"/>
          </p:nvPr>
        </p:nvSpPr>
        <p:spPr/>
        <p:txBody>
          <a:bodyPr/>
          <a:lstStyle/>
          <a:p>
            <a:fld id="{66CAE05B-DE45-46FB-8F49-5AB447A5654C}" type="slidenum">
              <a:rPr lang="en-US" smtClean="0"/>
              <a:t>4</a:t>
            </a:fld>
            <a:endParaRPr lang="en-US"/>
          </a:p>
        </p:txBody>
      </p:sp>
    </p:spTree>
    <p:extLst>
      <p:ext uri="{BB962C8B-B14F-4D97-AF65-F5344CB8AC3E}">
        <p14:creationId xmlns:p14="http://schemas.microsoft.com/office/powerpoint/2010/main" val="42845081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200" kern="1200" dirty="0">
                <a:solidFill>
                  <a:schemeClr val="tx1"/>
                </a:solidFill>
                <a:effectLst/>
                <a:latin typeface="+mn-lt"/>
                <a:ea typeface="+mn-ea"/>
                <a:cs typeface="+mn-cs"/>
              </a:rPr>
              <a:t>Si procede con la progettazione di un controllore basato sul PID </a:t>
            </a:r>
            <a:r>
              <a:rPr lang="it-IT" sz="1200" i="1" u="sng" kern="1200" dirty="0">
                <a:solidFill>
                  <a:schemeClr val="tx1"/>
                </a:solidFill>
                <a:effectLst/>
                <a:latin typeface="+mn-lt"/>
                <a:ea typeface="+mn-ea"/>
                <a:cs typeface="+mn-cs"/>
              </a:rPr>
              <a:t>(ovvero controllo con componente Proporzionale-Derivativo-Integrativo), </a:t>
            </a:r>
            <a:r>
              <a:rPr lang="it-IT" sz="1200" kern="1200" dirty="0">
                <a:solidFill>
                  <a:schemeClr val="tx1"/>
                </a:solidFill>
                <a:effectLst/>
                <a:latin typeface="+mn-lt"/>
                <a:ea typeface="+mn-ea"/>
                <a:cs typeface="+mn-cs"/>
              </a:rPr>
              <a:t>che per sistemi tempo-discreti consiste nella legge di controllo riportata (</a:t>
            </a:r>
            <a:r>
              <a:rPr lang="it-IT" sz="1200" i="1" kern="1200" dirty="0">
                <a:solidFill>
                  <a:schemeClr val="tx1"/>
                </a:solidFill>
                <a:effectLst/>
                <a:latin typeface="+mn-lt"/>
                <a:ea typeface="+mn-ea"/>
                <a:cs typeface="+mn-cs"/>
              </a:rPr>
              <a:t>tre termini, spiega??</a:t>
            </a:r>
            <a:r>
              <a:rPr lang="it-IT" sz="1200" kern="1200" dirty="0">
                <a:solidFill>
                  <a:schemeClr val="tx1"/>
                </a:solidFill>
                <a:effectLst/>
                <a:latin typeface="+mn-lt"/>
                <a:ea typeface="+mn-ea"/>
                <a:cs typeface="+mn-cs"/>
              </a:rPr>
              <a:t>). </a:t>
            </a:r>
            <a:br>
              <a:rPr lang="it-IT" sz="1200" kern="1200" dirty="0">
                <a:solidFill>
                  <a:schemeClr val="tx1"/>
                </a:solidFill>
                <a:effectLst/>
                <a:latin typeface="+mn-lt"/>
                <a:ea typeface="+mn-ea"/>
                <a:cs typeface="+mn-cs"/>
              </a:rPr>
            </a:br>
            <a:endParaRPr lang="it-IT" sz="1200" kern="1200" dirty="0">
              <a:solidFill>
                <a:schemeClr val="tx1"/>
              </a:solidFill>
              <a:effectLst/>
              <a:latin typeface="+mn-lt"/>
              <a:ea typeface="+mn-ea"/>
              <a:cs typeface="+mn-cs"/>
            </a:endParaRPr>
          </a:p>
          <a:p>
            <a:r>
              <a:rPr lang="it-IT" sz="1200" kern="1200" dirty="0">
                <a:solidFill>
                  <a:schemeClr val="tx1"/>
                </a:solidFill>
                <a:effectLst/>
                <a:latin typeface="+mn-lt"/>
                <a:ea typeface="+mn-ea"/>
                <a:cs typeface="+mn-cs"/>
              </a:rPr>
              <a:t>In particolare viene utilizzata un’architettura a doppio ciclo PID; un controllore è impiegato nella stabilizzazione dell’angolo, l’altro è impiegato nel controllo del carrello e nell’ inseguimento del riferimento; la somma delle uscite dei due controllori è utilizzata come ingresso di controllo. </a:t>
            </a:r>
            <a:endParaRPr lang="it-IT" dirty="0"/>
          </a:p>
        </p:txBody>
      </p:sp>
      <p:sp>
        <p:nvSpPr>
          <p:cNvPr id="4" name="Segnaposto numero diapositiva 3"/>
          <p:cNvSpPr>
            <a:spLocks noGrp="1"/>
          </p:cNvSpPr>
          <p:nvPr>
            <p:ph type="sldNum" sz="quarter" idx="5"/>
          </p:nvPr>
        </p:nvSpPr>
        <p:spPr/>
        <p:txBody>
          <a:bodyPr/>
          <a:lstStyle/>
          <a:p>
            <a:fld id="{66CAE05B-DE45-46FB-8F49-5AB447A5654C}" type="slidenum">
              <a:rPr lang="en-US" smtClean="0"/>
              <a:t>5</a:t>
            </a:fld>
            <a:endParaRPr lang="en-US"/>
          </a:p>
        </p:txBody>
      </p:sp>
    </p:spTree>
    <p:extLst>
      <p:ext uri="{BB962C8B-B14F-4D97-AF65-F5344CB8AC3E}">
        <p14:creationId xmlns:p14="http://schemas.microsoft.com/office/powerpoint/2010/main" val="4219587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tx1"/>
                </a:solidFill>
                <a:effectLst/>
                <a:latin typeface="+mn-lt"/>
                <a:ea typeface="+mn-ea"/>
                <a:cs typeface="+mn-cs"/>
              </a:rPr>
              <a:t>Con questo approccio, Come vediamo in figura, in cui è graficato l’andamento del sistema simulato a ciclo chiuso, la stabilizzazione e il tracciamento del riferimento riescono ad essere effettuati in modo soddisfacente. STOP</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tx1"/>
                </a:solidFill>
                <a:effectLst/>
                <a:latin typeface="+mn-lt"/>
                <a:ea typeface="+mn-ea"/>
                <a:cs typeface="+mn-cs"/>
              </a:rPr>
              <a:t>A questo punto, svolgiamo simulazioni dalla durata più estesa, collezionando in un dataset l’ingresso e lo stato del sistema ad ogni instante di tempo, e questo costituisce il punto di partenza per affrontare l’identificazione.</a:t>
            </a:r>
          </a:p>
          <a:p>
            <a:endParaRPr lang="it-IT" dirty="0"/>
          </a:p>
          <a:p>
            <a:endParaRPr lang="it-IT" dirty="0"/>
          </a:p>
          <a:p>
            <a:endParaRPr lang="it-IT" dirty="0"/>
          </a:p>
          <a:p>
            <a:endParaRPr lang="it-IT" dirty="0"/>
          </a:p>
          <a:p>
            <a:endParaRPr lang="it-IT" dirty="0"/>
          </a:p>
          <a:p>
            <a:endParaRPr lang="it-IT" dirty="0"/>
          </a:p>
          <a:p>
            <a:endParaRPr lang="it-IT" dirty="0"/>
          </a:p>
          <a:p>
            <a:endParaRPr lang="it-IT" dirty="0"/>
          </a:p>
          <a:p>
            <a:endParaRPr lang="it-IT" dirty="0"/>
          </a:p>
          <a:p>
            <a:endParaRPr lang="it-IT" dirty="0"/>
          </a:p>
          <a:p>
            <a:endParaRPr lang="it-IT" dirty="0"/>
          </a:p>
          <a:p>
            <a:endParaRPr lang="it-IT" dirty="0"/>
          </a:p>
          <a:p>
            <a:endParaRPr lang="it-IT" dirty="0"/>
          </a:p>
        </p:txBody>
      </p:sp>
      <p:sp>
        <p:nvSpPr>
          <p:cNvPr id="4" name="Segnaposto numero diapositiva 3"/>
          <p:cNvSpPr>
            <a:spLocks noGrp="1"/>
          </p:cNvSpPr>
          <p:nvPr>
            <p:ph type="sldNum" sz="quarter" idx="5"/>
          </p:nvPr>
        </p:nvSpPr>
        <p:spPr/>
        <p:txBody>
          <a:bodyPr/>
          <a:lstStyle/>
          <a:p>
            <a:fld id="{66CAE05B-DE45-46FB-8F49-5AB447A5654C}" type="slidenum">
              <a:rPr lang="en-US" smtClean="0"/>
              <a:t>6</a:t>
            </a:fld>
            <a:endParaRPr lang="en-US"/>
          </a:p>
        </p:txBody>
      </p:sp>
    </p:spTree>
    <p:extLst>
      <p:ext uri="{BB962C8B-B14F-4D97-AF65-F5344CB8AC3E}">
        <p14:creationId xmlns:p14="http://schemas.microsoft.com/office/powerpoint/2010/main" val="4078422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lvl="0"/>
            <a:r>
              <a:rPr lang="it-IT" sz="1200" kern="1200" dirty="0">
                <a:solidFill>
                  <a:schemeClr val="tx1"/>
                </a:solidFill>
                <a:effectLst/>
                <a:latin typeface="+mn-lt"/>
                <a:ea typeface="+mn-ea"/>
                <a:cs typeface="+mn-cs"/>
              </a:rPr>
              <a:t>EVITA SEMPLICE-BANALE</a:t>
            </a:r>
          </a:p>
          <a:p>
            <a:pPr lvl="0"/>
            <a:endParaRPr lang="it-IT" sz="1200" kern="1200" dirty="0">
              <a:solidFill>
                <a:schemeClr val="tx1"/>
              </a:solidFill>
              <a:effectLst/>
              <a:latin typeface="+mn-lt"/>
              <a:ea typeface="+mn-ea"/>
              <a:cs typeface="+mn-cs"/>
            </a:endParaRPr>
          </a:p>
          <a:p>
            <a:pPr lvl="0"/>
            <a:r>
              <a:rPr lang="it-IT" sz="1200" kern="1200" dirty="0">
                <a:solidFill>
                  <a:schemeClr val="tx1"/>
                </a:solidFill>
                <a:effectLst/>
                <a:latin typeface="+mn-lt"/>
                <a:ea typeface="+mn-ea"/>
                <a:cs typeface="+mn-cs"/>
              </a:rPr>
              <a:t>(Quindi) partendo dall’ipotesi di linearità delle dinamiche del sistema nell’intorno del punto di equilibrio instabile, descriviamo le dinamiche locali del sistema ‘ in forma spazio stato a tempo-discreto.</a:t>
            </a:r>
          </a:p>
          <a:p>
            <a:pPr lvl="0"/>
            <a:br>
              <a:rPr lang="it-IT" sz="1200" kern="1200" dirty="0">
                <a:solidFill>
                  <a:schemeClr val="tx1"/>
                </a:solidFill>
                <a:effectLst/>
                <a:latin typeface="+mn-lt"/>
                <a:ea typeface="+mn-ea"/>
                <a:cs typeface="+mn-cs"/>
              </a:rPr>
            </a:br>
            <a:r>
              <a:rPr lang="it-IT" sz="1200" kern="1200" dirty="0">
                <a:solidFill>
                  <a:schemeClr val="tx1"/>
                </a:solidFill>
                <a:effectLst/>
                <a:latin typeface="+mn-lt"/>
                <a:ea typeface="+mn-ea"/>
                <a:cs typeface="+mn-cs"/>
              </a:rPr>
              <a:t>A partire dai dataset generati dalle simulazioni precedenti, si può impostare un problema di regressione lineare per stimare le matrici di stato e ingresso A e B; questo viene fatto utilizzando come variabile dipendente lo stato futuro (lo stato da predire) e come variabili dipendenti lo stato e l’ingresso presente. </a:t>
            </a:r>
          </a:p>
          <a:p>
            <a:pPr lvl="0"/>
            <a:r>
              <a:rPr lang="it-IT" sz="1200" kern="1200" dirty="0">
                <a:solidFill>
                  <a:schemeClr val="tx1"/>
                </a:solidFill>
                <a:effectLst/>
                <a:latin typeface="+mn-lt"/>
                <a:ea typeface="+mn-ea"/>
                <a:cs typeface="+mn-cs"/>
              </a:rPr>
              <a:t>SI ottiene dunque alla matrice dei coefficienti M, che esprime la relazione lineare che intercorre fra queste variabili, e da cui possono essere estratte le matrici A e B per esprimere la relazione nella forma spazio stato.</a:t>
            </a: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endParaRPr lang="it-IT" dirty="0"/>
          </a:p>
        </p:txBody>
      </p:sp>
      <p:sp>
        <p:nvSpPr>
          <p:cNvPr id="4" name="Segnaposto numero diapositiva 3"/>
          <p:cNvSpPr>
            <a:spLocks noGrp="1"/>
          </p:cNvSpPr>
          <p:nvPr>
            <p:ph type="sldNum" sz="quarter" idx="5"/>
          </p:nvPr>
        </p:nvSpPr>
        <p:spPr/>
        <p:txBody>
          <a:bodyPr/>
          <a:lstStyle/>
          <a:p>
            <a:fld id="{66CAE05B-DE45-46FB-8F49-5AB447A5654C}" type="slidenum">
              <a:rPr lang="en-US" smtClean="0"/>
              <a:t>7</a:t>
            </a:fld>
            <a:endParaRPr lang="en-US"/>
          </a:p>
        </p:txBody>
      </p:sp>
    </p:spTree>
    <p:extLst>
      <p:ext uri="{BB962C8B-B14F-4D97-AF65-F5344CB8AC3E}">
        <p14:creationId xmlns:p14="http://schemas.microsoft.com/office/powerpoint/2010/main" val="2045986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lvl="0"/>
            <a:r>
              <a:rPr lang="it-IT" sz="1200" kern="1200" dirty="0">
                <a:solidFill>
                  <a:schemeClr val="tx1"/>
                </a:solidFill>
                <a:effectLst/>
                <a:latin typeface="+mn-lt"/>
                <a:ea typeface="+mn-ea"/>
                <a:cs typeface="+mn-cs"/>
              </a:rPr>
              <a:t>Viene a questo punto considerato l’impatto sull’identificazione di due tipi di disturbi.</a:t>
            </a:r>
          </a:p>
          <a:p>
            <a:pPr lvl="0"/>
            <a:endParaRPr lang="it-IT" sz="1200" kern="1200" dirty="0">
              <a:solidFill>
                <a:schemeClr val="tx1"/>
              </a:solidFill>
              <a:effectLst/>
              <a:latin typeface="+mn-lt"/>
              <a:ea typeface="+mn-ea"/>
              <a:cs typeface="+mn-cs"/>
            </a:endParaRPr>
          </a:p>
          <a:p>
            <a:pPr lvl="0"/>
            <a:r>
              <a:rPr lang="it-IT" sz="1200" kern="1200" dirty="0">
                <a:solidFill>
                  <a:schemeClr val="tx1"/>
                </a:solidFill>
                <a:effectLst/>
                <a:latin typeface="+mn-lt"/>
                <a:ea typeface="+mn-ea"/>
                <a:cs typeface="+mn-cs"/>
              </a:rPr>
              <a:t>nel primo caso, mostrato in alto a destra, viene applicato uno strato di rumore con distribuzione gaussiana sullo stato. Nel grafico è riportato l’andamento della radice dell’errore quadratico medio (RMSE) al variare della deviazione standard del rumore applicato; </a:t>
            </a:r>
          </a:p>
          <a:p>
            <a:pPr lvl="0"/>
            <a:r>
              <a:rPr lang="it-IT" sz="1200" kern="1200" dirty="0">
                <a:solidFill>
                  <a:schemeClr val="tx1"/>
                </a:solidFill>
                <a:effectLst/>
                <a:latin typeface="+mn-lt"/>
                <a:ea typeface="+mn-ea"/>
                <a:cs typeface="+mn-cs"/>
              </a:rPr>
              <a:t>e notiamo che, dopo un iniziale crescita in cui l’RMSE si assesta su un valore prossimo a 0.01, viene raggiunta una soglia, che si colloca intorno a 2x10^-3, oltre la quale la varianza del RMSE tende a divergere, cosi come il valore mediano. Questo in pratica accade perché superata quella soglia di rumore sulle letture di stato, il controllore PID non riesce più a tenere il pendolo in equilibrio, e dunque il pendolo inizia a rovesciarsi e l’identificazione diventa impraticabile.</a:t>
            </a:r>
          </a:p>
          <a:p>
            <a:pPr lvl="0"/>
            <a:endParaRPr lang="it-IT" sz="1200" kern="1200" dirty="0">
              <a:solidFill>
                <a:schemeClr val="tx1"/>
              </a:solidFill>
              <a:effectLst/>
              <a:latin typeface="+mn-lt"/>
              <a:ea typeface="+mn-ea"/>
              <a:cs typeface="+mn-cs"/>
            </a:endParaRPr>
          </a:p>
          <a:p>
            <a:pPr lvl="0"/>
            <a:r>
              <a:rPr lang="it-IT" sz="1200" kern="1200" dirty="0">
                <a:solidFill>
                  <a:schemeClr val="tx1"/>
                </a:solidFill>
                <a:effectLst/>
                <a:latin typeface="+mn-lt"/>
                <a:ea typeface="+mn-ea"/>
                <a:cs typeface="+mn-cs"/>
              </a:rPr>
              <a:t>Nel secondo caso (graficato in basso a destra) </a:t>
            </a:r>
          </a:p>
          <a:p>
            <a:pPr lvl="0"/>
            <a:r>
              <a:rPr lang="it-IT" sz="1200" kern="1200" dirty="0">
                <a:solidFill>
                  <a:schemeClr val="tx1"/>
                </a:solidFill>
                <a:effectLst/>
                <a:latin typeface="+mn-lt"/>
                <a:ea typeface="+mn-ea"/>
                <a:cs typeface="+mn-cs"/>
              </a:rPr>
              <a:t>Sono state introdotte perdite di carattere bernoulliane sul canale di attuazione, comportando che l’attuatore ad ogni instante, in caso di perdita, invece di applicare l’ingresso di controllo desiderato, applica un ingresso nullo. </a:t>
            </a:r>
          </a:p>
          <a:p>
            <a:pPr lvl="0"/>
            <a:r>
              <a:rPr lang="it-IT" sz="1200" kern="1200" dirty="0">
                <a:solidFill>
                  <a:schemeClr val="tx1"/>
                </a:solidFill>
                <a:effectLst/>
                <a:latin typeface="+mn-lt"/>
                <a:ea typeface="+mn-ea"/>
                <a:cs typeface="+mn-cs"/>
              </a:rPr>
              <a:t>Anche in questo caso, esiste una soglia oltre la quale la stabilizzazione fallisce e conseguentemente l’RMSE si alza (intorno al 55%), </a:t>
            </a:r>
            <a:r>
              <a:rPr lang="it-IT" sz="1200" kern="1200" dirty="0" err="1">
                <a:solidFill>
                  <a:schemeClr val="tx1"/>
                </a:solidFill>
                <a:effectLst/>
                <a:latin typeface="+mn-lt"/>
                <a:ea typeface="+mn-ea"/>
                <a:cs typeface="+mn-cs"/>
              </a:rPr>
              <a:t>tuttava</a:t>
            </a:r>
            <a:r>
              <a:rPr lang="it-IT" sz="1200" kern="1200" dirty="0">
                <a:solidFill>
                  <a:schemeClr val="tx1"/>
                </a:solidFill>
                <a:effectLst/>
                <a:latin typeface="+mn-lt"/>
                <a:ea typeface="+mn-ea"/>
                <a:cs typeface="+mn-cs"/>
              </a:rPr>
              <a:t> il valore rimane comunque contenuto dal momento che il punto di equilibrio naturale del pendolo (in cui si trova dopo essersi ribaltato) è anch’esso linearizzabile, quindi l’identificazione continua ad avvenire, ma ovviamente le matrici identificate sono da considerarsi inutilizzabili nel contesto della stabilizzazione.</a:t>
            </a:r>
          </a:p>
          <a:p>
            <a:pPr lvl="0"/>
            <a:endParaRPr lang="it-IT" sz="1200" kern="1200" dirty="0">
              <a:solidFill>
                <a:schemeClr val="tx1"/>
              </a:solidFill>
              <a:effectLst/>
              <a:latin typeface="+mn-lt"/>
              <a:ea typeface="+mn-ea"/>
              <a:cs typeface="+mn-cs"/>
            </a:endParaRPr>
          </a:p>
          <a:p>
            <a:pPr lvl="0"/>
            <a:r>
              <a:rPr lang="it-IT" sz="1200" kern="1200" dirty="0">
                <a:solidFill>
                  <a:schemeClr val="tx1"/>
                </a:solidFill>
                <a:effectLst/>
                <a:latin typeface="+mn-lt"/>
                <a:ea typeface="+mn-ea"/>
                <a:cs typeface="+mn-cs"/>
              </a:rPr>
              <a:t>Segue un ingrandimento…</a:t>
            </a: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r>
              <a:rPr lang="it-IT" sz="1200" kern="1200" dirty="0">
                <a:solidFill>
                  <a:schemeClr val="tx1"/>
                </a:solidFill>
                <a:effectLst/>
                <a:latin typeface="+mn-lt"/>
                <a:ea typeface="+mn-ea"/>
                <a:cs typeface="+mn-cs"/>
              </a:rPr>
              <a:t>_--- VECCHIO</a:t>
            </a: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r>
              <a:rPr lang="it-IT" sz="1200" kern="1200" dirty="0">
                <a:solidFill>
                  <a:schemeClr val="tx1"/>
                </a:solidFill>
                <a:effectLst/>
                <a:latin typeface="+mn-lt"/>
                <a:ea typeface="+mn-ea"/>
                <a:cs typeface="+mn-cs"/>
              </a:rPr>
              <a:t>si è studiato il caso di perdite </a:t>
            </a:r>
            <a:r>
              <a:rPr lang="it-IT" sz="1200" kern="1200" dirty="0" err="1">
                <a:solidFill>
                  <a:schemeClr val="tx1"/>
                </a:solidFill>
                <a:effectLst/>
                <a:latin typeface="+mn-lt"/>
                <a:ea typeface="+mn-ea"/>
                <a:cs typeface="+mn-cs"/>
              </a:rPr>
              <a:t>bernulliane</a:t>
            </a:r>
            <a:r>
              <a:rPr lang="it-IT" sz="1200" kern="1200" dirty="0">
                <a:solidFill>
                  <a:schemeClr val="tx1"/>
                </a:solidFill>
                <a:effectLst/>
                <a:latin typeface="+mn-lt"/>
                <a:ea typeface="+mn-ea"/>
                <a:cs typeface="+mn-cs"/>
              </a:rPr>
              <a:t> di pacchetti di acquisizione, che contrariamente al disturbo precedente, non compromettono la stabilità a ciclo chiuso del sistema ma compromettono solamente l’integrità del dataset su cui si esegue </a:t>
            </a:r>
            <a:r>
              <a:rPr lang="it-IT" sz="1200" kern="1200" dirty="0" err="1">
                <a:solidFill>
                  <a:schemeClr val="tx1"/>
                </a:solidFill>
                <a:effectLst/>
                <a:latin typeface="+mn-lt"/>
                <a:ea typeface="+mn-ea"/>
                <a:cs typeface="+mn-cs"/>
              </a:rPr>
              <a:t>identifcazione</a:t>
            </a:r>
            <a:r>
              <a:rPr lang="it-IT" sz="1200" kern="1200" dirty="0">
                <a:solidFill>
                  <a:schemeClr val="tx1"/>
                </a:solidFill>
                <a:effectLst/>
                <a:latin typeface="+mn-lt"/>
                <a:ea typeface="+mn-ea"/>
                <a:cs typeface="+mn-cs"/>
              </a:rPr>
              <a:t>, che presenta dei vuoti in corrispondenza dei pacchetti persi. Data la </a:t>
            </a:r>
            <a:r>
              <a:rPr lang="it-IT" sz="1200" kern="1200" dirty="0" err="1">
                <a:solidFill>
                  <a:schemeClr val="tx1"/>
                </a:solidFill>
                <a:effectLst/>
                <a:latin typeface="+mn-lt"/>
                <a:ea typeface="+mn-ea"/>
                <a:cs typeface="+mn-cs"/>
              </a:rPr>
              <a:t>linerità</a:t>
            </a:r>
            <a:r>
              <a:rPr lang="it-IT" sz="1200" kern="1200" dirty="0">
                <a:solidFill>
                  <a:schemeClr val="tx1"/>
                </a:solidFill>
                <a:effectLst/>
                <a:latin typeface="+mn-lt"/>
                <a:ea typeface="+mn-ea"/>
                <a:cs typeface="+mn-cs"/>
              </a:rPr>
              <a:t> del sistema, si è pensato di ricostruire i </a:t>
            </a:r>
            <a:r>
              <a:rPr lang="it-IT" sz="1200" kern="1200" dirty="0" err="1">
                <a:solidFill>
                  <a:schemeClr val="tx1"/>
                </a:solidFill>
                <a:effectLst/>
                <a:latin typeface="+mn-lt"/>
                <a:ea typeface="+mn-ea"/>
                <a:cs typeface="+mn-cs"/>
              </a:rPr>
              <a:t>vuoiti</a:t>
            </a:r>
            <a:r>
              <a:rPr lang="it-IT" sz="1200" kern="1200" dirty="0">
                <a:solidFill>
                  <a:schemeClr val="tx1"/>
                </a:solidFill>
                <a:effectLst/>
                <a:latin typeface="+mn-lt"/>
                <a:ea typeface="+mn-ea"/>
                <a:cs typeface="+mn-cs"/>
              </a:rPr>
              <a:t> utilizzando interpolazione lineare; e cosi </a:t>
            </a:r>
            <a:r>
              <a:rPr lang="it-IT" sz="1200" kern="1200" dirty="0" err="1">
                <a:solidFill>
                  <a:schemeClr val="tx1"/>
                </a:solidFill>
                <a:effectLst/>
                <a:latin typeface="+mn-lt"/>
                <a:ea typeface="+mn-ea"/>
                <a:cs typeface="+mn-cs"/>
              </a:rPr>
              <a:t>faccendo</a:t>
            </a:r>
            <a:r>
              <a:rPr lang="it-IT" sz="1200" kern="1200" dirty="0">
                <a:solidFill>
                  <a:schemeClr val="tx1"/>
                </a:solidFill>
                <a:effectLst/>
                <a:latin typeface="+mn-lt"/>
                <a:ea typeface="+mn-ea"/>
                <a:cs typeface="+mn-cs"/>
              </a:rPr>
              <a:t>, otteniamo i risultati mostrati nel grafico….</a:t>
            </a:r>
          </a:p>
          <a:p>
            <a:pPr lvl="0"/>
            <a:endParaRPr lang="it-IT" sz="1200" kern="1200" dirty="0">
              <a:solidFill>
                <a:schemeClr val="tx1"/>
              </a:solidFill>
              <a:effectLst/>
              <a:latin typeface="+mn-lt"/>
              <a:ea typeface="+mn-ea"/>
              <a:cs typeface="+mn-cs"/>
            </a:endParaRPr>
          </a:p>
          <a:p>
            <a:pPr lvl="0"/>
            <a:r>
              <a:rPr lang="it-IT" sz="1200" kern="1200" dirty="0">
                <a:solidFill>
                  <a:schemeClr val="tx1"/>
                </a:solidFill>
                <a:effectLst/>
                <a:latin typeface="+mn-lt"/>
                <a:ea typeface="+mn-ea"/>
                <a:cs typeface="+mn-cs"/>
              </a:rPr>
              <a:t>… in cui è graficato l’andamento dell’RMSE al variare della probabilità di perdita, ed è possibile notare come, fino a un livello di perdite di circa l’80%, l’RMSE continua a rimanere contenuto nell’ordine di 10^-3; mentre superata questa soglia l’</a:t>
            </a:r>
            <a:r>
              <a:rPr lang="it-IT" sz="1200" kern="1200" dirty="0" err="1">
                <a:solidFill>
                  <a:schemeClr val="tx1"/>
                </a:solidFill>
                <a:effectLst/>
                <a:latin typeface="+mn-lt"/>
                <a:ea typeface="+mn-ea"/>
                <a:cs typeface="+mn-cs"/>
              </a:rPr>
              <a:t>rmse</a:t>
            </a:r>
            <a:r>
              <a:rPr lang="it-IT" sz="1200" kern="1200" dirty="0">
                <a:solidFill>
                  <a:schemeClr val="tx1"/>
                </a:solidFill>
                <a:effectLst/>
                <a:latin typeface="+mn-lt"/>
                <a:ea typeface="+mn-ea"/>
                <a:cs typeface="+mn-cs"/>
              </a:rPr>
              <a:t> inizia a divergere in modo esponenziale.</a:t>
            </a:r>
          </a:p>
          <a:p>
            <a:pPr lvl="0"/>
            <a:endParaRPr lang="it-IT" sz="1200" kern="1200" dirty="0">
              <a:solidFill>
                <a:schemeClr val="tx1"/>
              </a:solidFill>
              <a:effectLst/>
              <a:latin typeface="+mn-lt"/>
              <a:ea typeface="+mn-ea"/>
              <a:cs typeface="+mn-cs"/>
            </a:endParaRPr>
          </a:p>
          <a:p>
            <a:pPr lvl="0"/>
            <a:r>
              <a:rPr lang="it-IT" sz="1200" kern="1200" dirty="0">
                <a:solidFill>
                  <a:schemeClr val="tx1"/>
                </a:solidFill>
                <a:effectLst/>
                <a:latin typeface="+mn-lt"/>
                <a:ea typeface="+mn-ea"/>
                <a:cs typeface="+mn-cs"/>
              </a:rPr>
              <a:t>----- VECCHIO</a:t>
            </a:r>
          </a:p>
          <a:p>
            <a:pPr lvl="0"/>
            <a:endParaRPr lang="it-IT" sz="1200" kern="1200" dirty="0">
              <a:solidFill>
                <a:schemeClr val="tx1"/>
              </a:solidFill>
              <a:effectLst/>
              <a:latin typeface="+mn-lt"/>
              <a:ea typeface="+mn-ea"/>
              <a:cs typeface="+mn-cs"/>
            </a:endParaRPr>
          </a:p>
          <a:p>
            <a:pPr lvl="0"/>
            <a:r>
              <a:rPr lang="it-IT" sz="1200" strike="sngStrike" kern="1200" dirty="0">
                <a:solidFill>
                  <a:schemeClr val="tx1"/>
                </a:solidFill>
                <a:effectLst/>
                <a:latin typeface="+mn-lt"/>
                <a:ea typeface="+mn-ea"/>
                <a:cs typeface="+mn-cs"/>
              </a:rPr>
              <a:t> questo accade, è perché superata questa soglia di rumore sulle variabili di stato, il controllore non è più in grado di stabilizzare in maniera consistente il sistema, dunque il pendolo inizia a rovesciarsi sempre più frequentemente, contribuendo al fallimento dell’identificazione e all’innalzamento dell’RMSE. </a:t>
            </a:r>
          </a:p>
          <a:p>
            <a:pPr lvl="0"/>
            <a:endParaRPr lang="it-IT" sz="1200" kern="1200" dirty="0">
              <a:solidFill>
                <a:schemeClr val="tx1"/>
              </a:solidFill>
              <a:effectLst/>
              <a:latin typeface="+mn-lt"/>
              <a:ea typeface="+mn-ea"/>
              <a:cs typeface="+mn-cs"/>
            </a:endParaRPr>
          </a:p>
          <a:p>
            <a:pPr lvl="0" algn="l"/>
            <a:r>
              <a:rPr lang="it-IT" sz="1200" strike="sngStrike" kern="1200" dirty="0">
                <a:solidFill>
                  <a:schemeClr val="tx1"/>
                </a:solidFill>
                <a:effectLst/>
                <a:latin typeface="+mn-lt"/>
                <a:ea typeface="+mn-ea"/>
                <a:cs typeface="+mn-cs"/>
              </a:rPr>
              <a:t>INTEGRARE: Spiegare meglio che perdere </a:t>
            </a:r>
            <a:r>
              <a:rPr lang="it-IT" sz="1200" strike="sngStrike" kern="1200" dirty="0" err="1">
                <a:solidFill>
                  <a:schemeClr val="tx1"/>
                </a:solidFill>
                <a:effectLst/>
                <a:latin typeface="+mn-lt"/>
                <a:ea typeface="+mn-ea"/>
                <a:cs typeface="+mn-cs"/>
              </a:rPr>
              <a:t>stabiltà</a:t>
            </a:r>
            <a:r>
              <a:rPr lang="it-IT" sz="1200" strike="sngStrike" kern="1200" dirty="0">
                <a:solidFill>
                  <a:schemeClr val="tx1"/>
                </a:solidFill>
                <a:effectLst/>
                <a:latin typeface="+mn-lt"/>
                <a:ea typeface="+mn-ea"/>
                <a:cs typeface="+mn-cs"/>
              </a:rPr>
              <a:t> significa allontanarsi dal punto di equilibrio. Aumenta improvvisamente anche la deviazione standard «Il risultato finale non è </a:t>
            </a:r>
            <a:r>
              <a:rPr lang="it-IT" sz="1200" strike="sngStrike" kern="1200" dirty="0" err="1">
                <a:solidFill>
                  <a:schemeClr val="tx1"/>
                </a:solidFill>
                <a:effectLst/>
                <a:latin typeface="+mn-lt"/>
                <a:ea typeface="+mn-ea"/>
                <a:cs typeface="+mn-cs"/>
              </a:rPr>
              <a:t>soddisfaciente</a:t>
            </a:r>
            <a:r>
              <a:rPr lang="it-IT" sz="1200" strike="sngStrike" kern="1200" dirty="0">
                <a:solidFill>
                  <a:schemeClr val="tx1"/>
                </a:solidFill>
                <a:effectLst/>
                <a:latin typeface="+mn-lt"/>
                <a:ea typeface="+mn-ea"/>
                <a:cs typeface="+mn-cs"/>
              </a:rPr>
              <a:t>»</a:t>
            </a:r>
          </a:p>
          <a:p>
            <a:pPr lvl="0"/>
            <a:endParaRPr lang="it-IT" sz="1200" u="sng" kern="1200" dirty="0">
              <a:solidFill>
                <a:schemeClr val="tx1"/>
              </a:solidFill>
              <a:effectLst/>
              <a:latin typeface="+mn-lt"/>
              <a:ea typeface="+mn-ea"/>
              <a:cs typeface="+mn-cs"/>
            </a:endParaRPr>
          </a:p>
          <a:p>
            <a:pPr lvl="0"/>
            <a:r>
              <a:rPr lang="it-IT" sz="1200" u="none" strike="sngStrike" kern="1200" dirty="0">
                <a:solidFill>
                  <a:schemeClr val="tx1"/>
                </a:solidFill>
                <a:effectLst/>
                <a:latin typeface="+mn-lt"/>
                <a:ea typeface="+mn-ea"/>
                <a:cs typeface="+mn-cs"/>
              </a:rPr>
              <a:t>N </a:t>
            </a:r>
            <a:r>
              <a:rPr lang="it-IT" sz="1200" u="none" strike="sngStrike" kern="1200" dirty="0" err="1">
                <a:solidFill>
                  <a:schemeClr val="tx1"/>
                </a:solidFill>
                <a:effectLst/>
                <a:latin typeface="+mn-lt"/>
                <a:ea typeface="+mn-ea"/>
                <a:cs typeface="+mn-cs"/>
              </a:rPr>
              <a:t>onotatne</a:t>
            </a:r>
            <a:r>
              <a:rPr lang="it-IT" sz="1200" u="none" strike="sngStrike" kern="1200" dirty="0">
                <a:solidFill>
                  <a:schemeClr val="tx1"/>
                </a:solidFill>
                <a:effectLst/>
                <a:latin typeface="+mn-lt"/>
                <a:ea typeface="+mn-ea"/>
                <a:cs typeface="+mn-cs"/>
              </a:rPr>
              <a:t> </a:t>
            </a:r>
            <a:r>
              <a:rPr lang="it-IT" sz="1200" u="none" strike="sngStrike" kern="1200" dirty="0" err="1">
                <a:solidFill>
                  <a:schemeClr val="tx1"/>
                </a:solidFill>
                <a:effectLst/>
                <a:latin typeface="+mn-lt"/>
                <a:ea typeface="+mn-ea"/>
                <a:cs typeface="+mn-cs"/>
              </a:rPr>
              <a:t>ilbernullian</a:t>
            </a:r>
            <a:r>
              <a:rPr lang="it-IT" sz="1200" u="none" strike="sngStrike" kern="1200" dirty="0">
                <a:solidFill>
                  <a:schemeClr val="tx1"/>
                </a:solidFill>
                <a:effectLst/>
                <a:latin typeface="+mn-lt"/>
                <a:ea typeface="+mn-ea"/>
                <a:cs typeface="+mn-cs"/>
              </a:rPr>
              <a:t> </a:t>
            </a:r>
            <a:r>
              <a:rPr lang="it-IT" sz="1200" u="none" strike="sngStrike" kern="1200" dirty="0" err="1">
                <a:solidFill>
                  <a:schemeClr val="tx1"/>
                </a:solidFill>
                <a:effectLst/>
                <a:latin typeface="+mn-lt"/>
                <a:ea typeface="+mn-ea"/>
                <a:cs typeface="+mn-cs"/>
              </a:rPr>
              <a:t>onon</a:t>
            </a:r>
            <a:r>
              <a:rPr lang="it-IT" sz="1200" u="none" strike="sngStrike" kern="1200" dirty="0">
                <a:solidFill>
                  <a:schemeClr val="tx1"/>
                </a:solidFill>
                <a:effectLst/>
                <a:latin typeface="+mn-lt"/>
                <a:ea typeface="+mn-ea"/>
                <a:cs typeface="+mn-cs"/>
              </a:rPr>
              <a:t> è </a:t>
            </a:r>
            <a:r>
              <a:rPr lang="it-IT" sz="1200" u="none" strike="sngStrike" kern="1200" dirty="0" err="1">
                <a:solidFill>
                  <a:schemeClr val="tx1"/>
                </a:solidFill>
                <a:effectLst/>
                <a:latin typeface="+mn-lt"/>
                <a:ea typeface="+mn-ea"/>
                <a:cs typeface="+mn-cs"/>
              </a:rPr>
              <a:t>realstico</a:t>
            </a:r>
            <a:r>
              <a:rPr lang="it-IT" sz="1200" u="none" strike="sngStrike" kern="1200" dirty="0">
                <a:solidFill>
                  <a:schemeClr val="tx1"/>
                </a:solidFill>
                <a:effectLst/>
                <a:latin typeface="+mn-lt"/>
                <a:ea typeface="+mn-ea"/>
                <a:cs typeface="+mn-cs"/>
              </a:rPr>
              <a:t> comunque si è riusciti farsi un idea del casa di perdite</a:t>
            </a: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r>
              <a:rPr lang="it-IT" sz="1200" strike="sngStrike" kern="1200" dirty="0">
                <a:solidFill>
                  <a:schemeClr val="tx1"/>
                </a:solidFill>
                <a:effectLst/>
                <a:latin typeface="+mn-lt"/>
                <a:ea typeface="+mn-ea"/>
                <a:cs typeface="+mn-cs"/>
              </a:rPr>
              <a:t>??? La sfida vera </a:t>
            </a:r>
            <a:r>
              <a:rPr lang="it-IT" sz="1200" strike="sngStrike" kern="1200" dirty="0" err="1">
                <a:solidFill>
                  <a:schemeClr val="tx1"/>
                </a:solidFill>
                <a:effectLst/>
                <a:latin typeface="+mn-lt"/>
                <a:ea typeface="+mn-ea"/>
                <a:cs typeface="+mn-cs"/>
              </a:rPr>
              <a:t>iniza</a:t>
            </a:r>
            <a:r>
              <a:rPr lang="it-IT" sz="1200" strike="sngStrike" kern="1200" dirty="0">
                <a:solidFill>
                  <a:schemeClr val="tx1"/>
                </a:solidFill>
                <a:effectLst/>
                <a:latin typeface="+mn-lt"/>
                <a:ea typeface="+mn-ea"/>
                <a:cs typeface="+mn-cs"/>
              </a:rPr>
              <a:t> dalle prossime </a:t>
            </a:r>
            <a:r>
              <a:rPr lang="it-IT" sz="1200" strike="sngStrike" kern="1200" dirty="0" err="1">
                <a:solidFill>
                  <a:schemeClr val="tx1"/>
                </a:solidFill>
                <a:effectLst/>
                <a:latin typeface="+mn-lt"/>
                <a:ea typeface="+mn-ea"/>
                <a:cs typeface="+mn-cs"/>
              </a:rPr>
              <a:t>slid</a:t>
            </a:r>
            <a:r>
              <a:rPr lang="it-IT" sz="1200" strike="sngStrike" kern="1200" dirty="0">
                <a:solidFill>
                  <a:schemeClr val="tx1"/>
                </a:solidFill>
                <a:effectLst/>
                <a:latin typeface="+mn-lt"/>
                <a:ea typeface="+mn-ea"/>
                <a:cs typeface="+mn-cs"/>
              </a:rPr>
              <a:t>?</a:t>
            </a:r>
          </a:p>
          <a:p>
            <a:pPr lvl="0"/>
            <a:endParaRPr lang="it-IT" sz="1200" kern="1200" dirty="0">
              <a:solidFill>
                <a:schemeClr val="tx1"/>
              </a:solidFill>
              <a:effectLst/>
              <a:latin typeface="+mn-lt"/>
              <a:ea typeface="+mn-ea"/>
              <a:cs typeface="+mn-cs"/>
            </a:endParaRPr>
          </a:p>
          <a:p>
            <a:endParaRPr lang="it-IT" dirty="0"/>
          </a:p>
        </p:txBody>
      </p:sp>
      <p:sp>
        <p:nvSpPr>
          <p:cNvPr id="4" name="Segnaposto numero diapositiva 3"/>
          <p:cNvSpPr>
            <a:spLocks noGrp="1"/>
          </p:cNvSpPr>
          <p:nvPr>
            <p:ph type="sldNum" sz="quarter" idx="5"/>
          </p:nvPr>
        </p:nvSpPr>
        <p:spPr/>
        <p:txBody>
          <a:bodyPr/>
          <a:lstStyle/>
          <a:p>
            <a:fld id="{66CAE05B-DE45-46FB-8F49-5AB447A5654C}" type="slidenum">
              <a:rPr lang="en-US" smtClean="0"/>
              <a:t>8</a:t>
            </a:fld>
            <a:endParaRPr lang="en-US"/>
          </a:p>
        </p:txBody>
      </p:sp>
    </p:spTree>
    <p:extLst>
      <p:ext uri="{BB962C8B-B14F-4D97-AF65-F5344CB8AC3E}">
        <p14:creationId xmlns:p14="http://schemas.microsoft.com/office/powerpoint/2010/main" val="1898692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196AE-6AA0-1A44-E87B-9AF2DFCFE57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BD01AAC-BFB5-2B57-1585-77F2E2B9B436}"/>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DB6CE3C6-96B5-4B63-0C63-8752069C4640}"/>
              </a:ext>
            </a:extLst>
          </p:cNvPr>
          <p:cNvSpPr>
            <a:spLocks noGrp="1"/>
          </p:cNvSpPr>
          <p:nvPr>
            <p:ph type="body" idx="1"/>
          </p:nvPr>
        </p:nvSpPr>
        <p:spPr/>
        <p:txBody>
          <a:bodyPr/>
          <a:lstStyle/>
          <a:p>
            <a:pPr lvl="0"/>
            <a:r>
              <a:rPr lang="it-IT" sz="1200" kern="1200" dirty="0">
                <a:solidFill>
                  <a:schemeClr val="tx1"/>
                </a:solidFill>
                <a:effectLst/>
                <a:latin typeface="+mn-lt"/>
                <a:ea typeface="+mn-ea"/>
                <a:cs typeface="+mn-cs"/>
              </a:rPr>
              <a:t>…della fascia dove la stabilizzazione avviene con successo, dove notiamo che, al crescere della </a:t>
            </a:r>
            <a:r>
              <a:rPr lang="it-IT" sz="1200" kern="1200" dirty="0" err="1">
                <a:solidFill>
                  <a:schemeClr val="tx1"/>
                </a:solidFill>
                <a:effectLst/>
                <a:latin typeface="+mn-lt"/>
                <a:ea typeface="+mn-ea"/>
                <a:cs typeface="+mn-cs"/>
              </a:rPr>
              <a:t>probabiltà</a:t>
            </a:r>
            <a:r>
              <a:rPr lang="it-IT" sz="1200" kern="1200" dirty="0">
                <a:solidFill>
                  <a:schemeClr val="tx1"/>
                </a:solidFill>
                <a:effectLst/>
                <a:latin typeface="+mn-lt"/>
                <a:ea typeface="+mn-ea"/>
                <a:cs typeface="+mn-cs"/>
              </a:rPr>
              <a:t> di perdita, la varianza e l’RMSE tendono a crescere fino al superamento della soglia di divergenza.</a:t>
            </a:r>
            <a:endParaRPr lang="it-IT" sz="1200" strike="sngStrike"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endParaRPr lang="it-IT" dirty="0"/>
          </a:p>
        </p:txBody>
      </p:sp>
      <p:sp>
        <p:nvSpPr>
          <p:cNvPr id="4" name="Segnaposto numero diapositiva 3">
            <a:extLst>
              <a:ext uri="{FF2B5EF4-FFF2-40B4-BE49-F238E27FC236}">
                <a16:creationId xmlns:a16="http://schemas.microsoft.com/office/drawing/2014/main" id="{B84841EC-DDAE-455D-99E2-8A589C3F8678}"/>
              </a:ext>
            </a:extLst>
          </p:cNvPr>
          <p:cNvSpPr>
            <a:spLocks noGrp="1"/>
          </p:cNvSpPr>
          <p:nvPr>
            <p:ph type="sldNum" sz="quarter" idx="5"/>
          </p:nvPr>
        </p:nvSpPr>
        <p:spPr/>
        <p:txBody>
          <a:bodyPr/>
          <a:lstStyle/>
          <a:p>
            <a:fld id="{66CAE05B-DE45-46FB-8F49-5AB447A5654C}" type="slidenum">
              <a:rPr lang="en-US" smtClean="0"/>
              <a:t>9</a:t>
            </a:fld>
            <a:endParaRPr lang="en-US"/>
          </a:p>
        </p:txBody>
      </p:sp>
    </p:spTree>
    <p:extLst>
      <p:ext uri="{BB962C8B-B14F-4D97-AF65-F5344CB8AC3E}">
        <p14:creationId xmlns:p14="http://schemas.microsoft.com/office/powerpoint/2010/main" val="35453528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tx1"/>
                </a:solidFill>
                <a:effectLst/>
                <a:latin typeface="+mn-lt"/>
                <a:ea typeface="+mn-ea"/>
                <a:cs typeface="+mn-cs"/>
              </a:rPr>
              <a:t>Identificate la matrici A e B del sistema, è possibile procedere per via analitica alla sintesi di un controllore ottimo; in particolare la tecnica utilizzata in questo lavoro è LQR, che nel caso di sistemi discreti consiste nella minimizzazione della funzione di costo qui riportata,</a:t>
            </a:r>
            <a:r>
              <a:rPr lang="it-IT" sz="1200" i="1" u="sng"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1200" i="1" u="sng" kern="1200" dirty="0">
                <a:solidFill>
                  <a:schemeClr val="tx1"/>
                </a:solidFill>
                <a:effectLst/>
                <a:latin typeface="+mn-lt"/>
                <a:ea typeface="+mn-ea"/>
                <a:cs typeface="+mn-cs"/>
              </a:rPr>
              <a:t>(no se t&gt;5:00) ??? dove Q e R sono….</a:t>
            </a:r>
          </a:p>
          <a:p>
            <a:pPr marL="0" marR="0" lvl="0" indent="0" algn="l" defTabSz="914400" rtl="0" eaLnBrk="1" fontAlgn="auto" latinLnBrk="0" hangingPunct="1">
              <a:lnSpc>
                <a:spcPct val="100000"/>
              </a:lnSpc>
              <a:spcBef>
                <a:spcPts val="0"/>
              </a:spcBef>
              <a:spcAft>
                <a:spcPts val="0"/>
              </a:spcAft>
              <a:buClrTx/>
              <a:buSzTx/>
              <a:buFontTx/>
              <a:buNone/>
              <a:tabLst/>
              <a:defRPr/>
            </a:pPr>
            <a:br>
              <a:rPr lang="it-IT" sz="1200" kern="1200" dirty="0">
                <a:solidFill>
                  <a:schemeClr val="tx1"/>
                </a:solidFill>
                <a:effectLst/>
                <a:latin typeface="+mn-lt"/>
                <a:ea typeface="+mn-ea"/>
                <a:cs typeface="+mn-cs"/>
              </a:rPr>
            </a:br>
            <a:r>
              <a:rPr lang="it-IT" sz="1200" kern="1200" dirty="0">
                <a:solidFill>
                  <a:schemeClr val="tx1"/>
                </a:solidFill>
                <a:effectLst/>
                <a:latin typeface="+mn-lt"/>
                <a:ea typeface="+mn-ea"/>
                <a:cs typeface="+mn-cs"/>
              </a:rPr>
              <a:t>il problema si risolve risolvendo l’equazione algebraica di </a:t>
            </a:r>
            <a:r>
              <a:rPr lang="it-IT" sz="1200" kern="1200" dirty="0" err="1">
                <a:solidFill>
                  <a:schemeClr val="tx1"/>
                </a:solidFill>
                <a:effectLst/>
                <a:latin typeface="+mn-lt"/>
                <a:ea typeface="+mn-ea"/>
                <a:cs typeface="+mn-cs"/>
              </a:rPr>
              <a:t>riccati</a:t>
            </a:r>
            <a:r>
              <a:rPr lang="it-IT" sz="1200" kern="1200" dirty="0">
                <a:solidFill>
                  <a:schemeClr val="tx1"/>
                </a:solidFill>
                <a:effectLst/>
                <a:latin typeface="+mn-lt"/>
                <a:ea typeface="+mn-ea"/>
                <a:cs typeface="+mn-cs"/>
              </a:rPr>
              <a:t> per sistemi tempo-discreti n variabile matriciale P, con cui si ricava il guadagno K da utilizzare in una legge di controllo lineare a retroazione di stato del tipo u = -</a:t>
            </a:r>
            <a:r>
              <a:rPr lang="it-IT" sz="1200" kern="1200" dirty="0" err="1">
                <a:solidFill>
                  <a:schemeClr val="tx1"/>
                </a:solidFill>
                <a:effectLst/>
                <a:latin typeface="+mn-lt"/>
                <a:ea typeface="+mn-ea"/>
                <a:cs typeface="+mn-cs"/>
              </a:rPr>
              <a:t>Kx</a:t>
            </a:r>
            <a:r>
              <a:rPr lang="it-IT" sz="1200" kern="1200" dirty="0">
                <a:solidFill>
                  <a:schemeClr val="tx1"/>
                </a:solidFill>
                <a:effectLst/>
                <a:latin typeface="+mn-lt"/>
                <a:ea typeface="+mn-ea"/>
                <a:cs typeface="+mn-cs"/>
              </a:rPr>
              <a:t>.</a:t>
            </a:r>
          </a:p>
        </p:txBody>
      </p:sp>
      <p:sp>
        <p:nvSpPr>
          <p:cNvPr id="4" name="Segnaposto numero diapositiva 3"/>
          <p:cNvSpPr>
            <a:spLocks noGrp="1"/>
          </p:cNvSpPr>
          <p:nvPr>
            <p:ph type="sldNum" sz="quarter" idx="5"/>
          </p:nvPr>
        </p:nvSpPr>
        <p:spPr/>
        <p:txBody>
          <a:bodyPr/>
          <a:lstStyle/>
          <a:p>
            <a:fld id="{66CAE05B-DE45-46FB-8F49-5AB447A5654C}" type="slidenum">
              <a:rPr lang="en-US" smtClean="0"/>
              <a:t>10</a:t>
            </a:fld>
            <a:endParaRPr lang="en-US"/>
          </a:p>
        </p:txBody>
      </p:sp>
    </p:spTree>
    <p:extLst>
      <p:ext uri="{BB962C8B-B14F-4D97-AF65-F5344CB8AC3E}">
        <p14:creationId xmlns:p14="http://schemas.microsoft.com/office/powerpoint/2010/main" val="39262850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tx1"/>
                </a:solidFill>
                <a:effectLst/>
                <a:latin typeface="+mn-lt"/>
                <a:ea typeface="+mn-ea"/>
                <a:cs typeface="+mn-cs"/>
              </a:rPr>
              <a:t>Viene inoltre esteso il controllore con l’abilità di effettuare il tracciamento di un riferimento a gradino. Questo viene fatto in linea con il principio del modello interno, che esprime che, per garantire un tracciamento </a:t>
            </a:r>
            <a:r>
              <a:rPr lang="it-IT" sz="1200" kern="1200" dirty="0" err="1">
                <a:solidFill>
                  <a:schemeClr val="tx1"/>
                </a:solidFill>
                <a:effectLst/>
                <a:latin typeface="+mn-lt"/>
                <a:ea typeface="+mn-ea"/>
                <a:cs typeface="+mn-cs"/>
              </a:rPr>
              <a:t>asintitico</a:t>
            </a:r>
            <a:r>
              <a:rPr lang="it-IT" sz="1200" kern="1200" dirty="0">
                <a:solidFill>
                  <a:schemeClr val="tx1"/>
                </a:solidFill>
                <a:effectLst/>
                <a:latin typeface="+mn-lt"/>
                <a:ea typeface="+mn-ea"/>
                <a:cs typeface="+mn-cs"/>
              </a:rPr>
              <a:t> di un riferimento, un controllore deve includere necessariamente un modello interno delle dinamiche del riferimento che si intende tracciare; nel caso di un riferimento a gradino, ciò si implementa aggiungendo una azione integrale sull’errore del tracciamento. </a:t>
            </a:r>
          </a:p>
          <a:p>
            <a:pPr marL="0" marR="0" lvl="0" indent="0" algn="l" defTabSz="914400" rtl="0" eaLnBrk="1" fontAlgn="auto" latinLnBrk="0" hangingPunct="1">
              <a:lnSpc>
                <a:spcPct val="100000"/>
              </a:lnSpc>
              <a:spcBef>
                <a:spcPts val="0"/>
              </a:spcBef>
              <a:spcAft>
                <a:spcPts val="0"/>
              </a:spcAft>
              <a:buClrTx/>
              <a:buSzTx/>
              <a:buFontTx/>
              <a:buNone/>
              <a:tabLst/>
              <a:defRPr/>
            </a:pPr>
            <a:br>
              <a:rPr lang="it-IT" sz="1200" kern="1200" dirty="0">
                <a:solidFill>
                  <a:schemeClr val="tx1"/>
                </a:solidFill>
                <a:effectLst/>
                <a:latin typeface="+mn-lt"/>
                <a:ea typeface="+mn-ea"/>
                <a:cs typeface="+mn-cs"/>
              </a:rPr>
            </a:br>
            <a:r>
              <a:rPr lang="it-IT" sz="1200" kern="1200" dirty="0">
                <a:solidFill>
                  <a:schemeClr val="tx1"/>
                </a:solidFill>
                <a:effectLst/>
                <a:latin typeface="+mn-lt"/>
                <a:ea typeface="+mn-ea"/>
                <a:cs typeface="+mn-cs"/>
              </a:rPr>
              <a:t>È inoltre introdotta la funzione di costo di tracciamento, formulata in questo modo, che viene utilizzata per valutare l’efficacia dell’inseguimento del riferimento.</a:t>
            </a:r>
          </a:p>
          <a:p>
            <a:endParaRPr lang="it-IT" dirty="0"/>
          </a:p>
        </p:txBody>
      </p:sp>
      <p:sp>
        <p:nvSpPr>
          <p:cNvPr id="4" name="Segnaposto numero diapositiva 3"/>
          <p:cNvSpPr>
            <a:spLocks noGrp="1"/>
          </p:cNvSpPr>
          <p:nvPr>
            <p:ph type="sldNum" sz="quarter" idx="5"/>
          </p:nvPr>
        </p:nvSpPr>
        <p:spPr/>
        <p:txBody>
          <a:bodyPr/>
          <a:lstStyle/>
          <a:p>
            <a:fld id="{66CAE05B-DE45-46FB-8F49-5AB447A5654C}" type="slidenum">
              <a:rPr lang="en-US" smtClean="0"/>
              <a:t>11</a:t>
            </a:fld>
            <a:endParaRPr lang="en-US"/>
          </a:p>
        </p:txBody>
      </p:sp>
    </p:spTree>
    <p:extLst>
      <p:ext uri="{BB962C8B-B14F-4D97-AF65-F5344CB8AC3E}">
        <p14:creationId xmlns:p14="http://schemas.microsoft.com/office/powerpoint/2010/main" val="16527141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lvl="0"/>
            <a:r>
              <a:rPr lang="it-IT" dirty="0"/>
              <a:t>A questo punto reintroduciamo le perdite sul canale di attuazione per analizzare la robustezza del controllo in loro presenza. </a:t>
            </a:r>
            <a:r>
              <a:rPr lang="it-IT" sz="1200" kern="1200" dirty="0">
                <a:solidFill>
                  <a:schemeClr val="tx1"/>
                </a:solidFill>
                <a:effectLst/>
                <a:latin typeface="+mn-lt"/>
                <a:ea typeface="+mn-ea"/>
                <a:cs typeface="+mn-cs"/>
              </a:rPr>
              <a:t>Definiamo una variabile aleatoria bernoulliana gamma, e riscriviamo l’ingresso di controllo in questa forma […].</a:t>
            </a:r>
          </a:p>
          <a:p>
            <a:pPr lvl="0"/>
            <a:br>
              <a:rPr lang="it-IT" sz="1200" kern="1200" dirty="0">
                <a:solidFill>
                  <a:schemeClr val="tx1"/>
                </a:solidFill>
                <a:effectLst/>
                <a:latin typeface="+mn-lt"/>
                <a:ea typeface="+mn-ea"/>
                <a:cs typeface="+mn-cs"/>
              </a:rPr>
            </a:br>
            <a:r>
              <a:rPr lang="it-IT" sz="1200" kern="1200" dirty="0">
                <a:solidFill>
                  <a:schemeClr val="tx1"/>
                </a:solidFill>
                <a:effectLst/>
                <a:latin typeface="+mn-lt"/>
                <a:ea typeface="+mn-ea"/>
                <a:cs typeface="+mn-cs"/>
              </a:rPr>
              <a:t>L’approccio all’analisi della stabilità in questa sezione è di tipo statistico, e consiste quindi nello svolgimento di più simulazioni per ogni valore di probabilità di perdita, traendo le conclusioni su considerazioni di tipo statistico a partire dai dati ricavati.</a:t>
            </a:r>
          </a:p>
          <a:p>
            <a:pPr lvl="0"/>
            <a:br>
              <a:rPr lang="it-IT" sz="1200" kern="1200" dirty="0">
                <a:solidFill>
                  <a:schemeClr val="tx1"/>
                </a:solidFill>
                <a:effectLst/>
                <a:latin typeface="+mn-lt"/>
                <a:ea typeface="+mn-ea"/>
                <a:cs typeface="+mn-cs"/>
              </a:rPr>
            </a:br>
            <a:r>
              <a:rPr lang="it-IT" sz="1200" kern="1200" dirty="0">
                <a:solidFill>
                  <a:schemeClr val="tx1"/>
                </a:solidFill>
                <a:effectLst/>
                <a:latin typeface="+mn-lt"/>
                <a:ea typeface="+mn-ea"/>
                <a:cs typeface="+mn-cs"/>
              </a:rPr>
              <a:t>Nel grafico a sinistra è mostrato l’andamento del tasso di successo medio nella stabilizzazione al variare della probabilità di perdita (quindi, in percentuale, quante simulazioni rispetto a tutte quelle effettuate hanno stabilizzato il sistema fino alla fine). Si osserva come il tasso di successo </a:t>
            </a:r>
            <a:r>
              <a:rPr lang="it-IT" sz="1200" kern="1200" dirty="0" err="1">
                <a:solidFill>
                  <a:schemeClr val="tx1"/>
                </a:solidFill>
                <a:effectLst/>
                <a:latin typeface="+mn-lt"/>
                <a:ea typeface="+mn-ea"/>
                <a:cs typeface="+mn-cs"/>
              </a:rPr>
              <a:t>inzia</a:t>
            </a:r>
            <a:r>
              <a:rPr lang="it-IT" sz="1200" kern="1200" dirty="0">
                <a:solidFill>
                  <a:schemeClr val="tx1"/>
                </a:solidFill>
                <a:effectLst/>
                <a:latin typeface="+mn-lt"/>
                <a:ea typeface="+mn-ea"/>
                <a:cs typeface="+mn-cs"/>
              </a:rPr>
              <a:t> a subire degradazione circa superato il 45% di perdite, e</a:t>
            </a:r>
            <a:r>
              <a:rPr lang="it-IT" sz="1200" u="sng" strike="sngStrike" kern="1200" dirty="0">
                <a:solidFill>
                  <a:schemeClr val="tx1"/>
                </a:solidFill>
                <a:effectLst/>
                <a:latin typeface="+mn-lt"/>
                <a:ea typeface="+mn-ea"/>
                <a:cs typeface="+mn-cs"/>
              </a:rPr>
              <a:t> cala sotto la soglia del 50% per una probabilità di perdite pari a 55%. </a:t>
            </a:r>
          </a:p>
          <a:p>
            <a:pPr lvl="0"/>
            <a:br>
              <a:rPr lang="it-IT" sz="1200" kern="1200" dirty="0">
                <a:solidFill>
                  <a:schemeClr val="tx1"/>
                </a:solidFill>
                <a:effectLst/>
                <a:latin typeface="+mn-lt"/>
                <a:ea typeface="+mn-ea"/>
                <a:cs typeface="+mn-cs"/>
              </a:rPr>
            </a:br>
            <a:r>
              <a:rPr lang="it-IT" sz="1200" kern="1200" dirty="0">
                <a:solidFill>
                  <a:schemeClr val="tx1"/>
                </a:solidFill>
                <a:effectLst/>
                <a:latin typeface="+mn-lt"/>
                <a:ea typeface="+mn-ea"/>
                <a:cs typeface="+mn-cs"/>
              </a:rPr>
              <a:t>Il grafico a destra, mostra invece l’andamento del costo di tracking al variare della probabilità di perdita, e si nota, anche in questo caso, sempre in </a:t>
            </a:r>
            <a:r>
              <a:rPr lang="it-IT" sz="1200" kern="1200" dirty="0" err="1">
                <a:solidFill>
                  <a:schemeClr val="tx1"/>
                </a:solidFill>
                <a:effectLst/>
                <a:latin typeface="+mn-lt"/>
                <a:ea typeface="+mn-ea"/>
                <a:cs typeface="+mn-cs"/>
              </a:rPr>
              <a:t>prossimita</a:t>
            </a:r>
            <a:r>
              <a:rPr lang="it-IT" sz="1200" kern="1200" dirty="0">
                <a:solidFill>
                  <a:schemeClr val="tx1"/>
                </a:solidFill>
                <a:effectLst/>
                <a:latin typeface="+mn-lt"/>
                <a:ea typeface="+mn-ea"/>
                <a:cs typeface="+mn-cs"/>
              </a:rPr>
              <a:t> di valori perdite del 45% la varianza inizia a crescere in modo significativo, per poi divergere per valori prossimi a 55-60%</a:t>
            </a: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endParaRPr lang="it-IT" sz="1200" kern="1200" dirty="0">
              <a:solidFill>
                <a:schemeClr val="tx1"/>
              </a:solidFill>
              <a:effectLst/>
              <a:latin typeface="+mn-lt"/>
              <a:ea typeface="+mn-ea"/>
              <a:cs typeface="+mn-cs"/>
            </a:endParaRPr>
          </a:p>
          <a:p>
            <a:pPr lvl="0"/>
            <a:endParaRPr lang="it-IT" dirty="0"/>
          </a:p>
          <a:p>
            <a:endParaRPr lang="it-IT" dirty="0"/>
          </a:p>
          <a:p>
            <a:endParaRPr lang="it-IT" dirty="0"/>
          </a:p>
          <a:p>
            <a:endParaRPr lang="it-IT" dirty="0"/>
          </a:p>
          <a:p>
            <a:endParaRPr lang="it-IT" dirty="0"/>
          </a:p>
          <a:p>
            <a:endParaRPr lang="it-IT" dirty="0"/>
          </a:p>
          <a:p>
            <a:endParaRPr lang="it-IT" dirty="0"/>
          </a:p>
          <a:p>
            <a:endParaRPr lang="it-IT" dirty="0"/>
          </a:p>
        </p:txBody>
      </p:sp>
      <p:sp>
        <p:nvSpPr>
          <p:cNvPr id="4" name="Segnaposto numero diapositiva 3"/>
          <p:cNvSpPr>
            <a:spLocks noGrp="1"/>
          </p:cNvSpPr>
          <p:nvPr>
            <p:ph type="sldNum" sz="quarter" idx="5"/>
          </p:nvPr>
        </p:nvSpPr>
        <p:spPr/>
        <p:txBody>
          <a:bodyPr/>
          <a:lstStyle/>
          <a:p>
            <a:fld id="{66CAE05B-DE45-46FB-8F49-5AB447A5654C}" type="slidenum">
              <a:rPr lang="en-US" smtClean="0"/>
              <a:t>12</a:t>
            </a:fld>
            <a:endParaRPr lang="en-US"/>
          </a:p>
        </p:txBody>
      </p:sp>
    </p:spTree>
    <p:extLst>
      <p:ext uri="{BB962C8B-B14F-4D97-AF65-F5344CB8AC3E}">
        <p14:creationId xmlns:p14="http://schemas.microsoft.com/office/powerpoint/2010/main" val="20406377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tx1"/>
                </a:solidFill>
                <a:effectLst/>
                <a:latin typeface="+mn-lt"/>
                <a:ea typeface="+mn-ea"/>
                <a:cs typeface="+mn-cs"/>
              </a:rPr>
              <a:t>A questo punto viene introdotta una policy di compensazione temporale per tentare di </a:t>
            </a:r>
            <a:r>
              <a:rPr lang="it-IT" sz="1200" kern="1200" dirty="0" err="1">
                <a:solidFill>
                  <a:schemeClr val="tx1"/>
                </a:solidFill>
                <a:effectLst/>
                <a:latin typeface="+mn-lt"/>
                <a:ea typeface="+mn-ea"/>
                <a:cs typeface="+mn-cs"/>
              </a:rPr>
              <a:t>miglioare</a:t>
            </a:r>
            <a:r>
              <a:rPr lang="it-IT" sz="1200" kern="1200" dirty="0">
                <a:solidFill>
                  <a:schemeClr val="tx1"/>
                </a:solidFill>
                <a:effectLst/>
                <a:latin typeface="+mn-lt"/>
                <a:ea typeface="+mn-ea"/>
                <a:cs typeface="+mn-cs"/>
              </a:rPr>
              <a:t> le performance del controllore in presenza di perdite, che consiste nell’applicare all’ingresso un </a:t>
            </a:r>
            <a:r>
              <a:rPr lang="it-IT" sz="1200" kern="1200" dirty="0" err="1">
                <a:solidFill>
                  <a:schemeClr val="tx1"/>
                </a:solidFill>
                <a:effectLst/>
                <a:latin typeface="+mn-lt"/>
                <a:ea typeface="+mn-ea"/>
                <a:cs typeface="+mn-cs"/>
              </a:rPr>
              <a:t>hold</a:t>
            </a:r>
            <a:r>
              <a:rPr lang="it-IT" sz="1200" kern="1200" dirty="0">
                <a:solidFill>
                  <a:schemeClr val="tx1"/>
                </a:solidFill>
                <a:effectLst/>
                <a:latin typeface="+mn-lt"/>
                <a:ea typeface="+mn-ea"/>
                <a:cs typeface="+mn-cs"/>
              </a:rPr>
              <a:t> con decadimento, modulato dal fattore alpha.</a:t>
            </a:r>
          </a:p>
          <a:p>
            <a:pPr marL="0" marR="0" lvl="0" indent="0" algn="l" defTabSz="914400" rtl="0" eaLnBrk="1" fontAlgn="auto" latinLnBrk="0" hangingPunct="1">
              <a:lnSpc>
                <a:spcPct val="100000"/>
              </a:lnSpc>
              <a:spcBef>
                <a:spcPts val="0"/>
              </a:spcBef>
              <a:spcAft>
                <a:spcPts val="0"/>
              </a:spcAft>
              <a:buClrTx/>
              <a:buSzTx/>
              <a:buFontTx/>
              <a:buNone/>
              <a:tabLst/>
              <a:defRPr/>
            </a:pPr>
            <a:br>
              <a:rPr lang="it-IT" sz="1200" kern="1200" dirty="0">
                <a:solidFill>
                  <a:schemeClr val="tx1"/>
                </a:solidFill>
                <a:effectLst/>
                <a:latin typeface="+mn-lt"/>
                <a:ea typeface="+mn-ea"/>
                <a:cs typeface="+mn-cs"/>
              </a:rPr>
            </a:br>
            <a:r>
              <a:rPr lang="it-IT" sz="1200" kern="1200" dirty="0">
                <a:solidFill>
                  <a:schemeClr val="tx1"/>
                </a:solidFill>
                <a:effectLst/>
                <a:latin typeface="+mn-lt"/>
                <a:ea typeface="+mn-ea"/>
                <a:cs typeface="+mn-cs"/>
              </a:rPr>
              <a:t>Nella figura a sinistra sono mostrate le curve di andamento del tasso di successo per vari livelli del fattore alpha; e già è possibile notare come per alpha = 1 (</a:t>
            </a:r>
            <a:r>
              <a:rPr lang="it-IT" sz="1200" kern="1200" dirty="0" err="1">
                <a:solidFill>
                  <a:schemeClr val="tx1"/>
                </a:solidFill>
                <a:effectLst/>
                <a:latin typeface="+mn-lt"/>
                <a:ea typeface="+mn-ea"/>
                <a:cs typeface="+mn-cs"/>
              </a:rPr>
              <a:t>quindiper</a:t>
            </a:r>
            <a:r>
              <a:rPr lang="it-IT" sz="1200" kern="1200" dirty="0">
                <a:solidFill>
                  <a:schemeClr val="tx1"/>
                </a:solidFill>
                <a:effectLst/>
                <a:latin typeface="+mn-lt"/>
                <a:ea typeface="+mn-ea"/>
                <a:cs typeface="+mn-cs"/>
              </a:rPr>
              <a:t> una policy di </a:t>
            </a:r>
            <a:r>
              <a:rPr lang="it-IT" sz="1200" kern="1200" dirty="0" err="1">
                <a:solidFill>
                  <a:schemeClr val="tx1"/>
                </a:solidFill>
                <a:effectLst/>
                <a:latin typeface="+mn-lt"/>
                <a:ea typeface="+mn-ea"/>
                <a:cs typeface="+mn-cs"/>
              </a:rPr>
              <a:t>hold</a:t>
            </a:r>
            <a:r>
              <a:rPr lang="it-IT" sz="1200" kern="1200" dirty="0">
                <a:solidFill>
                  <a:schemeClr val="tx1"/>
                </a:solidFill>
                <a:effectLst/>
                <a:latin typeface="+mn-lt"/>
                <a:ea typeface="+mn-ea"/>
                <a:cs typeface="+mn-cs"/>
              </a:rPr>
              <a:t> completo) si riesce a </a:t>
            </a:r>
            <a:r>
              <a:rPr lang="it-IT" sz="1200" kern="1200" dirty="0" err="1">
                <a:solidFill>
                  <a:schemeClr val="tx1"/>
                </a:solidFill>
                <a:effectLst/>
                <a:latin typeface="+mn-lt"/>
                <a:ea typeface="+mn-ea"/>
                <a:cs typeface="+mn-cs"/>
              </a:rPr>
              <a:t>milgiorare</a:t>
            </a:r>
            <a:r>
              <a:rPr lang="it-IT" sz="1200" kern="1200" dirty="0">
                <a:solidFill>
                  <a:schemeClr val="tx1"/>
                </a:solidFill>
                <a:effectLst/>
                <a:latin typeface="+mn-lt"/>
                <a:ea typeface="+mn-ea"/>
                <a:cs typeface="+mn-cs"/>
              </a:rPr>
              <a:t> la tolleranza alle perdite di circa il 20%. Inoltre si nota come per valori alpha vicini a 0.9 si riesce a </a:t>
            </a:r>
            <a:r>
              <a:rPr lang="it-IT" sz="1200" kern="1200" dirty="0" err="1">
                <a:solidFill>
                  <a:schemeClr val="tx1"/>
                </a:solidFill>
                <a:effectLst/>
                <a:latin typeface="+mn-lt"/>
                <a:ea typeface="+mn-ea"/>
                <a:cs typeface="+mn-cs"/>
              </a:rPr>
              <a:t>milgiorare</a:t>
            </a:r>
            <a:r>
              <a:rPr lang="it-IT" sz="1200" kern="1200" dirty="0">
                <a:solidFill>
                  <a:schemeClr val="tx1"/>
                </a:solidFill>
                <a:effectLst/>
                <a:latin typeface="+mn-lt"/>
                <a:ea typeface="+mn-ea"/>
                <a:cs typeface="+mn-cs"/>
              </a:rPr>
              <a:t> ulteriormente la robustezza di qualche altro punto percentuale.</a:t>
            </a:r>
          </a:p>
          <a:p>
            <a:pPr marL="0" marR="0" lvl="0" indent="0" algn="l" defTabSz="914400" rtl="0" eaLnBrk="1" fontAlgn="auto" latinLnBrk="0" hangingPunct="1">
              <a:lnSpc>
                <a:spcPct val="100000"/>
              </a:lnSpc>
              <a:spcBef>
                <a:spcPts val="0"/>
              </a:spcBef>
              <a:spcAft>
                <a:spcPts val="0"/>
              </a:spcAft>
              <a:buClrTx/>
              <a:buSzTx/>
              <a:buFontTx/>
              <a:buNone/>
              <a:tabLst/>
              <a:defRPr/>
            </a:pPr>
            <a:br>
              <a:rPr lang="it-IT" sz="1200" kern="1200" dirty="0">
                <a:solidFill>
                  <a:schemeClr val="tx1"/>
                </a:solidFill>
                <a:effectLst/>
                <a:latin typeface="+mn-lt"/>
                <a:ea typeface="+mn-ea"/>
                <a:cs typeface="+mn-cs"/>
              </a:rPr>
            </a:br>
            <a:r>
              <a:rPr lang="it-IT" sz="1200" kern="1200" dirty="0">
                <a:solidFill>
                  <a:schemeClr val="tx1"/>
                </a:solidFill>
                <a:effectLst/>
                <a:latin typeface="+mn-lt"/>
                <a:ea typeface="+mn-ea"/>
                <a:cs typeface="+mn-cs"/>
              </a:rPr>
              <a:t>Nella grafico a destra, tratto dal grafico precedente,  è mostrato sulle ordinate l’andamento della probabilità di perdita in cui il tasso di successo cala sotto al 100% (quindi in cui la </a:t>
            </a:r>
            <a:r>
              <a:rPr lang="it-IT" sz="1200" kern="1200" dirty="0" err="1">
                <a:solidFill>
                  <a:schemeClr val="tx1"/>
                </a:solidFill>
                <a:effectLst/>
                <a:latin typeface="+mn-lt"/>
                <a:ea typeface="+mn-ea"/>
                <a:cs typeface="+mn-cs"/>
              </a:rPr>
              <a:t>stabilzzazione</a:t>
            </a:r>
            <a:r>
              <a:rPr lang="it-IT" sz="1200" kern="1200" dirty="0">
                <a:solidFill>
                  <a:schemeClr val="tx1"/>
                </a:solidFill>
                <a:effectLst/>
                <a:latin typeface="+mn-lt"/>
                <a:ea typeface="+mn-ea"/>
                <a:cs typeface="+mn-cs"/>
              </a:rPr>
              <a:t> </a:t>
            </a:r>
            <a:r>
              <a:rPr lang="it-IT" sz="1200" kern="1200" dirty="0" err="1">
                <a:solidFill>
                  <a:schemeClr val="tx1"/>
                </a:solidFill>
                <a:effectLst/>
                <a:latin typeface="+mn-lt"/>
                <a:ea typeface="+mn-ea"/>
                <a:cs typeface="+mn-cs"/>
              </a:rPr>
              <a:t>diventsa</a:t>
            </a:r>
            <a:r>
              <a:rPr lang="it-IT" sz="1200" kern="1200" dirty="0">
                <a:solidFill>
                  <a:schemeClr val="tx1"/>
                </a:solidFill>
                <a:effectLst/>
                <a:latin typeface="+mn-lt"/>
                <a:ea typeface="+mn-ea"/>
                <a:cs typeface="+mn-cs"/>
              </a:rPr>
              <a:t> inconsistente) al </a:t>
            </a:r>
            <a:r>
              <a:rPr lang="it-IT" sz="1200" kern="1200" dirty="0" err="1">
                <a:solidFill>
                  <a:schemeClr val="tx1"/>
                </a:solidFill>
                <a:effectLst/>
                <a:latin typeface="+mn-lt"/>
                <a:ea typeface="+mn-ea"/>
                <a:cs typeface="+mn-cs"/>
              </a:rPr>
              <a:t>vairare</a:t>
            </a:r>
            <a:r>
              <a:rPr lang="it-IT" sz="1200" kern="1200" dirty="0">
                <a:solidFill>
                  <a:schemeClr val="tx1"/>
                </a:solidFill>
                <a:effectLst/>
                <a:latin typeface="+mn-lt"/>
                <a:ea typeface="+mn-ea"/>
                <a:cs typeface="+mn-cs"/>
              </a:rPr>
              <a:t> del fattore alpha, e anche in questo caso, emerge un picco nelle performance per un alpha pari 0.95</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tx1"/>
                </a:solidFill>
                <a:effectLst/>
                <a:latin typeface="+mn-lt"/>
                <a:ea typeface="+mn-ea"/>
                <a:cs typeface="+mn-cs"/>
              </a:rPr>
              <a:t>CHIAMALO HOLD CON DECADIMENTO</a:t>
            </a:r>
          </a:p>
          <a:p>
            <a:endParaRPr lang="it-IT" dirty="0"/>
          </a:p>
        </p:txBody>
      </p:sp>
      <p:sp>
        <p:nvSpPr>
          <p:cNvPr id="4" name="Segnaposto numero diapositiva 3"/>
          <p:cNvSpPr>
            <a:spLocks noGrp="1"/>
          </p:cNvSpPr>
          <p:nvPr>
            <p:ph type="sldNum" sz="quarter" idx="5"/>
          </p:nvPr>
        </p:nvSpPr>
        <p:spPr/>
        <p:txBody>
          <a:bodyPr/>
          <a:lstStyle/>
          <a:p>
            <a:fld id="{66CAE05B-DE45-46FB-8F49-5AB447A5654C}" type="slidenum">
              <a:rPr lang="en-US" smtClean="0"/>
              <a:t>13</a:t>
            </a:fld>
            <a:endParaRPr lang="en-US"/>
          </a:p>
        </p:txBody>
      </p:sp>
    </p:spTree>
    <p:extLst>
      <p:ext uri="{BB962C8B-B14F-4D97-AF65-F5344CB8AC3E}">
        <p14:creationId xmlns:p14="http://schemas.microsoft.com/office/powerpoint/2010/main" val="3462110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lvl="0"/>
            <a:r>
              <a:rPr lang="it-IT" sz="1200" kern="1200" dirty="0">
                <a:solidFill>
                  <a:schemeClr val="tx1"/>
                </a:solidFill>
                <a:effectLst/>
                <a:latin typeface="+mn-lt"/>
                <a:ea typeface="+mn-ea"/>
                <a:cs typeface="+mn-cs"/>
              </a:rPr>
              <a:t>Per concludere riepiloghiamo (quindi) i punti salienti del lavoro; </a:t>
            </a:r>
          </a:p>
          <a:p>
            <a:r>
              <a:rPr lang="it-IT" sz="1200" kern="1200" dirty="0">
                <a:solidFill>
                  <a:schemeClr val="tx1"/>
                </a:solidFill>
                <a:effectLst/>
                <a:latin typeface="+mn-lt"/>
                <a:ea typeface="+mn-ea"/>
                <a:cs typeface="+mn-cs"/>
              </a:rPr>
              <a:t> </a:t>
            </a:r>
          </a:p>
          <a:p>
            <a:r>
              <a:rPr lang="it-IT" sz="1200" kern="1200" dirty="0">
                <a:solidFill>
                  <a:schemeClr val="tx1"/>
                </a:solidFill>
                <a:effectLst/>
                <a:latin typeface="+mn-lt"/>
                <a:ea typeface="+mn-ea"/>
                <a:cs typeface="+mn-cs"/>
              </a:rPr>
              <a:t>Si è osservato come sia stato possibile impiegare con successo delle matrici A e B identificate con regressione lineare nella sintesi di controllori ottimi;</a:t>
            </a:r>
          </a:p>
          <a:p>
            <a:endParaRPr lang="it-IT" sz="1200" kern="1200" dirty="0">
              <a:solidFill>
                <a:schemeClr val="tx1"/>
              </a:solidFill>
              <a:effectLst/>
              <a:latin typeface="+mn-lt"/>
              <a:ea typeface="+mn-ea"/>
              <a:cs typeface="+mn-cs"/>
            </a:endParaRPr>
          </a:p>
          <a:p>
            <a:r>
              <a:rPr lang="it-IT" sz="1200" kern="1200" dirty="0">
                <a:solidFill>
                  <a:schemeClr val="tx1"/>
                </a:solidFill>
                <a:effectLst/>
                <a:latin typeface="+mn-lt"/>
                <a:ea typeface="+mn-ea"/>
                <a:cs typeface="+mn-cs"/>
              </a:rPr>
              <a:t>E Si è visto poi come l’introduzione di una policy di </a:t>
            </a:r>
            <a:r>
              <a:rPr lang="it-IT" sz="1200" kern="1200" dirty="0" err="1">
                <a:solidFill>
                  <a:schemeClr val="tx1"/>
                </a:solidFill>
                <a:effectLst/>
                <a:latin typeface="+mn-lt"/>
                <a:ea typeface="+mn-ea"/>
                <a:cs typeface="+mn-cs"/>
              </a:rPr>
              <a:t>hold</a:t>
            </a:r>
            <a:r>
              <a:rPr lang="it-IT" sz="1200" kern="1200" dirty="0">
                <a:solidFill>
                  <a:schemeClr val="tx1"/>
                </a:solidFill>
                <a:effectLst/>
                <a:latin typeface="+mn-lt"/>
                <a:ea typeface="+mn-ea"/>
                <a:cs typeface="+mn-cs"/>
              </a:rPr>
              <a:t> con decadimento possa migliorare notevolmente le performance del sistema in caso di perdite di pacchetti.</a:t>
            </a:r>
          </a:p>
          <a:p>
            <a:r>
              <a:rPr lang="it-IT" sz="1200" kern="1200" dirty="0">
                <a:solidFill>
                  <a:schemeClr val="tx1"/>
                </a:solidFill>
                <a:effectLst/>
                <a:latin typeface="+mn-lt"/>
                <a:ea typeface="+mn-ea"/>
                <a:cs typeface="+mn-cs"/>
              </a:rPr>
              <a:t> </a:t>
            </a:r>
          </a:p>
          <a:p>
            <a:r>
              <a:rPr lang="it-IT" sz="1200" kern="1200" dirty="0">
                <a:solidFill>
                  <a:schemeClr val="tx1"/>
                </a:solidFill>
                <a:effectLst/>
                <a:latin typeface="+mn-lt"/>
                <a:ea typeface="+mn-ea"/>
                <a:cs typeface="+mn-cs"/>
              </a:rPr>
              <a:t>…E un approccio di tipo stocastico all’analisi della stabilità, al fine di </a:t>
            </a:r>
            <a:r>
              <a:rPr lang="it-IT" sz="1200" kern="1200" dirty="0" err="1">
                <a:solidFill>
                  <a:schemeClr val="tx1"/>
                </a:solidFill>
                <a:effectLst/>
                <a:latin typeface="+mn-lt"/>
                <a:ea typeface="+mn-ea"/>
                <a:cs typeface="+mn-cs"/>
              </a:rPr>
              <a:t>averene</a:t>
            </a:r>
            <a:r>
              <a:rPr lang="it-IT" sz="1200" kern="1200" dirty="0">
                <a:solidFill>
                  <a:schemeClr val="tx1"/>
                </a:solidFill>
                <a:effectLst/>
                <a:latin typeface="+mn-lt"/>
                <a:ea typeface="+mn-ea"/>
                <a:cs typeface="+mn-cs"/>
              </a:rPr>
              <a:t> una caratterizzazione più </a:t>
            </a:r>
            <a:r>
              <a:rPr lang="it-IT" sz="1200" kern="1200" dirty="0" err="1">
                <a:solidFill>
                  <a:schemeClr val="tx1"/>
                </a:solidFill>
                <a:effectLst/>
                <a:latin typeface="+mn-lt"/>
                <a:ea typeface="+mn-ea"/>
                <a:cs typeface="+mn-cs"/>
              </a:rPr>
              <a:t>rigorsa</a:t>
            </a:r>
            <a:r>
              <a:rPr lang="it-IT" sz="1200" kern="1200" dirty="0">
                <a:solidFill>
                  <a:schemeClr val="tx1"/>
                </a:solidFill>
                <a:effectLst/>
                <a:latin typeface="+mn-lt"/>
                <a:ea typeface="+mn-ea"/>
                <a:cs typeface="+mn-cs"/>
              </a:rPr>
              <a:t> ‘  che abilita l’utilizzo di tecniche di controllo più avanzate e mirate.</a:t>
            </a:r>
          </a:p>
          <a:p>
            <a:endParaRPr lang="it-IT" sz="1200" kern="1200" dirty="0">
              <a:solidFill>
                <a:schemeClr val="tx1"/>
              </a:solidFill>
              <a:effectLst/>
              <a:latin typeface="+mn-lt"/>
              <a:ea typeface="+mn-ea"/>
              <a:cs typeface="+mn-cs"/>
            </a:endParaRPr>
          </a:p>
          <a:p>
            <a:endParaRPr lang="it-IT" sz="1200" kern="1200" dirty="0">
              <a:solidFill>
                <a:schemeClr val="tx1"/>
              </a:solidFill>
              <a:effectLst/>
              <a:latin typeface="+mn-lt"/>
              <a:ea typeface="+mn-ea"/>
              <a:cs typeface="+mn-cs"/>
            </a:endParaRPr>
          </a:p>
          <a:p>
            <a:r>
              <a:rPr lang="it-IT" sz="1200" kern="1200" dirty="0">
                <a:solidFill>
                  <a:schemeClr val="tx1"/>
                </a:solidFill>
                <a:effectLst/>
                <a:latin typeface="+mn-lt"/>
                <a:ea typeface="+mn-ea"/>
                <a:cs typeface="+mn-cs"/>
              </a:rPr>
              <a:t>DECADIMENTO NON ESPONEZIALE</a:t>
            </a:r>
          </a:p>
          <a:p>
            <a:endParaRPr lang="it-IT" dirty="0"/>
          </a:p>
        </p:txBody>
      </p:sp>
      <p:sp>
        <p:nvSpPr>
          <p:cNvPr id="4" name="Segnaposto numero diapositiva 3"/>
          <p:cNvSpPr>
            <a:spLocks noGrp="1"/>
          </p:cNvSpPr>
          <p:nvPr>
            <p:ph type="sldNum" sz="quarter" idx="5"/>
          </p:nvPr>
        </p:nvSpPr>
        <p:spPr/>
        <p:txBody>
          <a:bodyPr/>
          <a:lstStyle/>
          <a:p>
            <a:fld id="{66CAE05B-DE45-46FB-8F49-5AB447A5654C}" type="slidenum">
              <a:rPr lang="en-US" smtClean="0"/>
              <a:t>14</a:t>
            </a:fld>
            <a:endParaRPr lang="en-US"/>
          </a:p>
        </p:txBody>
      </p:sp>
    </p:spTree>
    <p:extLst>
      <p:ext uri="{BB962C8B-B14F-4D97-AF65-F5344CB8AC3E}">
        <p14:creationId xmlns:p14="http://schemas.microsoft.com/office/powerpoint/2010/main" val="3914418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525791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5B7EB77-7145-63A8-404E-5A16941551E4}"/>
              </a:ext>
            </a:extLst>
          </p:cNvPr>
          <p:cNvSpPr>
            <a:spLocks noGrp="1"/>
          </p:cNvSpPr>
          <p:nvPr>
            <p:ph type="pic" sz="quarter" idx="11"/>
          </p:nvPr>
        </p:nvSpPr>
        <p:spPr>
          <a:xfrm>
            <a:off x="2118456" y="2451102"/>
            <a:ext cx="3888645" cy="3911599"/>
          </a:xfrm>
          <a:custGeom>
            <a:avLst/>
            <a:gdLst>
              <a:gd name="connsiteX0" fmla="*/ 0 w 3888645"/>
              <a:gd name="connsiteY0" fmla="*/ 0 h 3911599"/>
              <a:gd name="connsiteX1" fmla="*/ 3888645 w 3888645"/>
              <a:gd name="connsiteY1" fmla="*/ 0 h 3911599"/>
              <a:gd name="connsiteX2" fmla="*/ 3888645 w 3888645"/>
              <a:gd name="connsiteY2" fmla="*/ 3911599 h 3911599"/>
              <a:gd name="connsiteX3" fmla="*/ 0 w 3888645"/>
              <a:gd name="connsiteY3" fmla="*/ 3911599 h 3911599"/>
            </a:gdLst>
            <a:ahLst/>
            <a:cxnLst>
              <a:cxn ang="0">
                <a:pos x="connsiteX0" y="connsiteY0"/>
              </a:cxn>
              <a:cxn ang="0">
                <a:pos x="connsiteX1" y="connsiteY1"/>
              </a:cxn>
              <a:cxn ang="0">
                <a:pos x="connsiteX2" y="connsiteY2"/>
              </a:cxn>
              <a:cxn ang="0">
                <a:pos x="connsiteX3" y="connsiteY3"/>
              </a:cxn>
            </a:cxnLst>
            <a:rect l="l" t="t" r="r" b="b"/>
            <a:pathLst>
              <a:path w="3888645" h="3911599">
                <a:moveTo>
                  <a:pt x="0" y="0"/>
                </a:moveTo>
                <a:lnTo>
                  <a:pt x="3888645" y="0"/>
                </a:lnTo>
                <a:lnTo>
                  <a:pt x="3888645" y="3911599"/>
                </a:lnTo>
                <a:lnTo>
                  <a:pt x="0" y="3911599"/>
                </a:lnTo>
                <a:close/>
              </a:path>
            </a:pathLst>
          </a:custGeom>
        </p:spPr>
        <p:txBody>
          <a:bodyPr wrap="square">
            <a:noAutofit/>
          </a:bodyPr>
          <a:lstStyle>
            <a:lvl1pPr algn="ctr">
              <a:defRPr sz="1000">
                <a:latin typeface="Poppins" panose="00000500000000000000" pitchFamily="50" charset="0"/>
                <a:cs typeface="Poppins" panose="00000500000000000000" pitchFamily="50" charset="0"/>
              </a:defRPr>
            </a:lvl1pPr>
          </a:lstStyle>
          <a:p>
            <a:endParaRPr lang="en-US"/>
          </a:p>
        </p:txBody>
      </p:sp>
    </p:spTree>
    <p:extLst>
      <p:ext uri="{BB962C8B-B14F-4D97-AF65-F5344CB8AC3E}">
        <p14:creationId xmlns:p14="http://schemas.microsoft.com/office/powerpoint/2010/main" val="64167814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83DB3EE5-75EE-1725-6556-842D021F8024}"/>
              </a:ext>
            </a:extLst>
          </p:cNvPr>
          <p:cNvSpPr>
            <a:spLocks noGrp="1"/>
          </p:cNvSpPr>
          <p:nvPr>
            <p:ph type="pic" sz="quarter" idx="12"/>
          </p:nvPr>
        </p:nvSpPr>
        <p:spPr>
          <a:xfrm>
            <a:off x="5353050" y="4313549"/>
            <a:ext cx="3039458" cy="2049151"/>
          </a:xfrm>
          <a:custGeom>
            <a:avLst/>
            <a:gdLst>
              <a:gd name="connsiteX0" fmla="*/ 0 w 3039458"/>
              <a:gd name="connsiteY0" fmla="*/ 0 h 2049151"/>
              <a:gd name="connsiteX1" fmla="*/ 3039458 w 3039458"/>
              <a:gd name="connsiteY1" fmla="*/ 0 h 2049151"/>
              <a:gd name="connsiteX2" fmla="*/ 3039458 w 3039458"/>
              <a:gd name="connsiteY2" fmla="*/ 2049151 h 2049151"/>
              <a:gd name="connsiteX3" fmla="*/ 0 w 3039458"/>
              <a:gd name="connsiteY3" fmla="*/ 2049151 h 2049151"/>
            </a:gdLst>
            <a:ahLst/>
            <a:cxnLst>
              <a:cxn ang="0">
                <a:pos x="connsiteX0" y="connsiteY0"/>
              </a:cxn>
              <a:cxn ang="0">
                <a:pos x="connsiteX1" y="connsiteY1"/>
              </a:cxn>
              <a:cxn ang="0">
                <a:pos x="connsiteX2" y="connsiteY2"/>
              </a:cxn>
              <a:cxn ang="0">
                <a:pos x="connsiteX3" y="connsiteY3"/>
              </a:cxn>
            </a:cxnLst>
            <a:rect l="l" t="t" r="r" b="b"/>
            <a:pathLst>
              <a:path w="3039458" h="2049151">
                <a:moveTo>
                  <a:pt x="0" y="0"/>
                </a:moveTo>
                <a:lnTo>
                  <a:pt x="3039458" y="0"/>
                </a:lnTo>
                <a:lnTo>
                  <a:pt x="3039458" y="2049151"/>
                </a:lnTo>
                <a:lnTo>
                  <a:pt x="0" y="2049151"/>
                </a:lnTo>
                <a:close/>
              </a:path>
            </a:pathLst>
          </a:custGeom>
        </p:spPr>
        <p:txBody>
          <a:bodyPr wrap="square">
            <a:noAutofit/>
          </a:bodyPr>
          <a:lstStyle>
            <a:lvl1pPr algn="ctr">
              <a:defRPr sz="1000">
                <a:latin typeface="Poppins" panose="00000500000000000000" pitchFamily="50" charset="0"/>
                <a:cs typeface="Poppins" panose="00000500000000000000" pitchFamily="50" charset="0"/>
              </a:defRPr>
            </a:lvl1pPr>
          </a:lstStyle>
          <a:p>
            <a:endParaRPr lang="en-US"/>
          </a:p>
        </p:txBody>
      </p:sp>
      <p:sp>
        <p:nvSpPr>
          <p:cNvPr id="8" name="Picture Placeholder 7">
            <a:extLst>
              <a:ext uri="{FF2B5EF4-FFF2-40B4-BE49-F238E27FC236}">
                <a16:creationId xmlns:a16="http://schemas.microsoft.com/office/drawing/2014/main" id="{611E4D20-73C5-DC22-5F6B-279C1B764F61}"/>
              </a:ext>
            </a:extLst>
          </p:cNvPr>
          <p:cNvSpPr>
            <a:spLocks noGrp="1"/>
          </p:cNvSpPr>
          <p:nvPr>
            <p:ph type="pic" sz="quarter" idx="11"/>
          </p:nvPr>
        </p:nvSpPr>
        <p:spPr>
          <a:xfrm>
            <a:off x="8480218" y="2133600"/>
            <a:ext cx="3064082" cy="4229100"/>
          </a:xfrm>
          <a:custGeom>
            <a:avLst/>
            <a:gdLst>
              <a:gd name="connsiteX0" fmla="*/ 0 w 3064082"/>
              <a:gd name="connsiteY0" fmla="*/ 0 h 4229100"/>
              <a:gd name="connsiteX1" fmla="*/ 3064082 w 3064082"/>
              <a:gd name="connsiteY1" fmla="*/ 0 h 4229100"/>
              <a:gd name="connsiteX2" fmla="*/ 3064082 w 3064082"/>
              <a:gd name="connsiteY2" fmla="*/ 4229100 h 4229100"/>
              <a:gd name="connsiteX3" fmla="*/ 0 w 3064082"/>
              <a:gd name="connsiteY3" fmla="*/ 4229100 h 4229100"/>
            </a:gdLst>
            <a:ahLst/>
            <a:cxnLst>
              <a:cxn ang="0">
                <a:pos x="connsiteX0" y="connsiteY0"/>
              </a:cxn>
              <a:cxn ang="0">
                <a:pos x="connsiteX1" y="connsiteY1"/>
              </a:cxn>
              <a:cxn ang="0">
                <a:pos x="connsiteX2" y="connsiteY2"/>
              </a:cxn>
              <a:cxn ang="0">
                <a:pos x="connsiteX3" y="connsiteY3"/>
              </a:cxn>
            </a:cxnLst>
            <a:rect l="l" t="t" r="r" b="b"/>
            <a:pathLst>
              <a:path w="3064082" h="4229100">
                <a:moveTo>
                  <a:pt x="0" y="0"/>
                </a:moveTo>
                <a:lnTo>
                  <a:pt x="3064082" y="0"/>
                </a:lnTo>
                <a:lnTo>
                  <a:pt x="3064082" y="4229100"/>
                </a:lnTo>
                <a:lnTo>
                  <a:pt x="0" y="4229100"/>
                </a:lnTo>
                <a:close/>
              </a:path>
            </a:pathLst>
          </a:custGeom>
        </p:spPr>
        <p:txBody>
          <a:bodyPr wrap="square">
            <a:noAutofit/>
          </a:bodyPr>
          <a:lstStyle>
            <a:lvl1pPr algn="ctr">
              <a:defRPr sz="1000">
                <a:latin typeface="Poppins" panose="00000500000000000000" pitchFamily="50" charset="0"/>
                <a:cs typeface="Poppins" panose="00000500000000000000" pitchFamily="50" charset="0"/>
              </a:defRPr>
            </a:lvl1pPr>
          </a:lstStyle>
          <a:p>
            <a:endParaRPr lang="en-US"/>
          </a:p>
        </p:txBody>
      </p:sp>
      <p:sp>
        <p:nvSpPr>
          <p:cNvPr id="3" name="Picture Placeholder 2">
            <a:extLst>
              <a:ext uri="{FF2B5EF4-FFF2-40B4-BE49-F238E27FC236}">
                <a16:creationId xmlns:a16="http://schemas.microsoft.com/office/drawing/2014/main" id="{95D2EA67-548A-D12E-CBBB-44C3168F0097}"/>
              </a:ext>
            </a:extLst>
          </p:cNvPr>
          <p:cNvSpPr>
            <a:spLocks noGrp="1"/>
          </p:cNvSpPr>
          <p:nvPr>
            <p:ph type="pic" sz="quarter" idx="10"/>
          </p:nvPr>
        </p:nvSpPr>
        <p:spPr>
          <a:xfrm>
            <a:off x="5353050" y="2133600"/>
            <a:ext cx="3039458" cy="2091981"/>
          </a:xfrm>
          <a:custGeom>
            <a:avLst/>
            <a:gdLst>
              <a:gd name="connsiteX0" fmla="*/ 0 w 3039458"/>
              <a:gd name="connsiteY0" fmla="*/ 0 h 2091981"/>
              <a:gd name="connsiteX1" fmla="*/ 3039458 w 3039458"/>
              <a:gd name="connsiteY1" fmla="*/ 0 h 2091981"/>
              <a:gd name="connsiteX2" fmla="*/ 3039458 w 3039458"/>
              <a:gd name="connsiteY2" fmla="*/ 2091981 h 2091981"/>
              <a:gd name="connsiteX3" fmla="*/ 0 w 3039458"/>
              <a:gd name="connsiteY3" fmla="*/ 2091981 h 2091981"/>
            </a:gdLst>
            <a:ahLst/>
            <a:cxnLst>
              <a:cxn ang="0">
                <a:pos x="connsiteX0" y="connsiteY0"/>
              </a:cxn>
              <a:cxn ang="0">
                <a:pos x="connsiteX1" y="connsiteY1"/>
              </a:cxn>
              <a:cxn ang="0">
                <a:pos x="connsiteX2" y="connsiteY2"/>
              </a:cxn>
              <a:cxn ang="0">
                <a:pos x="connsiteX3" y="connsiteY3"/>
              </a:cxn>
            </a:cxnLst>
            <a:rect l="l" t="t" r="r" b="b"/>
            <a:pathLst>
              <a:path w="3039458" h="2091981">
                <a:moveTo>
                  <a:pt x="0" y="0"/>
                </a:moveTo>
                <a:lnTo>
                  <a:pt x="3039458" y="0"/>
                </a:lnTo>
                <a:lnTo>
                  <a:pt x="3039458" y="2091981"/>
                </a:lnTo>
                <a:lnTo>
                  <a:pt x="0" y="2091981"/>
                </a:lnTo>
                <a:close/>
              </a:path>
            </a:pathLst>
          </a:custGeom>
        </p:spPr>
        <p:txBody>
          <a:bodyPr wrap="square">
            <a:noAutofit/>
          </a:bodyPr>
          <a:lstStyle>
            <a:lvl1pPr algn="ctr">
              <a:defRPr sz="1000">
                <a:latin typeface="Poppins" panose="00000500000000000000" pitchFamily="50" charset="0"/>
                <a:cs typeface="Poppins" panose="00000500000000000000" pitchFamily="50" charset="0"/>
              </a:defRPr>
            </a:lvl1pPr>
          </a:lstStyle>
          <a:p>
            <a:endParaRPr lang="en-US"/>
          </a:p>
        </p:txBody>
      </p:sp>
    </p:spTree>
    <p:extLst>
      <p:ext uri="{BB962C8B-B14F-4D97-AF65-F5344CB8AC3E}">
        <p14:creationId xmlns:p14="http://schemas.microsoft.com/office/powerpoint/2010/main" val="99329440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763DA20A-2716-8B83-F3C1-04515FE03C62}"/>
              </a:ext>
            </a:extLst>
          </p:cNvPr>
          <p:cNvSpPr>
            <a:spLocks noGrp="1"/>
          </p:cNvSpPr>
          <p:nvPr>
            <p:ph type="pic" sz="quarter" idx="13"/>
          </p:nvPr>
        </p:nvSpPr>
        <p:spPr>
          <a:xfrm>
            <a:off x="9107715" y="2104571"/>
            <a:ext cx="2061028" cy="1944915"/>
          </a:xfrm>
          <a:custGeom>
            <a:avLst/>
            <a:gdLst>
              <a:gd name="connsiteX0" fmla="*/ 0 w 2061028"/>
              <a:gd name="connsiteY0" fmla="*/ 0 h 1944915"/>
              <a:gd name="connsiteX1" fmla="*/ 2061028 w 2061028"/>
              <a:gd name="connsiteY1" fmla="*/ 0 h 1944915"/>
              <a:gd name="connsiteX2" fmla="*/ 2061028 w 2061028"/>
              <a:gd name="connsiteY2" fmla="*/ 1944915 h 1944915"/>
              <a:gd name="connsiteX3" fmla="*/ 0 w 2061028"/>
              <a:gd name="connsiteY3" fmla="*/ 1944915 h 1944915"/>
            </a:gdLst>
            <a:ahLst/>
            <a:cxnLst>
              <a:cxn ang="0">
                <a:pos x="connsiteX0" y="connsiteY0"/>
              </a:cxn>
              <a:cxn ang="0">
                <a:pos x="connsiteX1" y="connsiteY1"/>
              </a:cxn>
              <a:cxn ang="0">
                <a:pos x="connsiteX2" y="connsiteY2"/>
              </a:cxn>
              <a:cxn ang="0">
                <a:pos x="connsiteX3" y="connsiteY3"/>
              </a:cxn>
            </a:cxnLst>
            <a:rect l="l" t="t" r="r" b="b"/>
            <a:pathLst>
              <a:path w="2061028" h="1944915">
                <a:moveTo>
                  <a:pt x="0" y="0"/>
                </a:moveTo>
                <a:lnTo>
                  <a:pt x="2061028" y="0"/>
                </a:lnTo>
                <a:lnTo>
                  <a:pt x="2061028" y="1944915"/>
                </a:lnTo>
                <a:lnTo>
                  <a:pt x="0" y="1944915"/>
                </a:lnTo>
                <a:close/>
              </a:path>
            </a:pathLst>
          </a:custGeom>
        </p:spPr>
        <p:txBody>
          <a:bodyPr wrap="square">
            <a:noAutofit/>
          </a:bodyPr>
          <a:lstStyle>
            <a:lvl1pPr algn="ctr">
              <a:defRPr sz="1000">
                <a:latin typeface="Poppins" panose="00000500000000000000" pitchFamily="50" charset="0"/>
                <a:cs typeface="Poppins" panose="00000500000000000000" pitchFamily="50" charset="0"/>
              </a:defRPr>
            </a:lvl1pPr>
          </a:lstStyle>
          <a:p>
            <a:endParaRPr lang="en-US"/>
          </a:p>
        </p:txBody>
      </p:sp>
      <p:sp>
        <p:nvSpPr>
          <p:cNvPr id="11" name="Picture Placeholder 10">
            <a:extLst>
              <a:ext uri="{FF2B5EF4-FFF2-40B4-BE49-F238E27FC236}">
                <a16:creationId xmlns:a16="http://schemas.microsoft.com/office/drawing/2014/main" id="{8B022B64-F603-2E69-FBD6-515641D8358F}"/>
              </a:ext>
            </a:extLst>
          </p:cNvPr>
          <p:cNvSpPr>
            <a:spLocks noGrp="1"/>
          </p:cNvSpPr>
          <p:nvPr>
            <p:ph type="pic" sz="quarter" idx="12"/>
          </p:nvPr>
        </p:nvSpPr>
        <p:spPr>
          <a:xfrm>
            <a:off x="6412895" y="2104571"/>
            <a:ext cx="2061028" cy="1944915"/>
          </a:xfrm>
          <a:custGeom>
            <a:avLst/>
            <a:gdLst>
              <a:gd name="connsiteX0" fmla="*/ 0 w 2061028"/>
              <a:gd name="connsiteY0" fmla="*/ 0 h 1944915"/>
              <a:gd name="connsiteX1" fmla="*/ 2061028 w 2061028"/>
              <a:gd name="connsiteY1" fmla="*/ 0 h 1944915"/>
              <a:gd name="connsiteX2" fmla="*/ 2061028 w 2061028"/>
              <a:gd name="connsiteY2" fmla="*/ 1944915 h 1944915"/>
              <a:gd name="connsiteX3" fmla="*/ 0 w 2061028"/>
              <a:gd name="connsiteY3" fmla="*/ 1944915 h 1944915"/>
            </a:gdLst>
            <a:ahLst/>
            <a:cxnLst>
              <a:cxn ang="0">
                <a:pos x="connsiteX0" y="connsiteY0"/>
              </a:cxn>
              <a:cxn ang="0">
                <a:pos x="connsiteX1" y="connsiteY1"/>
              </a:cxn>
              <a:cxn ang="0">
                <a:pos x="connsiteX2" y="connsiteY2"/>
              </a:cxn>
              <a:cxn ang="0">
                <a:pos x="connsiteX3" y="connsiteY3"/>
              </a:cxn>
            </a:cxnLst>
            <a:rect l="l" t="t" r="r" b="b"/>
            <a:pathLst>
              <a:path w="2061028" h="1944915">
                <a:moveTo>
                  <a:pt x="0" y="0"/>
                </a:moveTo>
                <a:lnTo>
                  <a:pt x="2061028" y="0"/>
                </a:lnTo>
                <a:lnTo>
                  <a:pt x="2061028" y="1944915"/>
                </a:lnTo>
                <a:lnTo>
                  <a:pt x="0" y="1944915"/>
                </a:lnTo>
                <a:close/>
              </a:path>
            </a:pathLst>
          </a:custGeom>
        </p:spPr>
        <p:txBody>
          <a:bodyPr wrap="square">
            <a:noAutofit/>
          </a:bodyPr>
          <a:lstStyle>
            <a:lvl1pPr algn="ctr">
              <a:defRPr sz="1000">
                <a:latin typeface="Poppins" panose="00000500000000000000" pitchFamily="50" charset="0"/>
                <a:cs typeface="Poppins" panose="00000500000000000000" pitchFamily="50" charset="0"/>
              </a:defRPr>
            </a:lvl1pPr>
          </a:lstStyle>
          <a:p>
            <a:endParaRPr lang="en-US"/>
          </a:p>
        </p:txBody>
      </p:sp>
      <p:sp>
        <p:nvSpPr>
          <p:cNvPr id="9" name="Picture Placeholder 8">
            <a:extLst>
              <a:ext uri="{FF2B5EF4-FFF2-40B4-BE49-F238E27FC236}">
                <a16:creationId xmlns:a16="http://schemas.microsoft.com/office/drawing/2014/main" id="{3956B027-6D60-1FF7-1DF7-8D6263BF6072}"/>
              </a:ext>
            </a:extLst>
          </p:cNvPr>
          <p:cNvSpPr>
            <a:spLocks noGrp="1"/>
          </p:cNvSpPr>
          <p:nvPr>
            <p:ph type="pic" sz="quarter" idx="11"/>
          </p:nvPr>
        </p:nvSpPr>
        <p:spPr>
          <a:xfrm>
            <a:off x="3718076" y="2104571"/>
            <a:ext cx="2061028" cy="1944915"/>
          </a:xfrm>
          <a:custGeom>
            <a:avLst/>
            <a:gdLst>
              <a:gd name="connsiteX0" fmla="*/ 0 w 2061028"/>
              <a:gd name="connsiteY0" fmla="*/ 0 h 1944915"/>
              <a:gd name="connsiteX1" fmla="*/ 2061028 w 2061028"/>
              <a:gd name="connsiteY1" fmla="*/ 0 h 1944915"/>
              <a:gd name="connsiteX2" fmla="*/ 2061028 w 2061028"/>
              <a:gd name="connsiteY2" fmla="*/ 1944915 h 1944915"/>
              <a:gd name="connsiteX3" fmla="*/ 0 w 2061028"/>
              <a:gd name="connsiteY3" fmla="*/ 1944915 h 1944915"/>
            </a:gdLst>
            <a:ahLst/>
            <a:cxnLst>
              <a:cxn ang="0">
                <a:pos x="connsiteX0" y="connsiteY0"/>
              </a:cxn>
              <a:cxn ang="0">
                <a:pos x="connsiteX1" y="connsiteY1"/>
              </a:cxn>
              <a:cxn ang="0">
                <a:pos x="connsiteX2" y="connsiteY2"/>
              </a:cxn>
              <a:cxn ang="0">
                <a:pos x="connsiteX3" y="connsiteY3"/>
              </a:cxn>
            </a:cxnLst>
            <a:rect l="l" t="t" r="r" b="b"/>
            <a:pathLst>
              <a:path w="2061028" h="1944915">
                <a:moveTo>
                  <a:pt x="0" y="0"/>
                </a:moveTo>
                <a:lnTo>
                  <a:pt x="2061028" y="0"/>
                </a:lnTo>
                <a:lnTo>
                  <a:pt x="2061028" y="1944915"/>
                </a:lnTo>
                <a:lnTo>
                  <a:pt x="0" y="1944915"/>
                </a:lnTo>
                <a:close/>
              </a:path>
            </a:pathLst>
          </a:custGeom>
        </p:spPr>
        <p:txBody>
          <a:bodyPr wrap="square">
            <a:noAutofit/>
          </a:bodyPr>
          <a:lstStyle>
            <a:lvl1pPr algn="ctr">
              <a:defRPr sz="1000">
                <a:latin typeface="Poppins" panose="00000500000000000000" pitchFamily="50" charset="0"/>
                <a:cs typeface="Poppins" panose="00000500000000000000" pitchFamily="50" charset="0"/>
              </a:defRPr>
            </a:lvl1pPr>
          </a:lstStyle>
          <a:p>
            <a:endParaRPr lang="en-US"/>
          </a:p>
        </p:txBody>
      </p:sp>
      <p:sp>
        <p:nvSpPr>
          <p:cNvPr id="3" name="Picture Placeholder 2">
            <a:extLst>
              <a:ext uri="{FF2B5EF4-FFF2-40B4-BE49-F238E27FC236}">
                <a16:creationId xmlns:a16="http://schemas.microsoft.com/office/drawing/2014/main" id="{13B7AF0D-E10A-52F2-BECF-3DAEC3178A87}"/>
              </a:ext>
            </a:extLst>
          </p:cNvPr>
          <p:cNvSpPr>
            <a:spLocks noGrp="1"/>
          </p:cNvSpPr>
          <p:nvPr>
            <p:ph type="pic" sz="quarter" idx="10"/>
          </p:nvPr>
        </p:nvSpPr>
        <p:spPr>
          <a:xfrm>
            <a:off x="1023257" y="2104571"/>
            <a:ext cx="2061028" cy="1944915"/>
          </a:xfrm>
          <a:custGeom>
            <a:avLst/>
            <a:gdLst>
              <a:gd name="connsiteX0" fmla="*/ 0 w 2061028"/>
              <a:gd name="connsiteY0" fmla="*/ 0 h 1944915"/>
              <a:gd name="connsiteX1" fmla="*/ 2061028 w 2061028"/>
              <a:gd name="connsiteY1" fmla="*/ 0 h 1944915"/>
              <a:gd name="connsiteX2" fmla="*/ 2061028 w 2061028"/>
              <a:gd name="connsiteY2" fmla="*/ 1944915 h 1944915"/>
              <a:gd name="connsiteX3" fmla="*/ 0 w 2061028"/>
              <a:gd name="connsiteY3" fmla="*/ 1944915 h 1944915"/>
            </a:gdLst>
            <a:ahLst/>
            <a:cxnLst>
              <a:cxn ang="0">
                <a:pos x="connsiteX0" y="connsiteY0"/>
              </a:cxn>
              <a:cxn ang="0">
                <a:pos x="connsiteX1" y="connsiteY1"/>
              </a:cxn>
              <a:cxn ang="0">
                <a:pos x="connsiteX2" y="connsiteY2"/>
              </a:cxn>
              <a:cxn ang="0">
                <a:pos x="connsiteX3" y="connsiteY3"/>
              </a:cxn>
            </a:cxnLst>
            <a:rect l="l" t="t" r="r" b="b"/>
            <a:pathLst>
              <a:path w="2061028" h="1944915">
                <a:moveTo>
                  <a:pt x="0" y="0"/>
                </a:moveTo>
                <a:lnTo>
                  <a:pt x="2061028" y="0"/>
                </a:lnTo>
                <a:lnTo>
                  <a:pt x="2061028" y="1944915"/>
                </a:lnTo>
                <a:lnTo>
                  <a:pt x="0" y="1944915"/>
                </a:lnTo>
                <a:close/>
              </a:path>
            </a:pathLst>
          </a:custGeom>
        </p:spPr>
        <p:txBody>
          <a:bodyPr wrap="square">
            <a:noAutofit/>
          </a:bodyPr>
          <a:lstStyle>
            <a:lvl1pPr algn="ctr">
              <a:defRPr sz="1000">
                <a:latin typeface="Poppins" panose="00000500000000000000" pitchFamily="50" charset="0"/>
                <a:cs typeface="Poppins" panose="00000500000000000000" pitchFamily="50" charset="0"/>
              </a:defRPr>
            </a:lvl1pPr>
          </a:lstStyle>
          <a:p>
            <a:endParaRPr lang="en-US"/>
          </a:p>
        </p:txBody>
      </p:sp>
    </p:spTree>
    <p:extLst>
      <p:ext uri="{BB962C8B-B14F-4D97-AF65-F5344CB8AC3E}">
        <p14:creationId xmlns:p14="http://schemas.microsoft.com/office/powerpoint/2010/main" val="176430048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1AF3C3C-BCCC-2C79-4E02-D65ADDA277DD}"/>
              </a:ext>
            </a:extLst>
          </p:cNvPr>
          <p:cNvSpPr>
            <a:spLocks noGrp="1"/>
          </p:cNvSpPr>
          <p:nvPr>
            <p:ph type="pic" sz="quarter" idx="13"/>
          </p:nvPr>
        </p:nvSpPr>
        <p:spPr>
          <a:xfrm>
            <a:off x="9342834" y="2253345"/>
            <a:ext cx="1815624" cy="1815624"/>
          </a:xfrm>
          <a:custGeom>
            <a:avLst/>
            <a:gdLst>
              <a:gd name="connsiteX0" fmla="*/ 907812 w 1815624"/>
              <a:gd name="connsiteY0" fmla="*/ 0 h 1815624"/>
              <a:gd name="connsiteX1" fmla="*/ 1815624 w 1815624"/>
              <a:gd name="connsiteY1" fmla="*/ 907812 h 1815624"/>
              <a:gd name="connsiteX2" fmla="*/ 907812 w 1815624"/>
              <a:gd name="connsiteY2" fmla="*/ 1815624 h 1815624"/>
              <a:gd name="connsiteX3" fmla="*/ 0 w 1815624"/>
              <a:gd name="connsiteY3" fmla="*/ 907812 h 1815624"/>
              <a:gd name="connsiteX4" fmla="*/ 907812 w 1815624"/>
              <a:gd name="connsiteY4" fmla="*/ 0 h 1815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5624" h="1815624">
                <a:moveTo>
                  <a:pt x="907812" y="0"/>
                </a:moveTo>
                <a:cubicBezTo>
                  <a:pt x="1409183" y="0"/>
                  <a:pt x="1815624" y="406441"/>
                  <a:pt x="1815624" y="907812"/>
                </a:cubicBezTo>
                <a:cubicBezTo>
                  <a:pt x="1815624" y="1409183"/>
                  <a:pt x="1409183" y="1815624"/>
                  <a:pt x="907812" y="1815624"/>
                </a:cubicBezTo>
                <a:cubicBezTo>
                  <a:pt x="406441" y="1815624"/>
                  <a:pt x="0" y="1409183"/>
                  <a:pt x="0" y="907812"/>
                </a:cubicBezTo>
                <a:cubicBezTo>
                  <a:pt x="0" y="406441"/>
                  <a:pt x="406441" y="0"/>
                  <a:pt x="907812" y="0"/>
                </a:cubicBezTo>
                <a:close/>
              </a:path>
            </a:pathLst>
          </a:custGeom>
        </p:spPr>
        <p:txBody>
          <a:bodyPr wrap="square">
            <a:noAutofit/>
          </a:bodyPr>
          <a:lstStyle>
            <a:lvl1pPr algn="ctr">
              <a:defRPr sz="1000">
                <a:latin typeface="Poppins" panose="00000500000000000000" pitchFamily="50" charset="0"/>
                <a:cs typeface="Poppins" panose="00000500000000000000" pitchFamily="50" charset="0"/>
              </a:defRPr>
            </a:lvl1pPr>
          </a:lstStyle>
          <a:p>
            <a:endParaRPr lang="en-US"/>
          </a:p>
        </p:txBody>
      </p:sp>
      <p:sp>
        <p:nvSpPr>
          <p:cNvPr id="11" name="Picture Placeholder 10">
            <a:extLst>
              <a:ext uri="{FF2B5EF4-FFF2-40B4-BE49-F238E27FC236}">
                <a16:creationId xmlns:a16="http://schemas.microsoft.com/office/drawing/2014/main" id="{FF4E5CA1-2592-67BD-F972-CC5766B9CE3A}"/>
              </a:ext>
            </a:extLst>
          </p:cNvPr>
          <p:cNvSpPr>
            <a:spLocks noGrp="1"/>
          </p:cNvSpPr>
          <p:nvPr>
            <p:ph type="pic" sz="quarter" idx="12"/>
          </p:nvPr>
        </p:nvSpPr>
        <p:spPr>
          <a:xfrm>
            <a:off x="6573071" y="2253345"/>
            <a:ext cx="1815624" cy="1815624"/>
          </a:xfrm>
          <a:custGeom>
            <a:avLst/>
            <a:gdLst>
              <a:gd name="connsiteX0" fmla="*/ 907812 w 1815624"/>
              <a:gd name="connsiteY0" fmla="*/ 0 h 1815624"/>
              <a:gd name="connsiteX1" fmla="*/ 1815624 w 1815624"/>
              <a:gd name="connsiteY1" fmla="*/ 907812 h 1815624"/>
              <a:gd name="connsiteX2" fmla="*/ 907812 w 1815624"/>
              <a:gd name="connsiteY2" fmla="*/ 1815624 h 1815624"/>
              <a:gd name="connsiteX3" fmla="*/ 0 w 1815624"/>
              <a:gd name="connsiteY3" fmla="*/ 907812 h 1815624"/>
              <a:gd name="connsiteX4" fmla="*/ 907812 w 1815624"/>
              <a:gd name="connsiteY4" fmla="*/ 0 h 1815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5624" h="1815624">
                <a:moveTo>
                  <a:pt x="907812" y="0"/>
                </a:moveTo>
                <a:cubicBezTo>
                  <a:pt x="1409183" y="0"/>
                  <a:pt x="1815624" y="406441"/>
                  <a:pt x="1815624" y="907812"/>
                </a:cubicBezTo>
                <a:cubicBezTo>
                  <a:pt x="1815624" y="1409183"/>
                  <a:pt x="1409183" y="1815624"/>
                  <a:pt x="907812" y="1815624"/>
                </a:cubicBezTo>
                <a:cubicBezTo>
                  <a:pt x="406441" y="1815624"/>
                  <a:pt x="0" y="1409183"/>
                  <a:pt x="0" y="907812"/>
                </a:cubicBezTo>
                <a:cubicBezTo>
                  <a:pt x="0" y="406441"/>
                  <a:pt x="406441" y="0"/>
                  <a:pt x="907812" y="0"/>
                </a:cubicBezTo>
                <a:close/>
              </a:path>
            </a:pathLst>
          </a:custGeom>
        </p:spPr>
        <p:txBody>
          <a:bodyPr wrap="square">
            <a:noAutofit/>
          </a:bodyPr>
          <a:lstStyle>
            <a:lvl1pPr algn="ctr">
              <a:defRPr sz="1000">
                <a:latin typeface="Poppins" panose="00000500000000000000" pitchFamily="50" charset="0"/>
                <a:cs typeface="Poppins" panose="00000500000000000000" pitchFamily="50" charset="0"/>
              </a:defRPr>
            </a:lvl1pPr>
          </a:lstStyle>
          <a:p>
            <a:endParaRPr lang="en-US"/>
          </a:p>
        </p:txBody>
      </p:sp>
      <p:sp>
        <p:nvSpPr>
          <p:cNvPr id="9" name="Picture Placeholder 8">
            <a:extLst>
              <a:ext uri="{FF2B5EF4-FFF2-40B4-BE49-F238E27FC236}">
                <a16:creationId xmlns:a16="http://schemas.microsoft.com/office/drawing/2014/main" id="{B620A915-C261-93EE-A5A0-D79149EF1006}"/>
              </a:ext>
            </a:extLst>
          </p:cNvPr>
          <p:cNvSpPr>
            <a:spLocks noGrp="1"/>
          </p:cNvSpPr>
          <p:nvPr>
            <p:ph type="pic" sz="quarter" idx="11"/>
          </p:nvPr>
        </p:nvSpPr>
        <p:spPr>
          <a:xfrm>
            <a:off x="3803307" y="2253345"/>
            <a:ext cx="1815624" cy="1815624"/>
          </a:xfrm>
          <a:custGeom>
            <a:avLst/>
            <a:gdLst>
              <a:gd name="connsiteX0" fmla="*/ 907812 w 1815624"/>
              <a:gd name="connsiteY0" fmla="*/ 0 h 1815624"/>
              <a:gd name="connsiteX1" fmla="*/ 1815624 w 1815624"/>
              <a:gd name="connsiteY1" fmla="*/ 907812 h 1815624"/>
              <a:gd name="connsiteX2" fmla="*/ 907812 w 1815624"/>
              <a:gd name="connsiteY2" fmla="*/ 1815624 h 1815624"/>
              <a:gd name="connsiteX3" fmla="*/ 0 w 1815624"/>
              <a:gd name="connsiteY3" fmla="*/ 907812 h 1815624"/>
              <a:gd name="connsiteX4" fmla="*/ 907812 w 1815624"/>
              <a:gd name="connsiteY4" fmla="*/ 0 h 1815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5624" h="1815624">
                <a:moveTo>
                  <a:pt x="907812" y="0"/>
                </a:moveTo>
                <a:cubicBezTo>
                  <a:pt x="1409183" y="0"/>
                  <a:pt x="1815624" y="406441"/>
                  <a:pt x="1815624" y="907812"/>
                </a:cubicBezTo>
                <a:cubicBezTo>
                  <a:pt x="1815624" y="1409183"/>
                  <a:pt x="1409183" y="1815624"/>
                  <a:pt x="907812" y="1815624"/>
                </a:cubicBezTo>
                <a:cubicBezTo>
                  <a:pt x="406441" y="1815624"/>
                  <a:pt x="0" y="1409183"/>
                  <a:pt x="0" y="907812"/>
                </a:cubicBezTo>
                <a:cubicBezTo>
                  <a:pt x="0" y="406441"/>
                  <a:pt x="406441" y="0"/>
                  <a:pt x="907812" y="0"/>
                </a:cubicBezTo>
                <a:close/>
              </a:path>
            </a:pathLst>
          </a:custGeom>
        </p:spPr>
        <p:txBody>
          <a:bodyPr wrap="square">
            <a:noAutofit/>
          </a:bodyPr>
          <a:lstStyle>
            <a:lvl1pPr algn="ctr">
              <a:defRPr sz="1000">
                <a:latin typeface="Poppins" panose="00000500000000000000" pitchFamily="50" charset="0"/>
                <a:cs typeface="Poppins" panose="00000500000000000000" pitchFamily="50" charset="0"/>
              </a:defRPr>
            </a:lvl1pPr>
          </a:lstStyle>
          <a:p>
            <a:endParaRPr lang="en-US"/>
          </a:p>
        </p:txBody>
      </p:sp>
      <p:sp>
        <p:nvSpPr>
          <p:cNvPr id="7" name="Picture Placeholder 6">
            <a:extLst>
              <a:ext uri="{FF2B5EF4-FFF2-40B4-BE49-F238E27FC236}">
                <a16:creationId xmlns:a16="http://schemas.microsoft.com/office/drawing/2014/main" id="{F6188AB0-7975-4D9E-A89E-D1E80A11D26E}"/>
              </a:ext>
            </a:extLst>
          </p:cNvPr>
          <p:cNvSpPr>
            <a:spLocks noGrp="1"/>
          </p:cNvSpPr>
          <p:nvPr>
            <p:ph type="pic" sz="quarter" idx="10"/>
          </p:nvPr>
        </p:nvSpPr>
        <p:spPr>
          <a:xfrm>
            <a:off x="1033543" y="2253345"/>
            <a:ext cx="1815624" cy="1815624"/>
          </a:xfrm>
          <a:custGeom>
            <a:avLst/>
            <a:gdLst>
              <a:gd name="connsiteX0" fmla="*/ 907812 w 1815624"/>
              <a:gd name="connsiteY0" fmla="*/ 0 h 1815624"/>
              <a:gd name="connsiteX1" fmla="*/ 1815624 w 1815624"/>
              <a:gd name="connsiteY1" fmla="*/ 907812 h 1815624"/>
              <a:gd name="connsiteX2" fmla="*/ 907812 w 1815624"/>
              <a:gd name="connsiteY2" fmla="*/ 1815624 h 1815624"/>
              <a:gd name="connsiteX3" fmla="*/ 0 w 1815624"/>
              <a:gd name="connsiteY3" fmla="*/ 907812 h 1815624"/>
              <a:gd name="connsiteX4" fmla="*/ 907812 w 1815624"/>
              <a:gd name="connsiteY4" fmla="*/ 0 h 1815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5624" h="1815624">
                <a:moveTo>
                  <a:pt x="907812" y="0"/>
                </a:moveTo>
                <a:cubicBezTo>
                  <a:pt x="1409183" y="0"/>
                  <a:pt x="1815624" y="406441"/>
                  <a:pt x="1815624" y="907812"/>
                </a:cubicBezTo>
                <a:cubicBezTo>
                  <a:pt x="1815624" y="1409183"/>
                  <a:pt x="1409183" y="1815624"/>
                  <a:pt x="907812" y="1815624"/>
                </a:cubicBezTo>
                <a:cubicBezTo>
                  <a:pt x="406441" y="1815624"/>
                  <a:pt x="0" y="1409183"/>
                  <a:pt x="0" y="907812"/>
                </a:cubicBezTo>
                <a:cubicBezTo>
                  <a:pt x="0" y="406441"/>
                  <a:pt x="406441" y="0"/>
                  <a:pt x="907812" y="0"/>
                </a:cubicBezTo>
                <a:close/>
              </a:path>
            </a:pathLst>
          </a:custGeom>
        </p:spPr>
        <p:txBody>
          <a:bodyPr wrap="square">
            <a:noAutofit/>
          </a:bodyPr>
          <a:lstStyle>
            <a:lvl1pPr algn="ctr">
              <a:defRPr sz="1000">
                <a:latin typeface="Poppins" panose="00000500000000000000" pitchFamily="50" charset="0"/>
                <a:cs typeface="Poppins" panose="00000500000000000000" pitchFamily="50" charset="0"/>
              </a:defRPr>
            </a:lvl1pPr>
          </a:lstStyle>
          <a:p>
            <a:endParaRPr lang="en-US"/>
          </a:p>
        </p:txBody>
      </p:sp>
    </p:spTree>
    <p:extLst>
      <p:ext uri="{BB962C8B-B14F-4D97-AF65-F5344CB8AC3E}">
        <p14:creationId xmlns:p14="http://schemas.microsoft.com/office/powerpoint/2010/main" val="1051362435"/>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076D07-CAEB-BD24-B608-E1DEA9914C2B}"/>
              </a:ext>
            </a:extLst>
          </p:cNvPr>
          <p:cNvSpPr>
            <a:spLocks noGrp="1"/>
          </p:cNvSpPr>
          <p:nvPr>
            <p:ph type="pic" sz="quarter" idx="10"/>
          </p:nvPr>
        </p:nvSpPr>
        <p:spPr>
          <a:xfrm>
            <a:off x="4339772" y="2002971"/>
            <a:ext cx="3512457" cy="4359729"/>
          </a:xfrm>
          <a:custGeom>
            <a:avLst/>
            <a:gdLst>
              <a:gd name="connsiteX0" fmla="*/ 0 w 3512457"/>
              <a:gd name="connsiteY0" fmla="*/ 0 h 4359729"/>
              <a:gd name="connsiteX1" fmla="*/ 3512457 w 3512457"/>
              <a:gd name="connsiteY1" fmla="*/ 0 h 4359729"/>
              <a:gd name="connsiteX2" fmla="*/ 3512457 w 3512457"/>
              <a:gd name="connsiteY2" fmla="*/ 4359729 h 4359729"/>
              <a:gd name="connsiteX3" fmla="*/ 0 w 3512457"/>
              <a:gd name="connsiteY3" fmla="*/ 4359729 h 4359729"/>
            </a:gdLst>
            <a:ahLst/>
            <a:cxnLst>
              <a:cxn ang="0">
                <a:pos x="connsiteX0" y="connsiteY0"/>
              </a:cxn>
              <a:cxn ang="0">
                <a:pos x="connsiteX1" y="connsiteY1"/>
              </a:cxn>
              <a:cxn ang="0">
                <a:pos x="connsiteX2" y="connsiteY2"/>
              </a:cxn>
              <a:cxn ang="0">
                <a:pos x="connsiteX3" y="connsiteY3"/>
              </a:cxn>
            </a:cxnLst>
            <a:rect l="l" t="t" r="r" b="b"/>
            <a:pathLst>
              <a:path w="3512457" h="4359729">
                <a:moveTo>
                  <a:pt x="0" y="0"/>
                </a:moveTo>
                <a:lnTo>
                  <a:pt x="3512457" y="0"/>
                </a:lnTo>
                <a:lnTo>
                  <a:pt x="3512457" y="4359729"/>
                </a:lnTo>
                <a:lnTo>
                  <a:pt x="0" y="4359729"/>
                </a:lnTo>
                <a:close/>
              </a:path>
            </a:pathLst>
          </a:custGeom>
        </p:spPr>
        <p:txBody>
          <a:bodyPr wrap="square">
            <a:noAutofit/>
          </a:bodyPr>
          <a:lstStyle>
            <a:lvl1pPr algn="ctr">
              <a:defRPr sz="1000">
                <a:latin typeface="Poppins" panose="00000500000000000000" pitchFamily="50" charset="0"/>
                <a:cs typeface="Poppins" panose="00000500000000000000" pitchFamily="50" charset="0"/>
              </a:defRPr>
            </a:lvl1pPr>
          </a:lstStyle>
          <a:p>
            <a:endParaRPr lang="en-US"/>
          </a:p>
        </p:txBody>
      </p:sp>
    </p:spTree>
    <p:extLst>
      <p:ext uri="{BB962C8B-B14F-4D97-AF65-F5344CB8AC3E}">
        <p14:creationId xmlns:p14="http://schemas.microsoft.com/office/powerpoint/2010/main" val="397963673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88B8643-41D0-C705-F9BD-F621E4FD49C2}"/>
              </a:ext>
            </a:extLst>
          </p:cNvPr>
          <p:cNvSpPr>
            <a:spLocks noGrp="1"/>
          </p:cNvSpPr>
          <p:nvPr>
            <p:ph type="pic" sz="quarter" idx="10"/>
          </p:nvPr>
        </p:nvSpPr>
        <p:spPr>
          <a:xfrm>
            <a:off x="1353458" y="2510972"/>
            <a:ext cx="3160486" cy="3851729"/>
          </a:xfrm>
          <a:custGeom>
            <a:avLst/>
            <a:gdLst>
              <a:gd name="connsiteX0" fmla="*/ 0 w 3160486"/>
              <a:gd name="connsiteY0" fmla="*/ 0 h 3851729"/>
              <a:gd name="connsiteX1" fmla="*/ 3160486 w 3160486"/>
              <a:gd name="connsiteY1" fmla="*/ 0 h 3851729"/>
              <a:gd name="connsiteX2" fmla="*/ 3160486 w 3160486"/>
              <a:gd name="connsiteY2" fmla="*/ 3851729 h 3851729"/>
              <a:gd name="connsiteX3" fmla="*/ 0 w 3160486"/>
              <a:gd name="connsiteY3" fmla="*/ 3851729 h 3851729"/>
            </a:gdLst>
            <a:ahLst/>
            <a:cxnLst>
              <a:cxn ang="0">
                <a:pos x="connsiteX0" y="connsiteY0"/>
              </a:cxn>
              <a:cxn ang="0">
                <a:pos x="connsiteX1" y="connsiteY1"/>
              </a:cxn>
              <a:cxn ang="0">
                <a:pos x="connsiteX2" y="connsiteY2"/>
              </a:cxn>
              <a:cxn ang="0">
                <a:pos x="connsiteX3" y="connsiteY3"/>
              </a:cxn>
            </a:cxnLst>
            <a:rect l="l" t="t" r="r" b="b"/>
            <a:pathLst>
              <a:path w="3160486" h="3851729">
                <a:moveTo>
                  <a:pt x="0" y="0"/>
                </a:moveTo>
                <a:lnTo>
                  <a:pt x="3160486" y="0"/>
                </a:lnTo>
                <a:lnTo>
                  <a:pt x="3160486" y="3851729"/>
                </a:lnTo>
                <a:lnTo>
                  <a:pt x="0" y="3851729"/>
                </a:lnTo>
                <a:close/>
              </a:path>
            </a:pathLst>
          </a:custGeom>
        </p:spPr>
        <p:txBody>
          <a:bodyPr wrap="square">
            <a:noAutofit/>
          </a:bodyPr>
          <a:lstStyle>
            <a:lvl1pPr algn="ctr">
              <a:defRPr sz="1000">
                <a:latin typeface="Poppins" panose="00000500000000000000" pitchFamily="50" charset="0"/>
                <a:cs typeface="Poppins" panose="00000500000000000000" pitchFamily="50" charset="0"/>
              </a:defRPr>
            </a:lvl1pPr>
          </a:lstStyle>
          <a:p>
            <a:endParaRPr lang="en-US"/>
          </a:p>
        </p:txBody>
      </p:sp>
    </p:spTree>
    <p:extLst>
      <p:ext uri="{BB962C8B-B14F-4D97-AF65-F5344CB8AC3E}">
        <p14:creationId xmlns:p14="http://schemas.microsoft.com/office/powerpoint/2010/main" val="382369625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EB66ED3-F5CF-73DF-86F4-5F92367CAF75}"/>
              </a:ext>
            </a:extLst>
          </p:cNvPr>
          <p:cNvSpPr>
            <a:spLocks noGrp="1"/>
          </p:cNvSpPr>
          <p:nvPr>
            <p:ph type="pic" sz="quarter" idx="10"/>
          </p:nvPr>
        </p:nvSpPr>
        <p:spPr>
          <a:xfrm>
            <a:off x="685800" y="2171700"/>
            <a:ext cx="5765800" cy="4190999"/>
          </a:xfrm>
          <a:custGeom>
            <a:avLst/>
            <a:gdLst>
              <a:gd name="connsiteX0" fmla="*/ 0 w 5765800"/>
              <a:gd name="connsiteY0" fmla="*/ 0 h 4190999"/>
              <a:gd name="connsiteX1" fmla="*/ 5765800 w 5765800"/>
              <a:gd name="connsiteY1" fmla="*/ 0 h 4190999"/>
              <a:gd name="connsiteX2" fmla="*/ 5765800 w 5765800"/>
              <a:gd name="connsiteY2" fmla="*/ 4190999 h 4190999"/>
              <a:gd name="connsiteX3" fmla="*/ 0 w 5765800"/>
              <a:gd name="connsiteY3" fmla="*/ 4190999 h 4190999"/>
            </a:gdLst>
            <a:ahLst/>
            <a:cxnLst>
              <a:cxn ang="0">
                <a:pos x="connsiteX0" y="connsiteY0"/>
              </a:cxn>
              <a:cxn ang="0">
                <a:pos x="connsiteX1" y="connsiteY1"/>
              </a:cxn>
              <a:cxn ang="0">
                <a:pos x="connsiteX2" y="connsiteY2"/>
              </a:cxn>
              <a:cxn ang="0">
                <a:pos x="connsiteX3" y="connsiteY3"/>
              </a:cxn>
            </a:cxnLst>
            <a:rect l="l" t="t" r="r" b="b"/>
            <a:pathLst>
              <a:path w="5765800" h="4190999">
                <a:moveTo>
                  <a:pt x="0" y="0"/>
                </a:moveTo>
                <a:lnTo>
                  <a:pt x="5765800" y="0"/>
                </a:lnTo>
                <a:lnTo>
                  <a:pt x="5765800" y="4190999"/>
                </a:lnTo>
                <a:lnTo>
                  <a:pt x="0" y="4190999"/>
                </a:lnTo>
                <a:close/>
              </a:path>
            </a:pathLst>
          </a:custGeom>
        </p:spPr>
        <p:txBody>
          <a:bodyPr wrap="square">
            <a:noAutofit/>
          </a:bodyPr>
          <a:lstStyle>
            <a:lvl1pPr algn="ctr">
              <a:defRPr sz="1000">
                <a:latin typeface="Poppins" panose="00000500000000000000" pitchFamily="50" charset="0"/>
                <a:cs typeface="Poppins" panose="00000500000000000000" pitchFamily="50" charset="0"/>
              </a:defRPr>
            </a:lvl1pPr>
          </a:lstStyle>
          <a:p>
            <a:endParaRPr lang="en-US"/>
          </a:p>
        </p:txBody>
      </p:sp>
    </p:spTree>
    <p:extLst>
      <p:ext uri="{BB962C8B-B14F-4D97-AF65-F5344CB8AC3E}">
        <p14:creationId xmlns:p14="http://schemas.microsoft.com/office/powerpoint/2010/main" val="390918958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C0BCA1E-AAD9-C80B-88E4-374426974BEA}"/>
              </a:ext>
            </a:extLst>
          </p:cNvPr>
          <p:cNvSpPr>
            <a:spLocks noGrp="1"/>
          </p:cNvSpPr>
          <p:nvPr>
            <p:ph type="pic" sz="quarter" idx="10"/>
          </p:nvPr>
        </p:nvSpPr>
        <p:spPr>
          <a:xfrm>
            <a:off x="6164941" y="2171702"/>
            <a:ext cx="5330372" cy="4183379"/>
          </a:xfrm>
          <a:custGeom>
            <a:avLst/>
            <a:gdLst>
              <a:gd name="connsiteX0" fmla="*/ 0 w 5330372"/>
              <a:gd name="connsiteY0" fmla="*/ 0 h 4183379"/>
              <a:gd name="connsiteX1" fmla="*/ 5330372 w 5330372"/>
              <a:gd name="connsiteY1" fmla="*/ 0 h 4183379"/>
              <a:gd name="connsiteX2" fmla="*/ 5330372 w 5330372"/>
              <a:gd name="connsiteY2" fmla="*/ 4183379 h 4183379"/>
              <a:gd name="connsiteX3" fmla="*/ 0 w 5330372"/>
              <a:gd name="connsiteY3" fmla="*/ 4183379 h 4183379"/>
            </a:gdLst>
            <a:ahLst/>
            <a:cxnLst>
              <a:cxn ang="0">
                <a:pos x="connsiteX0" y="connsiteY0"/>
              </a:cxn>
              <a:cxn ang="0">
                <a:pos x="connsiteX1" y="connsiteY1"/>
              </a:cxn>
              <a:cxn ang="0">
                <a:pos x="connsiteX2" y="connsiteY2"/>
              </a:cxn>
              <a:cxn ang="0">
                <a:pos x="connsiteX3" y="connsiteY3"/>
              </a:cxn>
            </a:cxnLst>
            <a:rect l="l" t="t" r="r" b="b"/>
            <a:pathLst>
              <a:path w="5330372" h="4183379">
                <a:moveTo>
                  <a:pt x="0" y="0"/>
                </a:moveTo>
                <a:lnTo>
                  <a:pt x="5330372" y="0"/>
                </a:lnTo>
                <a:lnTo>
                  <a:pt x="5330372" y="4183379"/>
                </a:lnTo>
                <a:lnTo>
                  <a:pt x="0" y="4183379"/>
                </a:lnTo>
                <a:close/>
              </a:path>
            </a:pathLst>
          </a:custGeom>
        </p:spPr>
        <p:txBody>
          <a:bodyPr wrap="square">
            <a:noAutofit/>
          </a:bodyPr>
          <a:lstStyle>
            <a:lvl1pPr algn="ctr">
              <a:defRPr sz="1000">
                <a:latin typeface="Poppins" panose="00000500000000000000" pitchFamily="50" charset="0"/>
                <a:cs typeface="Poppins" panose="00000500000000000000" pitchFamily="50" charset="0"/>
              </a:defRPr>
            </a:lvl1pPr>
          </a:lstStyle>
          <a:p>
            <a:endParaRPr lang="en-US"/>
          </a:p>
        </p:txBody>
      </p:sp>
    </p:spTree>
    <p:extLst>
      <p:ext uri="{BB962C8B-B14F-4D97-AF65-F5344CB8AC3E}">
        <p14:creationId xmlns:p14="http://schemas.microsoft.com/office/powerpoint/2010/main" val="1239886980"/>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04D218-A3D4-2632-AC31-9C3C91554091}"/>
              </a:ext>
            </a:extLst>
          </p:cNvPr>
          <p:cNvSpPr>
            <a:spLocks noGrp="1"/>
          </p:cNvSpPr>
          <p:nvPr>
            <p:ph type="pic" sz="quarter" idx="10"/>
          </p:nvPr>
        </p:nvSpPr>
        <p:spPr>
          <a:xfrm>
            <a:off x="5279571" y="2171701"/>
            <a:ext cx="3043462" cy="4183379"/>
          </a:xfrm>
          <a:custGeom>
            <a:avLst/>
            <a:gdLst>
              <a:gd name="connsiteX0" fmla="*/ 0 w 3043462"/>
              <a:gd name="connsiteY0" fmla="*/ 0 h 4183379"/>
              <a:gd name="connsiteX1" fmla="*/ 3043462 w 3043462"/>
              <a:gd name="connsiteY1" fmla="*/ 0 h 4183379"/>
              <a:gd name="connsiteX2" fmla="*/ 3043462 w 3043462"/>
              <a:gd name="connsiteY2" fmla="*/ 4183379 h 4183379"/>
              <a:gd name="connsiteX3" fmla="*/ 0 w 3043462"/>
              <a:gd name="connsiteY3" fmla="*/ 4183379 h 4183379"/>
            </a:gdLst>
            <a:ahLst/>
            <a:cxnLst>
              <a:cxn ang="0">
                <a:pos x="connsiteX0" y="connsiteY0"/>
              </a:cxn>
              <a:cxn ang="0">
                <a:pos x="connsiteX1" y="connsiteY1"/>
              </a:cxn>
              <a:cxn ang="0">
                <a:pos x="connsiteX2" y="connsiteY2"/>
              </a:cxn>
              <a:cxn ang="0">
                <a:pos x="connsiteX3" y="connsiteY3"/>
              </a:cxn>
            </a:cxnLst>
            <a:rect l="l" t="t" r="r" b="b"/>
            <a:pathLst>
              <a:path w="3043462" h="4183379">
                <a:moveTo>
                  <a:pt x="0" y="0"/>
                </a:moveTo>
                <a:lnTo>
                  <a:pt x="3043462" y="0"/>
                </a:lnTo>
                <a:lnTo>
                  <a:pt x="3043462" y="4183379"/>
                </a:lnTo>
                <a:lnTo>
                  <a:pt x="0" y="4183379"/>
                </a:lnTo>
                <a:close/>
              </a:path>
            </a:pathLst>
          </a:custGeom>
        </p:spPr>
        <p:txBody>
          <a:bodyPr wrap="square">
            <a:noAutofit/>
          </a:bodyPr>
          <a:lstStyle>
            <a:lvl1pPr algn="ctr">
              <a:defRPr sz="1000">
                <a:latin typeface="Poppins" panose="00000500000000000000" pitchFamily="50" charset="0"/>
                <a:cs typeface="Poppins" panose="00000500000000000000" pitchFamily="50" charset="0"/>
              </a:defRPr>
            </a:lvl1pPr>
          </a:lstStyle>
          <a:p>
            <a:endParaRPr lang="en-US"/>
          </a:p>
        </p:txBody>
      </p:sp>
      <p:sp>
        <p:nvSpPr>
          <p:cNvPr id="6" name="Picture Placeholder 5">
            <a:extLst>
              <a:ext uri="{FF2B5EF4-FFF2-40B4-BE49-F238E27FC236}">
                <a16:creationId xmlns:a16="http://schemas.microsoft.com/office/drawing/2014/main" id="{B1E0D019-8072-ED33-E2D5-F3EF6AC8030A}"/>
              </a:ext>
            </a:extLst>
          </p:cNvPr>
          <p:cNvSpPr>
            <a:spLocks noGrp="1"/>
          </p:cNvSpPr>
          <p:nvPr>
            <p:ph type="pic" sz="quarter" idx="11"/>
          </p:nvPr>
        </p:nvSpPr>
        <p:spPr>
          <a:xfrm>
            <a:off x="8454571" y="2171701"/>
            <a:ext cx="3043462" cy="4183379"/>
          </a:xfrm>
          <a:custGeom>
            <a:avLst/>
            <a:gdLst>
              <a:gd name="connsiteX0" fmla="*/ 0 w 3043462"/>
              <a:gd name="connsiteY0" fmla="*/ 0 h 4183379"/>
              <a:gd name="connsiteX1" fmla="*/ 3043462 w 3043462"/>
              <a:gd name="connsiteY1" fmla="*/ 0 h 4183379"/>
              <a:gd name="connsiteX2" fmla="*/ 3043462 w 3043462"/>
              <a:gd name="connsiteY2" fmla="*/ 4183379 h 4183379"/>
              <a:gd name="connsiteX3" fmla="*/ 0 w 3043462"/>
              <a:gd name="connsiteY3" fmla="*/ 4183379 h 4183379"/>
            </a:gdLst>
            <a:ahLst/>
            <a:cxnLst>
              <a:cxn ang="0">
                <a:pos x="connsiteX0" y="connsiteY0"/>
              </a:cxn>
              <a:cxn ang="0">
                <a:pos x="connsiteX1" y="connsiteY1"/>
              </a:cxn>
              <a:cxn ang="0">
                <a:pos x="connsiteX2" y="connsiteY2"/>
              </a:cxn>
              <a:cxn ang="0">
                <a:pos x="connsiteX3" y="connsiteY3"/>
              </a:cxn>
            </a:cxnLst>
            <a:rect l="l" t="t" r="r" b="b"/>
            <a:pathLst>
              <a:path w="3043462" h="4183379">
                <a:moveTo>
                  <a:pt x="0" y="0"/>
                </a:moveTo>
                <a:lnTo>
                  <a:pt x="3043462" y="0"/>
                </a:lnTo>
                <a:lnTo>
                  <a:pt x="3043462" y="4183379"/>
                </a:lnTo>
                <a:lnTo>
                  <a:pt x="0" y="4183379"/>
                </a:lnTo>
                <a:close/>
              </a:path>
            </a:pathLst>
          </a:custGeom>
        </p:spPr>
        <p:txBody>
          <a:bodyPr wrap="square">
            <a:noAutofit/>
          </a:bodyPr>
          <a:lstStyle>
            <a:lvl1pPr algn="ctr">
              <a:defRPr sz="1000">
                <a:latin typeface="Poppins" panose="00000500000000000000" pitchFamily="50" charset="0"/>
                <a:cs typeface="Poppins" panose="00000500000000000000" pitchFamily="50" charset="0"/>
              </a:defRPr>
            </a:lvl1pPr>
          </a:lstStyle>
          <a:p>
            <a:endParaRPr lang="en-US"/>
          </a:p>
        </p:txBody>
      </p:sp>
    </p:spTree>
    <p:extLst>
      <p:ext uri="{BB962C8B-B14F-4D97-AF65-F5344CB8AC3E}">
        <p14:creationId xmlns:p14="http://schemas.microsoft.com/office/powerpoint/2010/main" val="2567042753"/>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325B98-C96B-204B-4283-D34EF674AFE2}"/>
              </a:ext>
            </a:extLst>
          </p:cNvPr>
          <p:cNvSpPr>
            <a:spLocks noGrp="1"/>
          </p:cNvSpPr>
          <p:nvPr>
            <p:ph type="pic" sz="quarter" idx="10"/>
          </p:nvPr>
        </p:nvSpPr>
        <p:spPr>
          <a:xfrm>
            <a:off x="2762251" y="2235200"/>
            <a:ext cx="3292929" cy="4127500"/>
          </a:xfrm>
          <a:custGeom>
            <a:avLst/>
            <a:gdLst>
              <a:gd name="connsiteX0" fmla="*/ 0 w 3292929"/>
              <a:gd name="connsiteY0" fmla="*/ 0 h 4127500"/>
              <a:gd name="connsiteX1" fmla="*/ 3292929 w 3292929"/>
              <a:gd name="connsiteY1" fmla="*/ 0 h 4127500"/>
              <a:gd name="connsiteX2" fmla="*/ 3292929 w 3292929"/>
              <a:gd name="connsiteY2" fmla="*/ 4127500 h 4127500"/>
              <a:gd name="connsiteX3" fmla="*/ 0 w 3292929"/>
              <a:gd name="connsiteY3" fmla="*/ 4127500 h 4127500"/>
            </a:gdLst>
            <a:ahLst/>
            <a:cxnLst>
              <a:cxn ang="0">
                <a:pos x="connsiteX0" y="connsiteY0"/>
              </a:cxn>
              <a:cxn ang="0">
                <a:pos x="connsiteX1" y="connsiteY1"/>
              </a:cxn>
              <a:cxn ang="0">
                <a:pos x="connsiteX2" y="connsiteY2"/>
              </a:cxn>
              <a:cxn ang="0">
                <a:pos x="connsiteX3" y="connsiteY3"/>
              </a:cxn>
            </a:cxnLst>
            <a:rect l="l" t="t" r="r" b="b"/>
            <a:pathLst>
              <a:path w="3292929" h="4127500">
                <a:moveTo>
                  <a:pt x="0" y="0"/>
                </a:moveTo>
                <a:lnTo>
                  <a:pt x="3292929" y="0"/>
                </a:lnTo>
                <a:lnTo>
                  <a:pt x="3292929" y="4127500"/>
                </a:lnTo>
                <a:lnTo>
                  <a:pt x="0" y="4127500"/>
                </a:lnTo>
                <a:close/>
              </a:path>
            </a:pathLst>
          </a:custGeom>
        </p:spPr>
        <p:txBody>
          <a:bodyPr wrap="square">
            <a:noAutofit/>
          </a:bodyPr>
          <a:lstStyle>
            <a:lvl1pPr algn="ctr">
              <a:defRPr sz="1000">
                <a:latin typeface="Poppins" panose="00000500000000000000" pitchFamily="50" charset="0"/>
                <a:cs typeface="Poppins" panose="00000500000000000000" pitchFamily="50" charset="0"/>
              </a:defRPr>
            </a:lvl1pPr>
          </a:lstStyle>
          <a:p>
            <a:endParaRPr lang="en-US"/>
          </a:p>
        </p:txBody>
      </p:sp>
    </p:spTree>
    <p:extLst>
      <p:ext uri="{BB962C8B-B14F-4D97-AF65-F5344CB8AC3E}">
        <p14:creationId xmlns:p14="http://schemas.microsoft.com/office/powerpoint/2010/main" val="266194671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576FCFC-24CB-5E32-742C-07562508260D}"/>
              </a:ext>
            </a:extLst>
          </p:cNvPr>
          <p:cNvSpPr>
            <a:spLocks noGrp="1"/>
          </p:cNvSpPr>
          <p:nvPr>
            <p:ph type="pic" sz="quarter" idx="10"/>
          </p:nvPr>
        </p:nvSpPr>
        <p:spPr>
          <a:xfrm>
            <a:off x="8164555" y="2457232"/>
            <a:ext cx="2349939" cy="2349936"/>
          </a:xfrm>
          <a:custGeom>
            <a:avLst/>
            <a:gdLst>
              <a:gd name="connsiteX0" fmla="*/ 1141614 w 2349939"/>
              <a:gd name="connsiteY0" fmla="*/ 495 h 2349936"/>
              <a:gd name="connsiteX1" fmla="*/ 1896265 w 2349939"/>
              <a:gd name="connsiteY1" fmla="*/ 247523 h 2349936"/>
              <a:gd name="connsiteX2" fmla="*/ 2102417 w 2349939"/>
              <a:gd name="connsiteY2" fmla="*/ 1896265 h 2349936"/>
              <a:gd name="connsiteX3" fmla="*/ 453675 w 2349939"/>
              <a:gd name="connsiteY3" fmla="*/ 2102413 h 2349936"/>
              <a:gd name="connsiteX4" fmla="*/ 247523 w 2349939"/>
              <a:gd name="connsiteY4" fmla="*/ 453671 h 2349936"/>
              <a:gd name="connsiteX5" fmla="*/ 1141614 w 2349939"/>
              <a:gd name="connsiteY5" fmla="*/ 495 h 234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49939" h="2349936">
                <a:moveTo>
                  <a:pt x="1141614" y="495"/>
                </a:moveTo>
                <a:cubicBezTo>
                  <a:pt x="1404828" y="-7128"/>
                  <a:pt x="1672171" y="73240"/>
                  <a:pt x="1896265" y="247523"/>
                </a:cubicBezTo>
                <a:cubicBezTo>
                  <a:pt x="2408480" y="645884"/>
                  <a:pt x="2500778" y="1384051"/>
                  <a:pt x="2102417" y="1896265"/>
                </a:cubicBezTo>
                <a:cubicBezTo>
                  <a:pt x="1704057" y="2408479"/>
                  <a:pt x="965890" y="2500774"/>
                  <a:pt x="453675" y="2102413"/>
                </a:cubicBezTo>
                <a:cubicBezTo>
                  <a:pt x="-58540" y="1704052"/>
                  <a:pt x="-150838" y="965885"/>
                  <a:pt x="247523" y="453671"/>
                </a:cubicBezTo>
                <a:cubicBezTo>
                  <a:pt x="471601" y="165551"/>
                  <a:pt x="803195" y="10295"/>
                  <a:pt x="1141614" y="495"/>
                </a:cubicBezTo>
                <a:close/>
              </a:path>
            </a:pathLst>
          </a:custGeom>
        </p:spPr>
        <p:txBody>
          <a:bodyPr wrap="square">
            <a:noAutofit/>
          </a:bodyPr>
          <a:lstStyle>
            <a:lvl1pPr algn="ctr">
              <a:defRPr sz="1000">
                <a:latin typeface="Poppins" panose="00000500000000000000" pitchFamily="50" charset="0"/>
                <a:cs typeface="Poppins" panose="00000500000000000000" pitchFamily="50" charset="0"/>
              </a:defRPr>
            </a:lvl1pPr>
          </a:lstStyle>
          <a:p>
            <a:endParaRPr lang="en-US"/>
          </a:p>
        </p:txBody>
      </p:sp>
    </p:spTree>
    <p:extLst>
      <p:ext uri="{BB962C8B-B14F-4D97-AF65-F5344CB8AC3E}">
        <p14:creationId xmlns:p14="http://schemas.microsoft.com/office/powerpoint/2010/main" val="97703844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140CBC0-F673-DBF4-72E2-FD7D279E7CFE}"/>
              </a:ext>
            </a:extLst>
          </p:cNvPr>
          <p:cNvSpPr>
            <a:spLocks noGrp="1"/>
          </p:cNvSpPr>
          <p:nvPr>
            <p:ph type="pic" sz="quarter" idx="10"/>
          </p:nvPr>
        </p:nvSpPr>
        <p:spPr>
          <a:xfrm>
            <a:off x="4464958" y="2305216"/>
            <a:ext cx="3052883" cy="4095584"/>
          </a:xfrm>
          <a:custGeom>
            <a:avLst/>
            <a:gdLst>
              <a:gd name="connsiteX0" fmla="*/ 0 w 3052883"/>
              <a:gd name="connsiteY0" fmla="*/ 0 h 4095584"/>
              <a:gd name="connsiteX1" fmla="*/ 3052883 w 3052883"/>
              <a:gd name="connsiteY1" fmla="*/ 0 h 4095584"/>
              <a:gd name="connsiteX2" fmla="*/ 3052883 w 3052883"/>
              <a:gd name="connsiteY2" fmla="*/ 4095584 h 4095584"/>
              <a:gd name="connsiteX3" fmla="*/ 0 w 3052883"/>
              <a:gd name="connsiteY3" fmla="*/ 4095584 h 4095584"/>
            </a:gdLst>
            <a:ahLst/>
            <a:cxnLst>
              <a:cxn ang="0">
                <a:pos x="connsiteX0" y="connsiteY0"/>
              </a:cxn>
              <a:cxn ang="0">
                <a:pos x="connsiteX1" y="connsiteY1"/>
              </a:cxn>
              <a:cxn ang="0">
                <a:pos x="connsiteX2" y="connsiteY2"/>
              </a:cxn>
              <a:cxn ang="0">
                <a:pos x="connsiteX3" y="connsiteY3"/>
              </a:cxn>
            </a:cxnLst>
            <a:rect l="l" t="t" r="r" b="b"/>
            <a:pathLst>
              <a:path w="3052883" h="4095584">
                <a:moveTo>
                  <a:pt x="0" y="0"/>
                </a:moveTo>
                <a:lnTo>
                  <a:pt x="3052883" y="0"/>
                </a:lnTo>
                <a:lnTo>
                  <a:pt x="3052883" y="4095584"/>
                </a:lnTo>
                <a:lnTo>
                  <a:pt x="0" y="4095584"/>
                </a:lnTo>
                <a:close/>
              </a:path>
            </a:pathLst>
          </a:custGeom>
        </p:spPr>
        <p:txBody>
          <a:bodyPr wrap="square">
            <a:noAutofit/>
          </a:bodyPr>
          <a:lstStyle>
            <a:lvl1pPr algn="ctr">
              <a:defRPr sz="1000">
                <a:latin typeface="Poppins" panose="00000500000000000000" pitchFamily="50" charset="0"/>
                <a:cs typeface="Poppins" panose="00000500000000000000" pitchFamily="50" charset="0"/>
              </a:defRPr>
            </a:lvl1pPr>
          </a:lstStyle>
          <a:p>
            <a:endParaRPr lang="en-US"/>
          </a:p>
        </p:txBody>
      </p:sp>
    </p:spTree>
    <p:extLst>
      <p:ext uri="{BB962C8B-B14F-4D97-AF65-F5344CB8AC3E}">
        <p14:creationId xmlns:p14="http://schemas.microsoft.com/office/powerpoint/2010/main" val="26657223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5142776"/>
      </p:ext>
    </p:extLst>
  </p:cSld>
  <p:clrMap bg1="lt1" tx1="dk1" bg2="lt2" tx2="dk2" accent1="accent1" accent2="accent2" accent3="accent3" accent4="accent4" accent5="accent5" accent6="accent6" hlink="hlink" folHlink="folHlink"/>
  <p:sldLayoutIdLst>
    <p:sldLayoutId id="2147483649" r:id="rId1"/>
    <p:sldLayoutId id="2147483671" r:id="rId2"/>
    <p:sldLayoutId id="2147483670" r:id="rId3"/>
    <p:sldLayoutId id="2147483669" r:id="rId4"/>
    <p:sldLayoutId id="2147483668" r:id="rId5"/>
    <p:sldLayoutId id="2147483667" r:id="rId6"/>
    <p:sldLayoutId id="2147483666" r:id="rId7"/>
    <p:sldLayoutId id="2147483665" r:id="rId8"/>
    <p:sldLayoutId id="2147483664" r:id="rId9"/>
    <p:sldLayoutId id="2147483663" r:id="rId10"/>
    <p:sldLayoutId id="2147483662" r:id="rId11"/>
    <p:sldLayoutId id="2147483661" r:id="rId12"/>
    <p:sldLayoutId id="2147483660"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0.png"/><Relationship Id="rId5" Type="http://schemas.openxmlformats.org/officeDocument/2006/relationships/image" Target="../media/image21.sv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png"/><Relationship Id="rId7" Type="http://schemas.openxmlformats.org/officeDocument/2006/relationships/image" Target="../media/image26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2.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0.png"/><Relationship Id="rId1" Type="http://schemas.openxmlformats.org/officeDocument/2006/relationships/slideLayout" Target="../slideLayouts/slideLayout13.xml"/><Relationship Id="rId6" Type="http://schemas.openxmlformats.org/officeDocument/2006/relationships/hyperlink" Target="https://www.ijera.com/papers/Vol7_issue5/Part-4/A0705040104.pdf" TargetMode="External"/><Relationship Id="rId5" Type="http://schemas.openxmlformats.org/officeDocument/2006/relationships/hyperlink" Target="https://ejournal.ptti.web.id/index.php/jfsc/article/view/165" TargetMode="External"/><Relationship Id="rId4" Type="http://schemas.openxmlformats.org/officeDocument/2006/relationships/hyperlink" Target="https://doi.org/10.1016/0005-1098(86)90039-7"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2.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ttangolo 31">
            <a:extLst>
              <a:ext uri="{FF2B5EF4-FFF2-40B4-BE49-F238E27FC236}">
                <a16:creationId xmlns:a16="http://schemas.microsoft.com/office/drawing/2014/main" id="{CCB05074-5BB9-0B72-51AC-B67C20456ED4}"/>
              </a:ext>
            </a:extLst>
          </p:cNvPr>
          <p:cNvSpPr/>
          <p:nvPr/>
        </p:nvSpPr>
        <p:spPr>
          <a:xfrm>
            <a:off x="-89673" y="-278648"/>
            <a:ext cx="12281673" cy="6551023"/>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33" name="Rectangle 3">
            <a:extLst>
              <a:ext uri="{FF2B5EF4-FFF2-40B4-BE49-F238E27FC236}">
                <a16:creationId xmlns:a16="http://schemas.microsoft.com/office/drawing/2014/main" id="{4146C6C0-8596-6116-3D21-A79FF0111A88}"/>
              </a:ext>
            </a:extLst>
          </p:cNvPr>
          <p:cNvSpPr/>
          <p:nvPr/>
        </p:nvSpPr>
        <p:spPr>
          <a:xfrm>
            <a:off x="717331" y="452437"/>
            <a:ext cx="5112716" cy="2390141"/>
          </a:xfrm>
          <a:prstGeom prst="rect">
            <a:avLst/>
          </a:prstGeom>
        </p:spPr>
        <p:txBody>
          <a:bodyPr wrap="square" lIns="91440" tIns="45720" rIns="91440" bIns="45720" anchor="t">
            <a:spAutoFit/>
          </a:bodyPr>
          <a:lstStyle/>
          <a:p>
            <a:r>
              <a:rPr lang="it-IT" sz="3700" b="1" spc="-151" dirty="0">
                <a:solidFill>
                  <a:schemeClr val="bg1"/>
                </a:solidFill>
                <a:latin typeface="Atkinson Hyperlegible"/>
                <a:ea typeface="Inter Bold" panose="02000503000000020004" pitchFamily="2" charset="0"/>
              </a:rPr>
              <a:t>Identificazione</a:t>
            </a:r>
            <a:r>
              <a:rPr lang="it-IT" sz="3700" b="1" spc="-151" noProof="0" dirty="0">
                <a:solidFill>
                  <a:schemeClr val="bg1"/>
                </a:solidFill>
                <a:latin typeface="Atkinson Hyperlegible"/>
                <a:ea typeface="Inter Bold" panose="02000503000000020004" pitchFamily="2" charset="0"/>
              </a:rPr>
              <a:t> dei parametri e </a:t>
            </a:r>
            <a:r>
              <a:rPr lang="it-IT" sz="3700" b="1" spc="-151" dirty="0">
                <a:solidFill>
                  <a:schemeClr val="bg1"/>
                </a:solidFill>
                <a:latin typeface="Atkinson Hyperlegible"/>
                <a:ea typeface="Inter Bold" panose="02000503000000020004" pitchFamily="2" charset="0"/>
              </a:rPr>
              <a:t>controllo</a:t>
            </a:r>
            <a:r>
              <a:rPr lang="it-IT" sz="3700" b="1" spc="-151" noProof="0" dirty="0">
                <a:solidFill>
                  <a:schemeClr val="bg1"/>
                </a:solidFill>
                <a:latin typeface="Atkinson Hyperlegible"/>
                <a:ea typeface="Inter Bold" panose="02000503000000020004" pitchFamily="2" charset="0"/>
              </a:rPr>
              <a:t> di un pendolo inverso su un canale di comunicazione</a:t>
            </a:r>
            <a:endParaRPr lang="it-IT" sz="3700" b="1" spc="-151" noProof="0" dirty="0">
              <a:solidFill>
                <a:schemeClr val="bg1"/>
              </a:solidFill>
              <a:latin typeface="Atkinson Hyperlegible"/>
              <a:ea typeface="Inter" panose="020B0502030000000004" pitchFamily="2" charset="0"/>
            </a:endParaRPr>
          </a:p>
        </p:txBody>
      </p:sp>
      <p:sp>
        <p:nvSpPr>
          <p:cNvPr id="34" name="Rectangle 4">
            <a:extLst>
              <a:ext uri="{FF2B5EF4-FFF2-40B4-BE49-F238E27FC236}">
                <a16:creationId xmlns:a16="http://schemas.microsoft.com/office/drawing/2014/main" id="{6F7D5E40-7D26-EB44-890F-D145B8C84F0F}"/>
              </a:ext>
            </a:extLst>
          </p:cNvPr>
          <p:cNvSpPr/>
          <p:nvPr/>
        </p:nvSpPr>
        <p:spPr>
          <a:xfrm>
            <a:off x="709477" y="3563495"/>
            <a:ext cx="5358575" cy="723275"/>
          </a:xfrm>
          <a:prstGeom prst="rect">
            <a:avLst/>
          </a:prstGeom>
        </p:spPr>
        <p:txBody>
          <a:bodyPr wrap="square">
            <a:spAutoFit/>
          </a:bodyPr>
          <a:lstStyle/>
          <a:p>
            <a:r>
              <a:rPr lang="it-IT" sz="2000" b="1" i="1" noProof="0">
                <a:solidFill>
                  <a:schemeClr val="bg1"/>
                </a:solidFill>
                <a:latin typeface="Atkinson Hyperlegible" pitchFamily="2" charset="77"/>
                <a:ea typeface="Roboto" panose="02000000000000000000" pitchFamily="2" charset="0"/>
                <a:cs typeface="Roboto" panose="02000000000000000000" pitchFamily="2" charset="0"/>
              </a:rPr>
              <a:t>Laureando</a:t>
            </a:r>
            <a:r>
              <a:rPr lang="it-IT" sz="2000" b="1" noProof="0">
                <a:solidFill>
                  <a:schemeClr val="bg1"/>
                </a:solidFill>
                <a:latin typeface="Atkinson Hyperlegible" pitchFamily="2" charset="77"/>
                <a:ea typeface="Roboto" panose="02000000000000000000" pitchFamily="2" charset="0"/>
                <a:cs typeface="Roboto" panose="02000000000000000000" pitchFamily="2" charset="0"/>
              </a:rPr>
              <a:t>: </a:t>
            </a:r>
            <a:r>
              <a:rPr lang="it-IT" sz="2500" b="1" noProof="0">
                <a:solidFill>
                  <a:schemeClr val="bg1"/>
                </a:solidFill>
                <a:latin typeface="Atkinson Hyperlegible" pitchFamily="2" charset="77"/>
                <a:ea typeface="Roboto" panose="02000000000000000000" pitchFamily="2" charset="0"/>
                <a:cs typeface="Roboto" panose="02000000000000000000" pitchFamily="2" charset="0"/>
              </a:rPr>
              <a:t>Americo Cherubini</a:t>
            </a:r>
            <a:endParaRPr lang="it-IT" sz="1600" b="1" i="1">
              <a:solidFill>
                <a:schemeClr val="bg1"/>
              </a:solidFill>
              <a:latin typeface="Atkinson Hyperlegible" pitchFamily="2" charset="77"/>
              <a:ea typeface="Roboto" panose="02000000000000000000" pitchFamily="2" charset="0"/>
              <a:cs typeface="Roboto" panose="02000000000000000000" pitchFamily="2" charset="0"/>
            </a:endParaRPr>
          </a:p>
          <a:p>
            <a:r>
              <a:rPr lang="it-IT" sz="1600" b="1" i="1" noProof="0">
                <a:solidFill>
                  <a:schemeClr val="bg1"/>
                </a:solidFill>
                <a:latin typeface="Atkinson Hyperlegible" pitchFamily="2" charset="77"/>
                <a:ea typeface="Roboto" panose="02000000000000000000" pitchFamily="2" charset="0"/>
                <a:cs typeface="Roboto" panose="02000000000000000000" pitchFamily="2" charset="0"/>
              </a:rPr>
              <a:t>Mat. 289499</a:t>
            </a:r>
            <a:endParaRPr lang="it-IT" sz="2500" b="1" noProof="0">
              <a:solidFill>
                <a:schemeClr val="bg1"/>
              </a:solidFill>
              <a:latin typeface="Atkinson Hyperlegible" pitchFamily="2" charset="77"/>
              <a:ea typeface="Roboto" panose="02000000000000000000" pitchFamily="2" charset="0"/>
              <a:cs typeface="Roboto" panose="02000000000000000000" pitchFamily="2" charset="0"/>
            </a:endParaRPr>
          </a:p>
        </p:txBody>
      </p:sp>
      <p:sp>
        <p:nvSpPr>
          <p:cNvPr id="35" name="Rectangle 4">
            <a:extLst>
              <a:ext uri="{FF2B5EF4-FFF2-40B4-BE49-F238E27FC236}">
                <a16:creationId xmlns:a16="http://schemas.microsoft.com/office/drawing/2014/main" id="{6E588A1F-0A78-18FB-4308-9E9AFF606FC8}"/>
              </a:ext>
            </a:extLst>
          </p:cNvPr>
          <p:cNvSpPr/>
          <p:nvPr/>
        </p:nvSpPr>
        <p:spPr>
          <a:xfrm>
            <a:off x="709477" y="4411233"/>
            <a:ext cx="5630927" cy="286297"/>
          </a:xfrm>
          <a:prstGeom prst="rect">
            <a:avLst/>
          </a:prstGeom>
        </p:spPr>
        <p:txBody>
          <a:bodyPr wrap="square">
            <a:spAutoFit/>
          </a:bodyPr>
          <a:lstStyle/>
          <a:p>
            <a:pPr>
              <a:lnSpc>
                <a:spcPts val="1500"/>
              </a:lnSpc>
            </a:pPr>
            <a:r>
              <a:rPr lang="it-IT" sz="1467" noProof="0">
                <a:solidFill>
                  <a:schemeClr val="bg1"/>
                </a:solidFill>
                <a:latin typeface="Atkinson Hyperlegible" pitchFamily="2" charset="77"/>
                <a:ea typeface="Roboto" panose="02000000000000000000" pitchFamily="2" charset="0"/>
                <a:cs typeface="Roboto" panose="02000000000000000000" pitchFamily="2" charset="0"/>
              </a:rPr>
              <a:t>Tesi di Laurea Triennale in Ingegneria dell’Informazione</a:t>
            </a:r>
            <a:endParaRPr lang="it-IT" sz="1200" noProof="0">
              <a:solidFill>
                <a:schemeClr val="bg1"/>
              </a:solidFill>
              <a:latin typeface="Atkinson Hyperlegible" pitchFamily="2" charset="77"/>
              <a:ea typeface="Roboto" panose="02000000000000000000" pitchFamily="2" charset="0"/>
              <a:cs typeface="Roboto" panose="02000000000000000000" pitchFamily="2" charset="0"/>
            </a:endParaRPr>
          </a:p>
        </p:txBody>
      </p:sp>
      <p:pic>
        <p:nvPicPr>
          <p:cNvPr id="16" name="Immagine 15">
            <a:extLst>
              <a:ext uri="{FF2B5EF4-FFF2-40B4-BE49-F238E27FC236}">
                <a16:creationId xmlns:a16="http://schemas.microsoft.com/office/drawing/2014/main" id="{91D7A533-95E4-9731-B0DD-B6C8B6548527}"/>
              </a:ext>
            </a:extLst>
          </p:cNvPr>
          <p:cNvPicPr>
            <a:picLocks noChangeAspect="1"/>
          </p:cNvPicPr>
          <p:nvPr/>
        </p:nvPicPr>
        <p:blipFill>
          <a:blip r:embed="rId3">
            <a:alphaModFix amt="15000"/>
            <a:extLst>
              <a:ext uri="{28A0092B-C50C-407E-A947-70E740481C1C}">
                <a14:useLocalDpi xmlns:a14="http://schemas.microsoft.com/office/drawing/2010/main" val="0"/>
              </a:ext>
            </a:extLst>
          </a:blip>
          <a:srcRect/>
          <a:stretch/>
        </p:blipFill>
        <p:spPr>
          <a:xfrm>
            <a:off x="7796437" y="272795"/>
            <a:ext cx="4149052" cy="4680534"/>
          </a:xfrm>
          <a:prstGeom prst="rect">
            <a:avLst/>
          </a:prstGeom>
        </p:spPr>
      </p:pic>
      <p:sp>
        <p:nvSpPr>
          <p:cNvPr id="17" name="Rettangolo 16">
            <a:extLst>
              <a:ext uri="{FF2B5EF4-FFF2-40B4-BE49-F238E27FC236}">
                <a16:creationId xmlns:a16="http://schemas.microsoft.com/office/drawing/2014/main" id="{CCA72F3F-32C0-B3A4-E75D-A6E624AA11DC}"/>
              </a:ext>
            </a:extLst>
          </p:cNvPr>
          <p:cNvSpPr/>
          <p:nvPr/>
        </p:nvSpPr>
        <p:spPr>
          <a:xfrm>
            <a:off x="-89673" y="5256178"/>
            <a:ext cx="12281673" cy="1601823"/>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u="sng" noProof="0"/>
          </a:p>
        </p:txBody>
      </p:sp>
      <p:pic>
        <p:nvPicPr>
          <p:cNvPr id="18" name="Immagine 17">
            <a:extLst>
              <a:ext uri="{FF2B5EF4-FFF2-40B4-BE49-F238E27FC236}">
                <a16:creationId xmlns:a16="http://schemas.microsoft.com/office/drawing/2014/main" id="{0DD94909-EC8D-D35F-0F5A-6353355664A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55997" y="5523790"/>
            <a:ext cx="4173977" cy="1035079"/>
          </a:xfrm>
          <a:prstGeom prst="rect">
            <a:avLst/>
          </a:prstGeom>
        </p:spPr>
      </p:pic>
      <p:sp>
        <p:nvSpPr>
          <p:cNvPr id="2" name="Rectangle 4">
            <a:extLst>
              <a:ext uri="{FF2B5EF4-FFF2-40B4-BE49-F238E27FC236}">
                <a16:creationId xmlns:a16="http://schemas.microsoft.com/office/drawing/2014/main" id="{614A13DE-0DFA-9204-3C20-0ED52AE7E21F}"/>
              </a:ext>
            </a:extLst>
          </p:cNvPr>
          <p:cNvSpPr/>
          <p:nvPr/>
        </p:nvSpPr>
        <p:spPr>
          <a:xfrm>
            <a:off x="7896952" y="5495330"/>
            <a:ext cx="4048537" cy="1054135"/>
          </a:xfrm>
          <a:prstGeom prst="rect">
            <a:avLst/>
          </a:prstGeom>
        </p:spPr>
        <p:txBody>
          <a:bodyPr wrap="square" lIns="91440" tIns="45720" rIns="91440" bIns="45720" anchor="t">
            <a:spAutoFit/>
          </a:bodyPr>
          <a:lstStyle/>
          <a:p>
            <a:pPr algn="r">
              <a:lnSpc>
                <a:spcPts val="1500"/>
              </a:lnSpc>
            </a:pPr>
            <a:r>
              <a:rPr lang="it-IT" sz="1450" noProof="0" dirty="0">
                <a:latin typeface="Atkinson Hyperlegible"/>
                <a:ea typeface="Roboto"/>
                <a:cs typeface="Roboto"/>
              </a:rPr>
              <a:t>Relatore: Prof. D’Innocenzo Alessandro</a:t>
            </a:r>
          </a:p>
          <a:p>
            <a:pPr algn="r">
              <a:lnSpc>
                <a:spcPts val="1500"/>
              </a:lnSpc>
            </a:pPr>
            <a:r>
              <a:rPr lang="it-IT" sz="1450" noProof="0" dirty="0">
                <a:latin typeface="Atkinson Hyperlegible"/>
                <a:ea typeface="Roboto"/>
                <a:cs typeface="Roboto"/>
              </a:rPr>
              <a:t>Correlatore: </a:t>
            </a:r>
            <a:r>
              <a:rPr lang="it-IT" sz="1450" dirty="0">
                <a:latin typeface="Atkinson Hyperlegible"/>
                <a:ea typeface="Roboto"/>
                <a:cs typeface="Roboto"/>
              </a:rPr>
              <a:t>Dr</a:t>
            </a:r>
            <a:r>
              <a:rPr lang="it-IT" sz="1450" noProof="0" dirty="0">
                <a:latin typeface="Atkinson Hyperlegible"/>
                <a:ea typeface="Roboto"/>
                <a:cs typeface="Roboto"/>
              </a:rPr>
              <a:t>. Zacchia Lun Yuriy</a:t>
            </a:r>
            <a:br>
              <a:rPr lang="it-IT" sz="1400" noProof="0" dirty="0">
                <a:latin typeface="Atkinson Hyperlegible" pitchFamily="2" charset="77"/>
                <a:ea typeface="Roboto" panose="02000000000000000000" pitchFamily="2" charset="0"/>
                <a:cs typeface="Roboto" panose="02000000000000000000" pitchFamily="2" charset="0"/>
              </a:rPr>
            </a:br>
            <a:br>
              <a:rPr lang="it-IT" sz="1400" noProof="0" dirty="0">
                <a:latin typeface="Atkinson Hyperlegible" pitchFamily="2" charset="77"/>
                <a:ea typeface="Roboto" panose="02000000000000000000" pitchFamily="2" charset="0"/>
                <a:cs typeface="Roboto" panose="02000000000000000000" pitchFamily="2" charset="0"/>
              </a:rPr>
            </a:br>
            <a:br>
              <a:rPr lang="it-IT" sz="1400" noProof="0" dirty="0">
                <a:latin typeface="Atkinson Hyperlegible" pitchFamily="2" charset="77"/>
                <a:ea typeface="Roboto" panose="02000000000000000000" pitchFamily="2" charset="0"/>
                <a:cs typeface="Roboto" panose="02000000000000000000" pitchFamily="2" charset="0"/>
              </a:rPr>
            </a:br>
            <a:r>
              <a:rPr lang="it-IT" sz="1300" noProof="0" dirty="0">
                <a:latin typeface="Atkinson Hyperlegible"/>
                <a:ea typeface="Roboto"/>
                <a:cs typeface="Roboto"/>
              </a:rPr>
              <a:t>Anno accademico 2024-2025</a:t>
            </a:r>
            <a:endParaRPr lang="it-IT" sz="1200" noProof="0" dirty="0">
              <a:latin typeface="Atkinson Hyperlegible"/>
              <a:ea typeface="Roboto"/>
              <a:cs typeface="Roboto"/>
            </a:endParaRPr>
          </a:p>
        </p:txBody>
      </p:sp>
    </p:spTree>
    <p:extLst>
      <p:ext uri="{BB962C8B-B14F-4D97-AF65-F5344CB8AC3E}">
        <p14:creationId xmlns:p14="http://schemas.microsoft.com/office/powerpoint/2010/main" val="28191408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4">
            <a:extLst>
              <a:ext uri="{FF2B5EF4-FFF2-40B4-BE49-F238E27FC236}">
                <a16:creationId xmlns:a16="http://schemas.microsoft.com/office/drawing/2014/main" id="{3256DBBB-FC4D-3993-EDA5-178C83379D04}"/>
              </a:ext>
            </a:extLst>
          </p:cNvPr>
          <p:cNvSpPr/>
          <p:nvPr/>
        </p:nvSpPr>
        <p:spPr>
          <a:xfrm>
            <a:off x="695324" y="1498940"/>
            <a:ext cx="10806521" cy="4462760"/>
          </a:xfrm>
          <a:prstGeom prst="rect">
            <a:avLst/>
          </a:prstGeom>
        </p:spPr>
        <p:txBody>
          <a:bodyPr wrap="square" lIns="91440" tIns="45720" rIns="91440" bIns="45720" numCol="2" spcCol="360000" anchor="t">
            <a:spAutoFit/>
          </a:bodyPr>
          <a:lstStyle/>
          <a:p>
            <a:pPr marL="63500">
              <a:spcBef>
                <a:spcPts val="600"/>
              </a:spcBef>
              <a:spcAft>
                <a:spcPts val="600"/>
              </a:spcAft>
              <a:buClr>
                <a:srgbClr val="1F7E9C"/>
              </a:buClr>
            </a:pPr>
            <a:r>
              <a:rPr lang="it-IT" dirty="0">
                <a:latin typeface="Atkinson Hyperlegible"/>
              </a:rPr>
              <a:t>Lavoro preliminare:</a:t>
            </a:r>
            <a:endParaRPr lang="it-IT" noProof="0" dirty="0">
              <a:latin typeface="Atkinson Hyperlegible"/>
            </a:endParaRPr>
          </a:p>
          <a:p>
            <a:pPr marL="593725" indent="-530225">
              <a:spcBef>
                <a:spcPts val="600"/>
              </a:spcBef>
              <a:spcAft>
                <a:spcPts val="600"/>
              </a:spcAft>
              <a:buClr>
                <a:srgbClr val="1F7E9C"/>
              </a:buClr>
              <a:buFont typeface="Wingdings" panose="05000000000000000000" pitchFamily="2" charset="2"/>
              <a:buChar char="Ø"/>
            </a:pPr>
            <a:r>
              <a:rPr lang="it-IT" noProof="0" dirty="0">
                <a:latin typeface="Atkinson Hyperlegible"/>
              </a:rPr>
              <a:t>Sviluppo dell’ambiente di simulazione;</a:t>
            </a:r>
            <a:endParaRPr lang="it-IT" sz="1600" noProof="0" dirty="0">
              <a:latin typeface="Atkinson Hyperlegible"/>
            </a:endParaRPr>
          </a:p>
          <a:p>
            <a:pPr marL="593725" indent="-530225">
              <a:spcBef>
                <a:spcPts val="600"/>
              </a:spcBef>
              <a:spcAft>
                <a:spcPts val="600"/>
              </a:spcAft>
              <a:buClr>
                <a:srgbClr val="1F7E9C"/>
              </a:buClr>
              <a:buFont typeface="Wingdings" panose="05000000000000000000" pitchFamily="2" charset="2"/>
              <a:buChar char="Ø"/>
            </a:pPr>
            <a:r>
              <a:rPr lang="it-IT" noProof="0" dirty="0">
                <a:latin typeface="Atkinson Hyperlegible"/>
              </a:rPr>
              <a:t>Stabilizzazione con PID;</a:t>
            </a:r>
          </a:p>
          <a:p>
            <a:pPr marL="958215" lvl="1" indent="-285750">
              <a:spcAft>
                <a:spcPts val="1200"/>
              </a:spcAft>
              <a:buClr>
                <a:srgbClr val="1F7E9C"/>
              </a:buClr>
              <a:buFont typeface="Wingdings" panose="05000000000000000000" pitchFamily="2" charset="2"/>
              <a:buChar char="§"/>
            </a:pPr>
            <a:r>
              <a:rPr lang="it-IT" sz="1600" noProof="0" dirty="0">
                <a:latin typeface="Atkinson Hyperlegible"/>
              </a:rPr>
              <a:t>Struttura a doppio </a:t>
            </a:r>
            <a:r>
              <a:rPr lang="it-IT" sz="1600" i="1" noProof="0" dirty="0">
                <a:latin typeface="Atkinson Hyperlegible"/>
              </a:rPr>
              <a:t>loop;</a:t>
            </a:r>
          </a:p>
          <a:p>
            <a:pPr marL="593725" indent="-530225">
              <a:spcBef>
                <a:spcPts val="600"/>
              </a:spcBef>
              <a:spcAft>
                <a:spcPts val="600"/>
              </a:spcAft>
              <a:buClr>
                <a:srgbClr val="1F7E9C"/>
              </a:buClr>
              <a:buFont typeface="Wingdings" panose="05000000000000000000" pitchFamily="2" charset="2"/>
              <a:buChar char="Ø"/>
            </a:pPr>
            <a:r>
              <a:rPr lang="it-IT" noProof="0" dirty="0">
                <a:latin typeface="Atkinson Hyperlegible"/>
              </a:rPr>
              <a:t>Raccolta dati input-output;</a:t>
            </a:r>
            <a:endParaRPr lang="it-IT" noProof="0" dirty="0">
              <a:latin typeface="Atkinson Hyperlegible"/>
              <a:ea typeface="Open Sans Condensed Light"/>
              <a:cs typeface="Open Sans Condensed Light"/>
            </a:endParaRPr>
          </a:p>
          <a:p>
            <a:pPr marL="63500">
              <a:spcBef>
                <a:spcPts val="600"/>
              </a:spcBef>
              <a:spcAft>
                <a:spcPts val="600"/>
              </a:spcAft>
              <a:buClr>
                <a:srgbClr val="1F7E9C"/>
              </a:buClr>
            </a:pPr>
            <a:endParaRPr lang="it-IT" noProof="0" dirty="0">
              <a:latin typeface="Atkinson Hyperlegible"/>
              <a:ea typeface="Open Sans Condensed Light"/>
              <a:cs typeface="Open Sans Condensed Light"/>
            </a:endParaRPr>
          </a:p>
          <a:p>
            <a:pPr marL="63500">
              <a:spcBef>
                <a:spcPts val="600"/>
              </a:spcBef>
              <a:spcAft>
                <a:spcPts val="600"/>
              </a:spcAft>
              <a:buClr>
                <a:srgbClr val="1F7E9C"/>
              </a:buClr>
            </a:pPr>
            <a:endParaRPr lang="it-IT" dirty="0">
              <a:latin typeface="Atkinson Hyperlegible"/>
              <a:ea typeface="Open Sans Condensed Light"/>
              <a:cs typeface="Open Sans Condensed Light"/>
            </a:endParaRPr>
          </a:p>
          <a:p>
            <a:pPr marL="63500">
              <a:spcBef>
                <a:spcPts val="600"/>
              </a:spcBef>
              <a:spcAft>
                <a:spcPts val="600"/>
              </a:spcAft>
              <a:buClr>
                <a:srgbClr val="1F7E9C"/>
              </a:buClr>
            </a:pPr>
            <a:endParaRPr lang="it-IT" noProof="0" dirty="0">
              <a:latin typeface="Atkinson Hyperlegible"/>
              <a:ea typeface="Open Sans Condensed Light"/>
              <a:cs typeface="Open Sans Condensed Light"/>
            </a:endParaRPr>
          </a:p>
          <a:p>
            <a:pPr marL="63500">
              <a:spcBef>
                <a:spcPts val="600"/>
              </a:spcBef>
              <a:spcAft>
                <a:spcPts val="600"/>
              </a:spcAft>
              <a:buClr>
                <a:srgbClr val="1F7E9C"/>
              </a:buClr>
            </a:pPr>
            <a:endParaRPr lang="it-IT" noProof="0" dirty="0">
              <a:latin typeface="Atkinson Hyperlegible"/>
              <a:ea typeface="Open Sans Condensed Light"/>
              <a:cs typeface="Open Sans Condensed Light"/>
            </a:endParaRPr>
          </a:p>
          <a:p>
            <a:pPr marL="593725" indent="-530225">
              <a:spcBef>
                <a:spcPts val="600"/>
              </a:spcBef>
              <a:spcAft>
                <a:spcPts val="600"/>
              </a:spcAft>
              <a:buClr>
                <a:srgbClr val="1F7E9C"/>
              </a:buClr>
              <a:buFont typeface="Wingdings" panose="05000000000000000000" pitchFamily="2" charset="2"/>
              <a:buChar char="Ø"/>
            </a:pPr>
            <a:endParaRPr lang="it-IT" noProof="0" dirty="0">
              <a:latin typeface="Atkinson Hyperlegible"/>
              <a:ea typeface="Open Sans Condensed Light"/>
              <a:cs typeface="Open Sans Condensed Light"/>
            </a:endParaRPr>
          </a:p>
          <a:p>
            <a:pPr marL="63500">
              <a:spcBef>
                <a:spcPts val="600"/>
              </a:spcBef>
              <a:spcAft>
                <a:spcPts val="600"/>
              </a:spcAft>
              <a:buClr>
                <a:srgbClr val="1F7E9C"/>
              </a:buClr>
            </a:pPr>
            <a:r>
              <a:rPr lang="it-IT" dirty="0">
                <a:latin typeface="Atkinson Hyperlegible"/>
                <a:ea typeface="Open Sans Condensed Light"/>
                <a:cs typeface="Open Sans Condensed Light"/>
              </a:rPr>
              <a:t>Lavoro principale:</a:t>
            </a:r>
          </a:p>
          <a:p>
            <a:pPr marL="593725" indent="-530225">
              <a:spcBef>
                <a:spcPts val="600"/>
              </a:spcBef>
              <a:spcAft>
                <a:spcPts val="600"/>
              </a:spcAft>
              <a:buClr>
                <a:srgbClr val="1F7E9C"/>
              </a:buClr>
              <a:buFont typeface="Wingdings" panose="05000000000000000000" pitchFamily="2" charset="2"/>
              <a:buChar char="Ø"/>
            </a:pPr>
            <a:r>
              <a:rPr lang="it-IT" noProof="0" dirty="0">
                <a:latin typeface="Atkinson Hyperlegible"/>
                <a:ea typeface="Open Sans Condensed Light"/>
                <a:cs typeface="Open Sans Condensed Light"/>
              </a:rPr>
              <a:t>Identificazione parametri delle matrici A, B del sistema mediante regressione lineare;</a:t>
            </a:r>
          </a:p>
          <a:p>
            <a:pPr marL="1203325" lvl="1" indent="-530225">
              <a:buClr>
                <a:srgbClr val="1F7E9C"/>
              </a:buClr>
              <a:buFont typeface="Wingdings" panose="05000000000000000000" pitchFamily="2" charset="2"/>
              <a:buChar char="§"/>
            </a:pPr>
            <a:r>
              <a:rPr lang="it-IT" sz="1600" noProof="0" dirty="0">
                <a:latin typeface="Atkinson Hyperlegible"/>
                <a:ea typeface="Open Sans Condensed Light"/>
                <a:cs typeface="Open Sans Condensed Light"/>
              </a:rPr>
              <a:t>Caso di rumore gaussiano;</a:t>
            </a:r>
            <a:endParaRPr lang="it-IT" sz="1600" noProof="0" dirty="0">
              <a:latin typeface="Atkinson Hyperlegible"/>
            </a:endParaRPr>
          </a:p>
          <a:p>
            <a:pPr marL="1203325" lvl="1" indent="-530225">
              <a:spcBef>
                <a:spcPts val="600"/>
              </a:spcBef>
              <a:spcAft>
                <a:spcPts val="600"/>
              </a:spcAft>
              <a:buClr>
                <a:srgbClr val="1F7E9C"/>
              </a:buClr>
              <a:buFont typeface="Wingdings" panose="05000000000000000000" pitchFamily="2" charset="2"/>
              <a:buChar char="§"/>
            </a:pPr>
            <a:r>
              <a:rPr lang="it-IT" sz="1600" noProof="0" dirty="0">
                <a:latin typeface="Atkinson Hyperlegible"/>
                <a:ea typeface="Open Sans Condensed Light"/>
                <a:cs typeface="Open Sans Condensed Light"/>
              </a:rPr>
              <a:t>Caso di perdite di pacchetti;</a:t>
            </a:r>
            <a:endParaRPr lang="it-IT" noProof="0" dirty="0">
              <a:latin typeface="Atkinson Hyperlegible"/>
            </a:endParaRPr>
          </a:p>
          <a:p>
            <a:pPr marL="593725" indent="-530225">
              <a:spcBef>
                <a:spcPts val="600"/>
              </a:spcBef>
              <a:spcAft>
                <a:spcPts val="600"/>
              </a:spcAft>
              <a:buClr>
                <a:srgbClr val="1F7E9C"/>
              </a:buClr>
              <a:buFont typeface="Wingdings" panose="05000000000000000000" pitchFamily="2" charset="2"/>
              <a:buChar char="Ø"/>
            </a:pPr>
            <a:r>
              <a:rPr lang="it-IT" noProof="0" dirty="0">
                <a:latin typeface="Atkinson Hyperlegible"/>
              </a:rPr>
              <a:t>Controllo ottimo con LQR;</a:t>
            </a:r>
          </a:p>
          <a:p>
            <a:pPr marL="1203325" lvl="1" indent="-530225">
              <a:spcAft>
                <a:spcPts val="1200"/>
              </a:spcAft>
              <a:buClr>
                <a:srgbClr val="1F7E9C"/>
              </a:buClr>
              <a:buFont typeface="Wingdings" panose="05000000000000000000" pitchFamily="2" charset="2"/>
              <a:buChar char="§"/>
            </a:pPr>
            <a:r>
              <a:rPr lang="it-IT" sz="1600" noProof="0" dirty="0">
                <a:latin typeface="Atkinson Hyperlegible"/>
                <a:ea typeface="Open Sans Condensed Light"/>
                <a:cs typeface="Open Sans Condensed Light"/>
              </a:rPr>
              <a:t>Inseguimento del gradino con </a:t>
            </a:r>
            <a:br>
              <a:rPr lang="it-IT" sz="1600" noProof="0" dirty="0">
                <a:latin typeface="Atkinson Hyperlegible"/>
                <a:ea typeface="Open Sans Condensed Light"/>
                <a:cs typeface="Open Sans Condensed Light"/>
              </a:rPr>
            </a:br>
            <a:r>
              <a:rPr lang="it-IT" sz="1600" i="1" noProof="0" dirty="0" err="1">
                <a:latin typeface="Atkinson Hyperlegible"/>
                <a:ea typeface="Open Sans Condensed Light"/>
                <a:cs typeface="Open Sans Condensed Light"/>
              </a:rPr>
              <a:t>Internal</a:t>
            </a:r>
            <a:r>
              <a:rPr lang="it-IT" sz="1600" i="1" noProof="0" dirty="0">
                <a:latin typeface="Atkinson Hyperlegible"/>
                <a:ea typeface="Open Sans Condensed Light"/>
                <a:cs typeface="Open Sans Condensed Light"/>
              </a:rPr>
              <a:t> Model Design</a:t>
            </a:r>
            <a:r>
              <a:rPr lang="it-IT" sz="1600" noProof="0" dirty="0">
                <a:latin typeface="Atkinson Hyperlegible"/>
                <a:ea typeface="Open Sans Condensed Light"/>
                <a:cs typeface="Open Sans Condensed Light"/>
              </a:rPr>
              <a:t>;</a:t>
            </a:r>
          </a:p>
          <a:p>
            <a:pPr marL="593725" indent="-530225">
              <a:spcBef>
                <a:spcPts val="600"/>
              </a:spcBef>
              <a:spcAft>
                <a:spcPts val="600"/>
              </a:spcAft>
              <a:buClr>
                <a:srgbClr val="1F7E9C"/>
              </a:buClr>
              <a:buFont typeface="Wingdings" panose="05000000000000000000" pitchFamily="2" charset="2"/>
              <a:buChar char="Ø"/>
            </a:pPr>
            <a:r>
              <a:rPr lang="it-IT" noProof="0" dirty="0">
                <a:latin typeface="Atkinson Hyperlegible"/>
              </a:rPr>
              <a:t>Perdite di pacchetti di attuazione;</a:t>
            </a:r>
          </a:p>
          <a:p>
            <a:pPr marL="1203325" lvl="1" indent="-530225">
              <a:spcAft>
                <a:spcPts val="1200"/>
              </a:spcAft>
              <a:buClr>
                <a:srgbClr val="1F7E9C"/>
              </a:buClr>
              <a:buFont typeface="Wingdings" panose="05000000000000000000" pitchFamily="2" charset="2"/>
              <a:buChar char="§"/>
            </a:pPr>
            <a:r>
              <a:rPr lang="it-IT" sz="1600" noProof="0" dirty="0">
                <a:latin typeface="Atkinson Hyperlegible"/>
              </a:rPr>
              <a:t>Policy di </a:t>
            </a:r>
            <a:r>
              <a:rPr lang="it-IT" sz="1600" i="1" noProof="0" dirty="0" err="1">
                <a:latin typeface="Atkinson Hyperlegible"/>
              </a:rPr>
              <a:t>Hold</a:t>
            </a:r>
            <a:r>
              <a:rPr lang="it-IT" sz="1600" i="1" noProof="0" dirty="0">
                <a:latin typeface="Atkinson Hyperlegible"/>
              </a:rPr>
              <a:t> </a:t>
            </a:r>
            <a:r>
              <a:rPr lang="it-IT" sz="1600" noProof="0" dirty="0">
                <a:latin typeface="Atkinson Hyperlegible"/>
              </a:rPr>
              <a:t>con decadimento dell’ingresso;</a:t>
            </a:r>
          </a:p>
          <a:p>
            <a:pPr marL="593725" indent="-530225">
              <a:spcBef>
                <a:spcPts val="600"/>
              </a:spcBef>
              <a:spcAft>
                <a:spcPts val="600"/>
              </a:spcAft>
              <a:buClr>
                <a:srgbClr val="1F7E9C"/>
              </a:buClr>
              <a:buFont typeface="Wingdings" panose="05000000000000000000" pitchFamily="2" charset="2"/>
              <a:buChar char="Ø"/>
            </a:pPr>
            <a:r>
              <a:rPr lang="it-IT" noProof="0" dirty="0">
                <a:latin typeface="Atkinson Hyperlegible"/>
                <a:ea typeface="Open Sans Condensed Light"/>
                <a:cs typeface="Open Sans Condensed Light"/>
              </a:rPr>
              <a:t>Conclusioni e sviluppi futuri</a:t>
            </a:r>
            <a:r>
              <a:rPr lang="it-IT" dirty="0">
                <a:latin typeface="Atkinson Hyperlegible"/>
                <a:ea typeface="Open Sans Condensed Light"/>
                <a:cs typeface="Open Sans Condensed Light"/>
              </a:rPr>
              <a:t>.</a:t>
            </a:r>
            <a:endParaRPr lang="it-IT" noProof="0" dirty="0">
              <a:latin typeface="Atkinson Hyperlegible"/>
              <a:ea typeface="Open Sans Condensed Light"/>
              <a:cs typeface="Open Sans Condensed Light"/>
            </a:endParaRPr>
          </a:p>
          <a:p>
            <a:pPr marL="593725" indent="-530225">
              <a:spcBef>
                <a:spcPts val="600"/>
              </a:spcBef>
              <a:buFont typeface="Wingdings" panose="05000000000000000000" pitchFamily="2" charset="2"/>
              <a:buChar char="Ø"/>
            </a:pPr>
            <a:endParaRPr lang="it-IT" sz="1600" noProof="0" dirty="0">
              <a:latin typeface="Atkinson Hyperlegible"/>
            </a:endParaRPr>
          </a:p>
        </p:txBody>
      </p:sp>
      <p:sp>
        <p:nvSpPr>
          <p:cNvPr id="11" name="Rettangolo 10">
            <a:extLst>
              <a:ext uri="{FF2B5EF4-FFF2-40B4-BE49-F238E27FC236}">
                <a16:creationId xmlns:a16="http://schemas.microsoft.com/office/drawing/2014/main" id="{DB2AF53F-DB62-70F5-4EE2-530EAA1BD72C}"/>
              </a:ext>
            </a:extLst>
          </p:cNvPr>
          <p:cNvSpPr/>
          <p:nvPr/>
        </p:nvSpPr>
        <p:spPr>
          <a:xfrm>
            <a:off x="-142879" y="5934488"/>
            <a:ext cx="12387209" cy="977153"/>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18" name="Rettangolo 17">
            <a:extLst>
              <a:ext uri="{FF2B5EF4-FFF2-40B4-BE49-F238E27FC236}">
                <a16:creationId xmlns:a16="http://schemas.microsoft.com/office/drawing/2014/main" id="{E316D968-E2AA-EBF6-6B4D-8514F45535B5}"/>
              </a:ext>
            </a:extLst>
          </p:cNvPr>
          <p:cNvSpPr/>
          <p:nvPr/>
        </p:nvSpPr>
        <p:spPr>
          <a:xfrm>
            <a:off x="-61301" y="5934488"/>
            <a:ext cx="12305631" cy="54425"/>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pic>
        <p:nvPicPr>
          <p:cNvPr id="21" name="Immagine 20">
            <a:extLst>
              <a:ext uri="{FF2B5EF4-FFF2-40B4-BE49-F238E27FC236}">
                <a16:creationId xmlns:a16="http://schemas.microsoft.com/office/drawing/2014/main" id="{46F6DE0A-1502-F0EE-660A-646BCBA619D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426078" y="6133296"/>
            <a:ext cx="2283511" cy="566274"/>
          </a:xfrm>
          <a:prstGeom prst="rect">
            <a:avLst/>
          </a:prstGeom>
        </p:spPr>
      </p:pic>
      <p:grpSp>
        <p:nvGrpSpPr>
          <p:cNvPr id="6" name="Gruppo 5">
            <a:extLst>
              <a:ext uri="{FF2B5EF4-FFF2-40B4-BE49-F238E27FC236}">
                <a16:creationId xmlns:a16="http://schemas.microsoft.com/office/drawing/2014/main" id="{0C80BCB5-AAD5-2074-7EC5-8EF58669E955}"/>
              </a:ext>
            </a:extLst>
          </p:cNvPr>
          <p:cNvGrpSpPr/>
          <p:nvPr/>
        </p:nvGrpSpPr>
        <p:grpSpPr>
          <a:xfrm>
            <a:off x="910251" y="522579"/>
            <a:ext cx="4311723" cy="414332"/>
            <a:chOff x="634026" y="522579"/>
            <a:chExt cx="4311723" cy="414332"/>
          </a:xfrm>
        </p:grpSpPr>
        <p:sp>
          <p:nvSpPr>
            <p:cNvPr id="15" name="Rectangle 4">
              <a:extLst>
                <a:ext uri="{FF2B5EF4-FFF2-40B4-BE49-F238E27FC236}">
                  <a16:creationId xmlns:a16="http://schemas.microsoft.com/office/drawing/2014/main" id="{6517C082-A459-B91F-34DD-8EF2532185B1}"/>
                </a:ext>
              </a:extLst>
            </p:cNvPr>
            <p:cNvSpPr/>
            <p:nvPr/>
          </p:nvSpPr>
          <p:spPr>
            <a:xfrm>
              <a:off x="1012825" y="621119"/>
              <a:ext cx="3932924" cy="315792"/>
            </a:xfrm>
            <a:prstGeom prst="rect">
              <a:avLst/>
            </a:prstGeom>
          </p:spPr>
          <p:txBody>
            <a:bodyPr wrap="square">
              <a:spAutoFit/>
            </a:bodyPr>
            <a:lstStyle/>
            <a:p>
              <a:pPr>
                <a:lnSpc>
                  <a:spcPts val="1500"/>
                </a:lnSpc>
              </a:pPr>
              <a:r>
                <a:rPr lang="it-IT" sz="2200" b="1" noProof="0" dirty="0">
                  <a:solidFill>
                    <a:srgbClr val="424242"/>
                  </a:solidFill>
                  <a:latin typeface="Atkinson Hyperlegible" pitchFamily="2" charset="77"/>
                  <a:ea typeface="Roboto" panose="02000000000000000000" pitchFamily="2" charset="0"/>
                  <a:cs typeface="Roboto" panose="02000000000000000000" pitchFamily="2" charset="0"/>
                </a:rPr>
                <a:t>Panoramica Generale</a:t>
              </a:r>
            </a:p>
          </p:txBody>
        </p:sp>
        <p:sp>
          <p:nvSpPr>
            <p:cNvPr id="5" name="Rettangolo 4">
              <a:extLst>
                <a:ext uri="{FF2B5EF4-FFF2-40B4-BE49-F238E27FC236}">
                  <a16:creationId xmlns:a16="http://schemas.microsoft.com/office/drawing/2014/main" id="{6E9D0DFD-19D1-2047-2893-EF90CC54B0BC}"/>
                </a:ext>
              </a:extLst>
            </p:cNvPr>
            <p:cNvSpPr/>
            <p:nvPr/>
          </p:nvSpPr>
          <p:spPr>
            <a:xfrm>
              <a:off x="634026" y="522579"/>
              <a:ext cx="384729" cy="410413"/>
            </a:xfrm>
            <a:prstGeom prst="rect">
              <a:avLst/>
            </a:prstGeom>
            <a:solidFill>
              <a:srgbClr val="3196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4" name="Rettangolo 3">
              <a:extLst>
                <a:ext uri="{FF2B5EF4-FFF2-40B4-BE49-F238E27FC236}">
                  <a16:creationId xmlns:a16="http://schemas.microsoft.com/office/drawing/2014/main" id="{0085BE05-2FF2-AC28-FEA5-B67E3BD0A953}"/>
                </a:ext>
              </a:extLst>
            </p:cNvPr>
            <p:cNvSpPr/>
            <p:nvPr/>
          </p:nvSpPr>
          <p:spPr>
            <a:xfrm>
              <a:off x="634026" y="891192"/>
              <a:ext cx="4133851" cy="45719"/>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grpSp>
    </p:spTree>
    <p:extLst>
      <p:ext uri="{BB962C8B-B14F-4D97-AF65-F5344CB8AC3E}">
        <p14:creationId xmlns:p14="http://schemas.microsoft.com/office/powerpoint/2010/main" val="30049298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ttangolo 57">
            <a:extLst>
              <a:ext uri="{FF2B5EF4-FFF2-40B4-BE49-F238E27FC236}">
                <a16:creationId xmlns:a16="http://schemas.microsoft.com/office/drawing/2014/main" id="{173DA7D3-FA7A-41B2-09FC-0025CDA2DFD5}"/>
              </a:ext>
            </a:extLst>
          </p:cNvPr>
          <p:cNvSpPr/>
          <p:nvPr/>
        </p:nvSpPr>
        <p:spPr>
          <a:xfrm>
            <a:off x="-294968" y="-32856"/>
            <a:ext cx="12993277" cy="1139411"/>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23" name="Rectangle 4">
            <a:extLst>
              <a:ext uri="{FF2B5EF4-FFF2-40B4-BE49-F238E27FC236}">
                <a16:creationId xmlns:a16="http://schemas.microsoft.com/office/drawing/2014/main" id="{3F3E691E-E068-EF78-D954-57B4485EF2EB}"/>
              </a:ext>
            </a:extLst>
          </p:cNvPr>
          <p:cNvSpPr/>
          <p:nvPr/>
        </p:nvSpPr>
        <p:spPr>
          <a:xfrm>
            <a:off x="695324" y="621119"/>
            <a:ext cx="8201026" cy="311111"/>
          </a:xfrm>
          <a:prstGeom prst="rect">
            <a:avLst/>
          </a:prstGeom>
        </p:spPr>
        <p:txBody>
          <a:bodyPr wrap="square">
            <a:spAutoFit/>
          </a:bodyPr>
          <a:lstStyle/>
          <a:p>
            <a:pPr>
              <a:lnSpc>
                <a:spcPts val="1500"/>
              </a:lnSpc>
            </a:pPr>
            <a:r>
              <a:rPr lang="it-IT" sz="2200" b="1" noProof="0">
                <a:solidFill>
                  <a:schemeClr val="bg1"/>
                </a:solidFill>
                <a:latin typeface="Atkinson Hyperlegible" pitchFamily="2" charset="77"/>
                <a:ea typeface="Roboto" panose="02000000000000000000" pitchFamily="2" charset="0"/>
                <a:cs typeface="Roboto" panose="02000000000000000000" pitchFamily="2" charset="0"/>
              </a:rPr>
              <a:t>Sviluppo dell’Ambiente di Simulazione – Equazioni del Moto</a:t>
            </a:r>
          </a:p>
        </p:txBody>
      </p:sp>
      <p:sp>
        <p:nvSpPr>
          <p:cNvPr id="24" name="Rectangle 4">
            <a:extLst>
              <a:ext uri="{FF2B5EF4-FFF2-40B4-BE49-F238E27FC236}">
                <a16:creationId xmlns:a16="http://schemas.microsoft.com/office/drawing/2014/main" id="{3256DBBB-FC4D-3993-EDA5-178C83379D04}"/>
              </a:ext>
            </a:extLst>
          </p:cNvPr>
          <p:cNvSpPr/>
          <p:nvPr/>
        </p:nvSpPr>
        <p:spPr>
          <a:xfrm>
            <a:off x="695324" y="1922403"/>
            <a:ext cx="6040025" cy="1031051"/>
          </a:xfrm>
          <a:prstGeom prst="rect">
            <a:avLst/>
          </a:prstGeom>
        </p:spPr>
        <p:txBody>
          <a:bodyPr wrap="square">
            <a:spAutoFit/>
          </a:bodyPr>
          <a:lstStyle/>
          <a:p>
            <a:pPr marL="285750" indent="-285750">
              <a:spcAft>
                <a:spcPts val="600"/>
              </a:spcAft>
              <a:buClr>
                <a:srgbClr val="1F7E9C"/>
              </a:buClr>
              <a:buFont typeface="Wingdings" panose="05000000000000000000" pitchFamily="2" charset="2"/>
              <a:buChar char="v"/>
            </a:pPr>
            <a:r>
              <a:rPr lang="it-IT" noProof="0">
                <a:latin typeface="Atkinson Hyperlegible" pitchFamily="2" charset="77"/>
                <a:ea typeface="Roboto" panose="02000000000000000000" pitchFamily="2" charset="0"/>
                <a:cs typeface="Roboto" panose="02000000000000000000" pitchFamily="2" charset="0"/>
              </a:rPr>
              <a:t>Derivazione delle equazioni del moto di un pendolo inverso su carrello e implementazione</a:t>
            </a:r>
          </a:p>
          <a:p>
            <a:pPr marL="285750" indent="-285750">
              <a:spcAft>
                <a:spcPts val="1200"/>
              </a:spcAft>
              <a:buClr>
                <a:srgbClr val="1F7E9C"/>
              </a:buClr>
              <a:buFont typeface="Wingdings" panose="05000000000000000000" pitchFamily="2" charset="2"/>
              <a:buChar char="v"/>
            </a:pPr>
            <a:r>
              <a:rPr lang="it-IT" noProof="0">
                <a:latin typeface="Atkinson Hyperlegible" pitchFamily="2" charset="77"/>
                <a:ea typeface="Roboto" panose="02000000000000000000" pitchFamily="2" charset="0"/>
                <a:cs typeface="Roboto" panose="02000000000000000000" pitchFamily="2" charset="0"/>
              </a:rPr>
              <a:t>Viene utilizzato </a:t>
            </a:r>
            <a:r>
              <a:rPr lang="it-IT" sz="2000" noProof="0">
                <a:latin typeface="Times New Roman" panose="02020603050405020304" pitchFamily="18" charset="0"/>
                <a:cs typeface="Times New Roman" panose="02020603050405020304" pitchFamily="18" charset="0"/>
              </a:rPr>
              <a:t>M</a:t>
            </a:r>
            <a:r>
              <a:rPr lang="it-IT" sz="1600" noProof="0">
                <a:latin typeface="Times New Roman" panose="02020603050405020304" pitchFamily="18" charset="0"/>
                <a:cs typeface="Times New Roman" panose="02020603050405020304" pitchFamily="18" charset="0"/>
              </a:rPr>
              <a:t>ATLAB</a:t>
            </a:r>
            <a:r>
              <a:rPr lang="it-IT" noProof="0">
                <a:latin typeface="Atkinson Hyperlegible" pitchFamily="2" charset="77"/>
                <a:ea typeface="Roboto" panose="02000000000000000000" pitchFamily="2" charset="0"/>
                <a:cs typeface="Roboto" panose="02000000000000000000" pitchFamily="2" charset="0"/>
              </a:rPr>
              <a:t> come ambiente di sviluppo.</a:t>
            </a:r>
            <a:r>
              <a:rPr lang="it-IT" noProof="0">
                <a:latin typeface="Times New Roman" panose="02020603050405020304" pitchFamily="18" charset="0"/>
                <a:cs typeface="Times New Roman" panose="02020603050405020304" pitchFamily="18" charset="0"/>
              </a:rPr>
              <a:t> </a:t>
            </a:r>
            <a:endParaRPr lang="it-IT" noProof="0">
              <a:latin typeface="Atkinson Hyperlegible" pitchFamily="2" charset="77"/>
              <a:ea typeface="Roboto" panose="02000000000000000000" pitchFamily="2" charset="0"/>
              <a:cs typeface="Roboto" panose="02000000000000000000" pitchFamily="2" charset="0"/>
            </a:endParaRPr>
          </a:p>
        </p:txBody>
      </p:sp>
      <p:sp>
        <p:nvSpPr>
          <p:cNvPr id="15" name="Rettangolo 14">
            <a:extLst>
              <a:ext uri="{FF2B5EF4-FFF2-40B4-BE49-F238E27FC236}">
                <a16:creationId xmlns:a16="http://schemas.microsoft.com/office/drawing/2014/main" id="{0C393A2B-E7A0-E10E-D141-8425653B21F8}"/>
              </a:ext>
            </a:extLst>
          </p:cNvPr>
          <p:cNvSpPr/>
          <p:nvPr/>
        </p:nvSpPr>
        <p:spPr>
          <a:xfrm>
            <a:off x="-195210" y="5943602"/>
            <a:ext cx="12387209" cy="977153"/>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16" name="Rettangolo 15">
            <a:extLst>
              <a:ext uri="{FF2B5EF4-FFF2-40B4-BE49-F238E27FC236}">
                <a16:creationId xmlns:a16="http://schemas.microsoft.com/office/drawing/2014/main" id="{DF2B74DF-F480-F674-0FBF-13EFAE072390}"/>
              </a:ext>
            </a:extLst>
          </p:cNvPr>
          <p:cNvSpPr/>
          <p:nvPr/>
        </p:nvSpPr>
        <p:spPr>
          <a:xfrm>
            <a:off x="-61301" y="5934488"/>
            <a:ext cx="12305631" cy="54425"/>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pic>
        <p:nvPicPr>
          <p:cNvPr id="10" name="Immagine 9">
            <a:extLst>
              <a:ext uri="{FF2B5EF4-FFF2-40B4-BE49-F238E27FC236}">
                <a16:creationId xmlns:a16="http://schemas.microsoft.com/office/drawing/2014/main" id="{B733FA58-FB01-0982-7513-569744B0392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426078" y="6133296"/>
            <a:ext cx="2283511" cy="566274"/>
          </a:xfrm>
          <a:prstGeom prst="rect">
            <a:avLst/>
          </a:prstGeom>
        </p:spPr>
      </p:pic>
      <p:pic>
        <p:nvPicPr>
          <p:cNvPr id="2" name="Elemento grafico 20">
            <a:extLst>
              <a:ext uri="{FF2B5EF4-FFF2-40B4-BE49-F238E27FC236}">
                <a16:creationId xmlns:a16="http://schemas.microsoft.com/office/drawing/2014/main" id="{93313851-DEBF-5B49-3A4B-99DCB10CF508}"/>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27288" t="16464" r="26240" b="19737"/>
          <a:stretch>
            <a:fillRect/>
          </a:stretch>
        </p:blipFill>
        <p:spPr bwMode="auto">
          <a:xfrm>
            <a:off x="7024463" y="1466237"/>
            <a:ext cx="4441986" cy="3718857"/>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DE63C442-7F81-A3DC-0309-71313DC323F2}"/>
                  </a:ext>
                </a:extLst>
              </p:cNvPr>
              <p:cNvSpPr txBox="1"/>
              <p:nvPr/>
            </p:nvSpPr>
            <p:spPr>
              <a:xfrm>
                <a:off x="341339" y="3189652"/>
                <a:ext cx="6538567" cy="2208490"/>
              </a:xfrm>
              <a:prstGeom prst="rect">
                <a:avLst/>
              </a:prstGeom>
              <a:noFill/>
            </p:spPr>
            <p:txBody>
              <a:bodyPr wrap="square">
                <a:spAutoFit/>
              </a:bodyPr>
              <a:lstStyle/>
              <a:p>
                <a:pPr indent="180340" algn="ctr">
                  <a:lnSpc>
                    <a:spcPct val="150000"/>
                  </a:lnSpc>
                  <a:spcAft>
                    <a:spcPts val="800"/>
                  </a:spcAft>
                  <a:buNone/>
                </a:pPr>
                <a14:m>
                  <m:oMathPara xmlns:m="http://schemas.openxmlformats.org/officeDocument/2006/math">
                    <m:oMathParaPr>
                      <m:jc m:val="centerGroup"/>
                    </m:oMathParaPr>
                    <m:oMath xmlns:m="http://schemas.openxmlformats.org/officeDocument/2006/math">
                      <m:acc>
                        <m:accPr>
                          <m:chr m:val="̈"/>
                          <m:ctrlPr>
                            <a:rPr lang="it-IT" sz="1400" i="1" kern="10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𝑥</m:t>
                          </m:r>
                        </m:e>
                      </m:acc>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𝐽</m:t>
                          </m:r>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𝐹</m:t>
                              </m:r>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𝛽</m:t>
                              </m:r>
                              <m:acc>
                                <m:accPr>
                                  <m:chr m:val="̇"/>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𝑥</m:t>
                                  </m:r>
                                </m:e>
                              </m:acc>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𝑚𝐿</m:t>
                              </m:r>
                              <m:func>
                                <m:func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it-IT" sz="1400" kern="100" noProof="0">
                                      <a:effectLst/>
                                      <a:latin typeface="Cambria Math" panose="02040503050406030204" pitchFamily="18" charset="0"/>
                                      <a:ea typeface="Times New Roman" panose="02020603050405020304" pitchFamily="18" charset="0"/>
                                      <a:cs typeface="Times New Roman" panose="02020603050405020304" pitchFamily="18" charset="0"/>
                                    </a:rPr>
                                    <m:t>sin</m:t>
                                  </m:r>
                                </m:fName>
                                <m:e>
                                  <m:d>
                                    <m:d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𝜃</m:t>
                                      </m:r>
                                    </m:e>
                                  </m:d>
                                </m:e>
                              </m:func>
                              <m:sSup>
                                <m:sSup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sSupPr>
                                <m:e>
                                  <m:acc>
                                    <m:accPr>
                                      <m:chr m:val="̇"/>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𝜃</m:t>
                                      </m:r>
                                    </m:e>
                                  </m:acc>
                                </m:e>
                                <m:sup>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2</m:t>
                                  </m:r>
                                </m:sup>
                              </m:sSup>
                            </m:e>
                          </m:d>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𝑚𝐿</m:t>
                          </m:r>
                          <m:func>
                            <m:func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it-IT" sz="1400" kern="100" noProof="0">
                                  <a:effectLst/>
                                  <a:latin typeface="Cambria Math" panose="02040503050406030204" pitchFamily="18" charset="0"/>
                                  <a:ea typeface="Times New Roman" panose="02020603050405020304" pitchFamily="18" charset="0"/>
                                  <a:cs typeface="Times New Roman" panose="02020603050405020304" pitchFamily="18" charset="0"/>
                                </a:rPr>
                                <m:t>cos</m:t>
                              </m:r>
                            </m:fName>
                            <m:e>
                              <m:d>
                                <m:d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𝜃</m:t>
                                  </m:r>
                                </m:e>
                              </m:d>
                            </m:e>
                          </m:func>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𝑚𝑔𝐿</m:t>
                          </m:r>
                          <m:func>
                            <m:func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it-IT" sz="1400" kern="100" noProof="0">
                                  <a:effectLst/>
                                  <a:latin typeface="Cambria Math" panose="02040503050406030204" pitchFamily="18" charset="0"/>
                                  <a:ea typeface="Times New Roman" panose="02020603050405020304" pitchFamily="18" charset="0"/>
                                  <a:cs typeface="Times New Roman" panose="02020603050405020304" pitchFamily="18" charset="0"/>
                                </a:rPr>
                                <m:t>sin</m:t>
                              </m:r>
                            </m:fName>
                            <m:e>
                              <m:d>
                                <m:d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𝜃</m:t>
                                  </m:r>
                                </m:e>
                              </m:d>
                            </m:e>
                          </m:func>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𝛼</m:t>
                          </m:r>
                          <m:acc>
                            <m:accPr>
                              <m:chr m:val="̇"/>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𝜃</m:t>
                              </m:r>
                            </m:e>
                          </m:acc>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num>
                        <m:den>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𝐽</m:t>
                          </m:r>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𝑀</m:t>
                              </m:r>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𝑚</m:t>
                              </m:r>
                            </m:e>
                          </m:d>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𝑚𝐿</m:t>
                                  </m:r>
                                  <m:func>
                                    <m:func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it-IT" sz="1400" kern="100" noProof="0">
                                          <a:effectLst/>
                                          <a:latin typeface="Cambria Math" panose="02040503050406030204" pitchFamily="18" charset="0"/>
                                          <a:ea typeface="Times New Roman" panose="02020603050405020304" pitchFamily="18" charset="0"/>
                                          <a:cs typeface="Times New Roman" panose="02020603050405020304" pitchFamily="18" charset="0"/>
                                        </a:rPr>
                                        <m:t>cos</m:t>
                                      </m:r>
                                    </m:fName>
                                    <m:e>
                                      <m:d>
                                        <m:d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𝜃</m:t>
                                          </m:r>
                                        </m:e>
                                      </m:d>
                                    </m:e>
                                  </m:func>
                                </m:e>
                              </m:d>
                            </m:e>
                            <m:sup>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2</m:t>
                              </m:r>
                            </m:sup>
                          </m:sSup>
                        </m:den>
                      </m:f>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it-IT" sz="1200" kern="100" noProof="0">
                  <a:effectLst/>
                  <a:latin typeface="Calibri" panose="020F0502020204030204" pitchFamily="34" charset="0"/>
                  <a:ea typeface="Calibri" panose="020F0502020204030204" pitchFamily="34" charset="0"/>
                  <a:cs typeface="Times New Roman" panose="02020603050405020304" pitchFamily="18" charset="0"/>
                </a:endParaRPr>
              </a:p>
              <a:p>
                <a:pPr indent="180340" algn="ctr">
                  <a:lnSpc>
                    <a:spcPct val="150000"/>
                  </a:lnSpc>
                  <a:spcAft>
                    <a:spcPts val="800"/>
                  </a:spcAft>
                  <a:buNone/>
                </a:pPr>
                <a14:m>
                  <m:oMathPara xmlns:m="http://schemas.openxmlformats.org/officeDocument/2006/math">
                    <m:oMathParaPr>
                      <m:jc m:val="centerGroup"/>
                    </m:oMathParaPr>
                    <m:oMath xmlns:m="http://schemas.openxmlformats.org/officeDocument/2006/math">
                      <m:acc>
                        <m:accPr>
                          <m:chr m:val="̈"/>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accPr>
                        <m:e>
                          <m:r>
                            <m:rPr>
                              <m:sty m:val="p"/>
                            </m:rPr>
                            <a:rPr lang="it-IT" sz="1400" kern="100" noProof="0">
                              <a:effectLst/>
                              <a:latin typeface="Cambria Math" panose="02040503050406030204" pitchFamily="18" charset="0"/>
                              <a:ea typeface="Times New Roman" panose="02020603050405020304" pitchFamily="18" charset="0"/>
                              <a:cs typeface="Times New Roman" panose="02020603050405020304" pitchFamily="18" charset="0"/>
                            </a:rPr>
                            <m:t>θ</m:t>
                          </m:r>
                        </m:e>
                      </m:acc>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fPr>
                        <m:num>
                          <m:d>
                            <m:d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dPr>
                            <m:e>
                              <m:r>
                                <m:rPr>
                                  <m:sty m:val="p"/>
                                </m:rPr>
                                <a:rPr lang="it-IT" sz="1400" kern="100" noProof="0">
                                  <a:effectLst/>
                                  <a:latin typeface="Cambria Math" panose="02040503050406030204" pitchFamily="18" charset="0"/>
                                  <a:ea typeface="Times New Roman" panose="02020603050405020304" pitchFamily="18" charset="0"/>
                                  <a:cs typeface="Times New Roman" panose="02020603050405020304" pitchFamily="18" charset="0"/>
                                </a:rPr>
                                <m:t>M</m:t>
                              </m:r>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it-IT" sz="1400" kern="100" noProof="0">
                                  <a:effectLst/>
                                  <a:latin typeface="Cambria Math" panose="02040503050406030204" pitchFamily="18" charset="0"/>
                                  <a:ea typeface="Times New Roman" panose="02020603050405020304" pitchFamily="18" charset="0"/>
                                  <a:cs typeface="Times New Roman" panose="02020603050405020304" pitchFamily="18" charset="0"/>
                                </a:rPr>
                                <m:t>m</m:t>
                              </m:r>
                            </m:e>
                          </m:d>
                          <m:d>
                            <m:d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𝑚𝑔𝐿</m:t>
                              </m:r>
                              <m:func>
                                <m:func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it-IT" sz="1400" kern="100" noProof="0">
                                      <a:effectLst/>
                                      <a:latin typeface="Cambria Math" panose="02040503050406030204" pitchFamily="18" charset="0"/>
                                      <a:ea typeface="Times New Roman" panose="02020603050405020304" pitchFamily="18" charset="0"/>
                                      <a:cs typeface="Times New Roman" panose="02020603050405020304" pitchFamily="18" charset="0"/>
                                    </a:rPr>
                                    <m:t>sin</m:t>
                                  </m:r>
                                </m:fName>
                                <m:e>
                                  <m:d>
                                    <m:d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𝜃</m:t>
                                      </m:r>
                                    </m:e>
                                  </m:d>
                                </m:e>
                              </m:func>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𝛼</m:t>
                              </m:r>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 </m:t>
                              </m:r>
                              <m:acc>
                                <m:accPr>
                                  <m:chr m:val="̇"/>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𝜃</m:t>
                                  </m:r>
                                </m:e>
                              </m:acc>
                            </m:e>
                          </m:d>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𝑚𝐿</m:t>
                          </m:r>
                          <m:func>
                            <m:func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it-IT" sz="1400" kern="100" noProof="0">
                                  <a:effectLst/>
                                  <a:latin typeface="Cambria Math" panose="02040503050406030204" pitchFamily="18" charset="0"/>
                                  <a:ea typeface="Times New Roman" panose="02020603050405020304" pitchFamily="18" charset="0"/>
                                  <a:cs typeface="Times New Roman" panose="02020603050405020304" pitchFamily="18" charset="0"/>
                                </a:rPr>
                                <m:t>cos</m:t>
                              </m:r>
                            </m:fName>
                            <m:e>
                              <m:d>
                                <m:d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𝜃</m:t>
                                  </m:r>
                                </m:e>
                              </m:d>
                            </m:e>
                          </m:func>
                          <m:d>
                            <m:d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𝐹</m:t>
                              </m:r>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𝛽</m:t>
                              </m:r>
                              <m:acc>
                                <m:accPr>
                                  <m:chr m:val="̇"/>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𝑥</m:t>
                                  </m:r>
                                </m:e>
                              </m:acc>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𝑚𝐿</m:t>
                              </m:r>
                              <m:func>
                                <m:func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it-IT" sz="1400" kern="100" noProof="0">
                                      <a:effectLst/>
                                      <a:latin typeface="Cambria Math" panose="02040503050406030204" pitchFamily="18" charset="0"/>
                                      <a:ea typeface="Times New Roman" panose="02020603050405020304" pitchFamily="18" charset="0"/>
                                      <a:cs typeface="Times New Roman" panose="02020603050405020304" pitchFamily="18" charset="0"/>
                                    </a:rPr>
                                    <m:t>sin</m:t>
                                  </m:r>
                                </m:fName>
                                <m:e>
                                  <m:d>
                                    <m:d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𝜃</m:t>
                                      </m:r>
                                    </m:e>
                                  </m:d>
                                </m:e>
                              </m:func>
                              <m:sSup>
                                <m:sSup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sSupPr>
                                <m:e>
                                  <m:acc>
                                    <m:accPr>
                                      <m:chr m:val="̇"/>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𝜃</m:t>
                                      </m:r>
                                    </m:e>
                                  </m:acc>
                                </m:e>
                                <m:sup>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2</m:t>
                                  </m:r>
                                </m:sup>
                              </m:sSup>
                            </m:e>
                          </m:d>
                        </m:num>
                        <m:den>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𝐽</m:t>
                          </m:r>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𝑀</m:t>
                              </m:r>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𝑚</m:t>
                              </m:r>
                            </m:e>
                          </m:d>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𝑚𝐿</m:t>
                                  </m:r>
                                  <m:func>
                                    <m:func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it-IT" sz="1400" kern="100" noProof="0">
                                          <a:effectLst/>
                                          <a:latin typeface="Cambria Math" panose="02040503050406030204" pitchFamily="18" charset="0"/>
                                          <a:ea typeface="Times New Roman" panose="02020603050405020304" pitchFamily="18" charset="0"/>
                                          <a:cs typeface="Times New Roman" panose="02020603050405020304" pitchFamily="18" charset="0"/>
                                        </a:rPr>
                                        <m:t>cos</m:t>
                                      </m:r>
                                    </m:fName>
                                    <m:e>
                                      <m:d>
                                        <m:dPr>
                                          <m:ctrlP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𝜃</m:t>
                                          </m:r>
                                        </m:e>
                                      </m:d>
                                    </m:e>
                                  </m:func>
                                </m:e>
                              </m:d>
                            </m:e>
                            <m:sup>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2</m:t>
                              </m:r>
                            </m:sup>
                          </m:sSup>
                        </m:den>
                      </m:f>
                      <m:r>
                        <a:rPr lang="it-IT" sz="1400" i="1" kern="100" noProof="0">
                          <a:effectLst/>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it-IT" sz="1200" kern="100" noProof="0">
                  <a:effectLst/>
                  <a:latin typeface="Calibri" panose="020F0502020204030204" pitchFamily="34" charset="0"/>
                  <a:ea typeface="Calibri" panose="020F0502020204030204" pitchFamily="34" charset="0"/>
                  <a:cs typeface="Times New Roman" panose="02020603050405020304" pitchFamily="18" charset="0"/>
                </a:endParaRPr>
              </a:p>
              <a:p>
                <a:pPr indent="180340" algn="ctr">
                  <a:lnSpc>
                    <a:spcPct val="150000"/>
                  </a:lnSpc>
                  <a:spcAft>
                    <a:spcPts val="800"/>
                  </a:spcAft>
                  <a:buNone/>
                </a:pPr>
                <a:r>
                  <a:rPr lang="it-IT" sz="1600" kern="100" noProof="0">
                    <a:effectLst/>
                    <a:latin typeface="Times New Roman" panose="02020603050405020304" pitchFamily="18" charset="0"/>
                    <a:ea typeface="Times New Roman" panose="02020603050405020304" pitchFamily="18" charset="0"/>
                    <a:cs typeface="Times New Roman" panose="02020603050405020304" pitchFamily="18" charset="0"/>
                  </a:rPr>
                  <a:t>Con   </a:t>
                </a:r>
                <a14:m>
                  <m:oMath xmlns:m="http://schemas.openxmlformats.org/officeDocument/2006/math">
                    <m:r>
                      <a:rPr lang="it-IT" sz="1600" i="1" kern="100" noProof="0">
                        <a:effectLst/>
                        <a:latin typeface="Cambria Math" panose="02040503050406030204" pitchFamily="18" charset="0"/>
                        <a:ea typeface="Times New Roman" panose="02020603050405020304" pitchFamily="18" charset="0"/>
                        <a:cs typeface="Times New Roman" panose="02020603050405020304" pitchFamily="18" charset="0"/>
                      </a:rPr>
                      <m:t>𝐼</m:t>
                    </m:r>
                    <m:r>
                      <a:rPr lang="it-IT" sz="16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it-IT" sz="16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it-IT" sz="1600" i="1" kern="100" noProof="0">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it-IT" sz="1600" i="1" kern="100" noProof="0">
                            <a:effectLst/>
                            <a:latin typeface="Cambria Math" panose="02040503050406030204" pitchFamily="18" charset="0"/>
                            <a:ea typeface="Times New Roman" panose="02020603050405020304" pitchFamily="18" charset="0"/>
                            <a:cs typeface="Times New Roman" panose="02020603050405020304" pitchFamily="18" charset="0"/>
                          </a:rPr>
                          <m:t>3</m:t>
                        </m:r>
                      </m:den>
                    </m:f>
                    <m:r>
                      <a:rPr lang="it-IT" sz="1600" i="1" kern="100" noProof="0">
                        <a:effectLst/>
                        <a:latin typeface="Cambria Math" panose="02040503050406030204" pitchFamily="18" charset="0"/>
                        <a:ea typeface="Times New Roman" panose="02020603050405020304" pitchFamily="18" charset="0"/>
                        <a:cs typeface="Times New Roman" panose="02020603050405020304" pitchFamily="18" charset="0"/>
                      </a:rPr>
                      <m:t>𝑚</m:t>
                    </m:r>
                    <m:sSup>
                      <m:sSupPr>
                        <m:ctrlPr>
                          <a:rPr lang="it-IT" sz="16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it-IT" sz="1600" i="1" kern="100" noProof="0">
                            <a:effectLst/>
                            <a:latin typeface="Cambria Math" panose="02040503050406030204" pitchFamily="18" charset="0"/>
                            <a:ea typeface="Times New Roman" panose="02020603050405020304" pitchFamily="18" charset="0"/>
                            <a:cs typeface="Times New Roman" panose="02020603050405020304" pitchFamily="18" charset="0"/>
                          </a:rPr>
                          <m:t>𝐿</m:t>
                        </m:r>
                      </m:e>
                      <m:sup>
                        <m:r>
                          <a:rPr lang="it-IT" sz="1600" i="1" kern="100" noProof="0">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r>
                  <a:rPr lang="it-IT" sz="1600" kern="100" noProof="0">
                    <a:effectLst/>
                    <a:latin typeface="Times New Roman" panose="02020603050405020304" pitchFamily="18" charset="0"/>
                    <a:ea typeface="Times New Roman" panose="02020603050405020304" pitchFamily="18" charset="0"/>
                    <a:cs typeface="Times New Roman" panose="02020603050405020304" pitchFamily="18" charset="0"/>
                  </a:rPr>
                  <a:t> e </a:t>
                </a:r>
                <a14:m>
                  <m:oMath xmlns:m="http://schemas.openxmlformats.org/officeDocument/2006/math">
                    <m:r>
                      <a:rPr lang="it-IT" sz="1600" i="1" kern="100" noProof="0">
                        <a:effectLst/>
                        <a:latin typeface="Cambria Math" panose="02040503050406030204" pitchFamily="18" charset="0"/>
                        <a:ea typeface="Times New Roman" panose="02020603050405020304" pitchFamily="18" charset="0"/>
                        <a:cs typeface="Times New Roman" panose="02020603050405020304" pitchFamily="18" charset="0"/>
                      </a:rPr>
                      <m:t>𝐽</m:t>
                    </m:r>
                    <m:r>
                      <a:rPr lang="it-IT" sz="16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r>
                      <a:rPr lang="it-IT" sz="1600" i="1" kern="100" noProof="0">
                        <a:effectLst/>
                        <a:latin typeface="Cambria Math" panose="02040503050406030204" pitchFamily="18" charset="0"/>
                        <a:ea typeface="Times New Roman" panose="02020603050405020304" pitchFamily="18" charset="0"/>
                        <a:cs typeface="Times New Roman" panose="02020603050405020304" pitchFamily="18" charset="0"/>
                      </a:rPr>
                      <m:t>𝐼</m:t>
                    </m:r>
                    <m:r>
                      <a:rPr lang="it-IT" sz="1600" i="1" kern="100" noProof="0">
                        <a:effectLst/>
                        <a:latin typeface="Cambria Math" panose="02040503050406030204" pitchFamily="18" charset="0"/>
                        <a:ea typeface="Times New Roman" panose="02020603050405020304" pitchFamily="18" charset="0"/>
                        <a:cs typeface="Times New Roman" panose="02020603050405020304" pitchFamily="18" charset="0"/>
                      </a:rPr>
                      <m:t>+</m:t>
                    </m:r>
                    <m:r>
                      <a:rPr lang="it-IT" sz="1600" i="1" kern="100" noProof="0">
                        <a:effectLst/>
                        <a:latin typeface="Cambria Math" panose="02040503050406030204" pitchFamily="18" charset="0"/>
                        <a:ea typeface="Times New Roman" panose="02020603050405020304" pitchFamily="18" charset="0"/>
                        <a:cs typeface="Times New Roman" panose="02020603050405020304" pitchFamily="18" charset="0"/>
                      </a:rPr>
                      <m:t>𝑚</m:t>
                    </m:r>
                    <m:sSup>
                      <m:sSupPr>
                        <m:ctrlPr>
                          <a:rPr lang="it-IT" sz="1600" i="1" kern="100" noProof="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it-IT" sz="1600" i="1" kern="100" noProof="0">
                            <a:effectLst/>
                            <a:latin typeface="Cambria Math" panose="02040503050406030204" pitchFamily="18" charset="0"/>
                            <a:ea typeface="Times New Roman" panose="02020603050405020304" pitchFamily="18" charset="0"/>
                            <a:cs typeface="Times New Roman" panose="02020603050405020304" pitchFamily="18" charset="0"/>
                          </a:rPr>
                          <m:t>𝐿</m:t>
                        </m:r>
                      </m:e>
                      <m:sup>
                        <m:r>
                          <a:rPr lang="it-IT" sz="1600" i="1" kern="100" noProof="0">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r>
                  <a:rPr lang="it-IT" sz="1600" kern="100" noProof="0">
                    <a:effectLst/>
                    <a:latin typeface="Times New Roman" panose="02020603050405020304" pitchFamily="18" charset="0"/>
                    <a:ea typeface="Times New Roman" panose="02020603050405020304" pitchFamily="18" charset="0"/>
                    <a:cs typeface="Times New Roman" panose="02020603050405020304" pitchFamily="18" charset="0"/>
                  </a:rPr>
                  <a:t>.</a:t>
                </a:r>
                <a:endParaRPr lang="it-IT" sz="1400" kern="100" noProof="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CasellaDiTesto 3">
                <a:extLst>
                  <a:ext uri="{FF2B5EF4-FFF2-40B4-BE49-F238E27FC236}">
                    <a16:creationId xmlns:a16="http://schemas.microsoft.com/office/drawing/2014/main" id="{DE63C442-7F81-A3DC-0309-71313DC323F2}"/>
                  </a:ext>
                </a:extLst>
              </p:cNvPr>
              <p:cNvSpPr txBox="1">
                <a:spLocks noRot="1" noChangeAspect="1" noMove="1" noResize="1" noEditPoints="1" noAdjustHandles="1" noChangeArrowheads="1" noChangeShapeType="1" noTextEdit="1"/>
              </p:cNvSpPr>
              <p:nvPr/>
            </p:nvSpPr>
            <p:spPr>
              <a:xfrm>
                <a:off x="341339" y="3189652"/>
                <a:ext cx="6538567" cy="2208490"/>
              </a:xfrm>
              <a:prstGeom prst="rect">
                <a:avLst/>
              </a:prstGeom>
              <a:blipFill>
                <a:blip r:embed="rId7"/>
                <a:stretch>
                  <a:fillRect/>
                </a:stretch>
              </a:blipFill>
            </p:spPr>
            <p:txBody>
              <a:bodyPr/>
              <a:lstStyle/>
              <a:p>
                <a:r>
                  <a:rPr lang="en-US">
                    <a:noFill/>
                  </a:rPr>
                  <a:t> </a:t>
                </a:r>
              </a:p>
            </p:txBody>
          </p:sp>
        </mc:Fallback>
      </mc:AlternateContent>
      <p:sp>
        <p:nvSpPr>
          <p:cNvPr id="7" name="TextBox 24">
            <a:extLst>
              <a:ext uri="{FF2B5EF4-FFF2-40B4-BE49-F238E27FC236}">
                <a16:creationId xmlns:a16="http://schemas.microsoft.com/office/drawing/2014/main" id="{07A4D2CD-ABA4-2A2A-F99C-7D669C71FC37}"/>
              </a:ext>
            </a:extLst>
          </p:cNvPr>
          <p:cNvSpPr txBox="1"/>
          <p:nvPr/>
        </p:nvSpPr>
        <p:spPr>
          <a:xfrm>
            <a:off x="7275622" y="5120988"/>
            <a:ext cx="2893812" cy="502702"/>
          </a:xfrm>
          <a:prstGeom prst="rect">
            <a:avLst/>
          </a:prstGeom>
          <a:solidFill>
            <a:schemeClr val="bg1"/>
          </a:solidFill>
          <a:effectLst/>
        </p:spPr>
        <p:txBody>
          <a:bodyPr wrap="square" rtlCol="0">
            <a:spAutoFit/>
          </a:bodyPr>
          <a:lstStyle/>
          <a:p>
            <a:pPr>
              <a:lnSpc>
                <a:spcPts val="1600"/>
              </a:lnSpc>
            </a:pPr>
            <a:r>
              <a:rPr lang="it-IT" sz="1200" b="0" i="0" noProof="0" dirty="0">
                <a:solidFill>
                  <a:schemeClr val="bg2">
                    <a:lumMod val="50000"/>
                  </a:schemeClr>
                </a:solidFill>
                <a:effectLst/>
                <a:latin typeface="Atkinson Hyperlegible" pitchFamily="2" charset="77"/>
              </a:rPr>
              <a:t>Diagramma a corpo libero di un pendolo inverso.</a:t>
            </a:r>
            <a:endParaRPr lang="it-IT" sz="1200" noProof="0" dirty="0">
              <a:solidFill>
                <a:schemeClr val="bg2">
                  <a:lumMod val="50000"/>
                </a:schemeClr>
              </a:solidFill>
              <a:latin typeface="Atkinson Hyperlegible" pitchFamily="2" charset="77"/>
              <a:ea typeface="PT Sans" panose="020B0503020203020204" pitchFamily="34" charset="0"/>
              <a:cs typeface="Poppins" panose="00000500000000000000" pitchFamily="50" charset="0"/>
            </a:endParaRPr>
          </a:p>
        </p:txBody>
      </p:sp>
      <p:sp>
        <p:nvSpPr>
          <p:cNvPr id="9" name="Rettangolo 8">
            <a:extLst>
              <a:ext uri="{FF2B5EF4-FFF2-40B4-BE49-F238E27FC236}">
                <a16:creationId xmlns:a16="http://schemas.microsoft.com/office/drawing/2014/main" id="{4BB526B4-BEB7-06AA-B993-C693F137066F}"/>
              </a:ext>
            </a:extLst>
          </p:cNvPr>
          <p:cNvSpPr/>
          <p:nvPr/>
        </p:nvSpPr>
        <p:spPr>
          <a:xfrm>
            <a:off x="7226705" y="5120988"/>
            <a:ext cx="48917" cy="492059"/>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Tree>
    <p:extLst>
      <p:ext uri="{BB962C8B-B14F-4D97-AF65-F5344CB8AC3E}">
        <p14:creationId xmlns:p14="http://schemas.microsoft.com/office/powerpoint/2010/main" val="5582188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44FC2-F536-671C-0CEC-E1AA8271A85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4" name="Rectangle 4">
                <a:extLst>
                  <a:ext uri="{FF2B5EF4-FFF2-40B4-BE49-F238E27FC236}">
                    <a16:creationId xmlns:a16="http://schemas.microsoft.com/office/drawing/2014/main" id="{7DB732DF-8084-F31B-0227-41CA43EA2D7E}"/>
                  </a:ext>
                </a:extLst>
              </p:cNvPr>
              <p:cNvSpPr/>
              <p:nvPr/>
            </p:nvSpPr>
            <p:spPr>
              <a:xfrm>
                <a:off x="0" y="2144033"/>
                <a:ext cx="5352911" cy="2846933"/>
              </a:xfrm>
              <a:prstGeom prst="rect">
                <a:avLst/>
              </a:prstGeom>
            </p:spPr>
            <p:txBody>
              <a:bodyPr wrap="square" numCol="1">
                <a:spAutoFit/>
              </a:bodyPr>
              <a:lstStyle/>
              <a:p>
                <a:pPr marL="958833" lvl="1" indent="-285750">
                  <a:spcAft>
                    <a:spcPts val="1200"/>
                  </a:spcAft>
                  <a:buClr>
                    <a:srgbClr val="1F7E9C"/>
                  </a:buClr>
                  <a:buFont typeface="Wingdings" panose="05000000000000000000" pitchFamily="2" charset="2"/>
                  <a:buChar char="v"/>
                </a:pPr>
                <a:r>
                  <a:rPr lang="it-IT" dirty="0">
                    <a:latin typeface="Atkinson Hyperlegible"/>
                    <a:ea typeface="Open Sans Condensed Light"/>
                    <a:cs typeface="Open Sans Condensed Light"/>
                  </a:rPr>
                  <a:t>Utilizzo del solutore numerico RK-4</a:t>
                </a:r>
              </a:p>
              <a:p>
                <a:pPr marL="958833" lvl="1" indent="-285750">
                  <a:spcAft>
                    <a:spcPts val="1200"/>
                  </a:spcAft>
                  <a:buClr>
                    <a:srgbClr val="1F7E9C"/>
                  </a:buClr>
                  <a:buFont typeface="Wingdings" panose="05000000000000000000" pitchFamily="2" charset="2"/>
                  <a:buChar char="v"/>
                </a:pPr>
                <a:r>
                  <a:rPr lang="it-IT" dirty="0"/>
                  <a:t>Passo di simulazione </a:t>
                </a:r>
                <a14:m>
                  <m:oMath xmlns:m="http://schemas.openxmlformats.org/officeDocument/2006/math">
                    <m:r>
                      <a:rPr lang="it-IT" i="1">
                        <a:latin typeface="Cambria Math" panose="02040503050406030204" pitchFamily="18" charset="0"/>
                      </a:rPr>
                      <m:t>𝑑𝑡</m:t>
                    </m:r>
                    <m:r>
                      <a:rPr lang="it-IT" i="1">
                        <a:latin typeface="Cambria Math" panose="02040503050406030204" pitchFamily="18" charset="0"/>
                      </a:rPr>
                      <m:t>=</m:t>
                    </m:r>
                    <m:sSup>
                      <m:sSupPr>
                        <m:ctrlPr>
                          <a:rPr lang="it-IT" i="1">
                            <a:latin typeface="Cambria Math" panose="02040503050406030204" pitchFamily="18" charset="0"/>
                          </a:rPr>
                        </m:ctrlPr>
                      </m:sSupPr>
                      <m:e>
                        <m:r>
                          <a:rPr lang="it-IT" i="1">
                            <a:latin typeface="Cambria Math" panose="02040503050406030204" pitchFamily="18" charset="0"/>
                          </a:rPr>
                          <m:t>10</m:t>
                        </m:r>
                      </m:e>
                      <m:sup>
                        <m:r>
                          <a:rPr lang="it-IT" i="1">
                            <a:latin typeface="Cambria Math" panose="02040503050406030204" pitchFamily="18" charset="0"/>
                          </a:rPr>
                          <m:t>−3</m:t>
                        </m:r>
                      </m:sup>
                    </m:sSup>
                    <m:r>
                      <a:rPr lang="it-IT" b="0" i="1" smtClean="0">
                        <a:latin typeface="Cambria Math" panose="02040503050406030204" pitchFamily="18" charset="0"/>
                      </a:rPr>
                      <m:t>𝑠</m:t>
                    </m:r>
                  </m:oMath>
                </a14:m>
                <a:endParaRPr lang="it-IT" dirty="0"/>
              </a:p>
              <a:p>
                <a:pPr marL="958833" lvl="1" indent="-285750">
                  <a:spcAft>
                    <a:spcPts val="1200"/>
                  </a:spcAft>
                  <a:buClr>
                    <a:srgbClr val="1F7E9C"/>
                  </a:buClr>
                  <a:buFont typeface="Wingdings" panose="05000000000000000000" pitchFamily="2" charset="2"/>
                  <a:buChar char="v"/>
                </a:pPr>
                <a:r>
                  <a:rPr lang="it-IT" dirty="0"/>
                  <a:t>Periodo di loop del controllore </a:t>
                </a:r>
                <a14:m>
                  <m:oMath xmlns:m="http://schemas.openxmlformats.org/officeDocument/2006/math">
                    <m:sSub>
                      <m:sSubPr>
                        <m:ctrlPr>
                          <a:rPr lang="it-IT" i="1">
                            <a:latin typeface="Cambria Math" panose="02040503050406030204" pitchFamily="18" charset="0"/>
                          </a:rPr>
                        </m:ctrlPr>
                      </m:sSubPr>
                      <m:e>
                        <m:r>
                          <a:rPr lang="it-IT" i="1">
                            <a:latin typeface="Cambria Math" panose="02040503050406030204" pitchFamily="18" charset="0"/>
                          </a:rPr>
                          <m:t>𝑇</m:t>
                        </m:r>
                      </m:e>
                      <m:sub>
                        <m:r>
                          <a:rPr lang="it-IT" i="1">
                            <a:latin typeface="Cambria Math" panose="02040503050406030204" pitchFamily="18" charset="0"/>
                          </a:rPr>
                          <m:t>𝑐</m:t>
                        </m:r>
                      </m:sub>
                    </m:sSub>
                    <m:r>
                      <a:rPr lang="it-IT" i="1">
                        <a:latin typeface="Cambria Math" panose="02040503050406030204" pitchFamily="18" charset="0"/>
                      </a:rPr>
                      <m:t>=5×</m:t>
                    </m:r>
                    <m:sSup>
                      <m:sSupPr>
                        <m:ctrlPr>
                          <a:rPr lang="it-IT" i="1">
                            <a:latin typeface="Cambria Math" panose="02040503050406030204" pitchFamily="18" charset="0"/>
                          </a:rPr>
                        </m:ctrlPr>
                      </m:sSupPr>
                      <m:e>
                        <m:r>
                          <a:rPr lang="it-IT" i="1">
                            <a:latin typeface="Cambria Math" panose="02040503050406030204" pitchFamily="18" charset="0"/>
                          </a:rPr>
                          <m:t>10</m:t>
                        </m:r>
                      </m:e>
                      <m:sup>
                        <m:r>
                          <a:rPr lang="it-IT" i="1">
                            <a:latin typeface="Cambria Math" panose="02040503050406030204" pitchFamily="18" charset="0"/>
                          </a:rPr>
                          <m:t>−3</m:t>
                        </m:r>
                      </m:sup>
                    </m:sSup>
                    <m:r>
                      <a:rPr lang="it-IT" b="0" i="1" smtClean="0">
                        <a:latin typeface="Cambria Math" panose="02040503050406030204" pitchFamily="18" charset="0"/>
                      </a:rPr>
                      <m:t>𝑠</m:t>
                    </m:r>
                  </m:oMath>
                </a14:m>
                <a:endParaRPr lang="it-IT" dirty="0"/>
              </a:p>
              <a:p>
                <a:pPr marL="958833" lvl="1" indent="-285750">
                  <a:spcAft>
                    <a:spcPts val="1200"/>
                  </a:spcAft>
                  <a:buClr>
                    <a:srgbClr val="1F7E9C"/>
                  </a:buClr>
                  <a:buFont typeface="Wingdings" panose="05000000000000000000" pitchFamily="2" charset="2"/>
                  <a:buChar char="v"/>
                </a:pPr>
                <a:r>
                  <a:rPr lang="it-IT" dirty="0">
                    <a:cs typeface="Times New Roman" panose="02020603050405020304" pitchFamily="18" charset="0"/>
                  </a:rPr>
                  <a:t>Lunghezza asta </a:t>
                </a:r>
                <a14:m>
                  <m:oMath xmlns:m="http://schemas.openxmlformats.org/officeDocument/2006/math">
                    <m:r>
                      <a:rPr lang="it-IT" i="1">
                        <a:latin typeface="Cambria Math" panose="02040503050406030204" pitchFamily="18" charset="0"/>
                        <a:cs typeface="Times New Roman" panose="02020603050405020304" pitchFamily="18" charset="0"/>
                      </a:rPr>
                      <m:t>40</m:t>
                    </m:r>
                    <m:r>
                      <a:rPr lang="it-IT" i="1">
                        <a:latin typeface="Cambria Math" panose="02040503050406030204" pitchFamily="18" charset="0"/>
                        <a:cs typeface="Times New Roman" panose="02020603050405020304" pitchFamily="18" charset="0"/>
                      </a:rPr>
                      <m:t>𝑐𝑚</m:t>
                    </m:r>
                  </m:oMath>
                </a14:m>
                <a:r>
                  <a:rPr lang="it-IT" dirty="0"/>
                  <a:t>, di massa</a:t>
                </a:r>
                <a14:m>
                  <m:oMath xmlns:m="http://schemas.openxmlformats.org/officeDocument/2006/math">
                    <m:r>
                      <a:rPr lang="it-IT">
                        <a:latin typeface="Cambria Math" panose="02040503050406030204" pitchFamily="18" charset="0"/>
                      </a:rPr>
                      <m:t> </m:t>
                    </m:r>
                    <m:r>
                      <a:rPr lang="it-IT" i="1">
                        <a:latin typeface="Cambria Math" panose="02040503050406030204" pitchFamily="18" charset="0"/>
                      </a:rPr>
                      <m:t>𝑚</m:t>
                    </m:r>
                    <m:r>
                      <a:rPr lang="it-IT" i="1">
                        <a:latin typeface="Cambria Math" panose="02040503050406030204" pitchFamily="18" charset="0"/>
                      </a:rPr>
                      <m:t>=0.3</m:t>
                    </m:r>
                    <m:r>
                      <a:rPr lang="it-IT" i="1">
                        <a:latin typeface="Cambria Math" panose="02040503050406030204" pitchFamily="18" charset="0"/>
                      </a:rPr>
                      <m:t>𝑘𝑔</m:t>
                    </m:r>
                  </m:oMath>
                </a14:m>
                <a:endParaRPr lang="it-IT" dirty="0"/>
              </a:p>
              <a:p>
                <a:pPr marL="958833" lvl="1" indent="-285750">
                  <a:spcAft>
                    <a:spcPts val="1200"/>
                  </a:spcAft>
                  <a:buClr>
                    <a:srgbClr val="1F7E9C"/>
                  </a:buClr>
                  <a:buFont typeface="Wingdings" panose="05000000000000000000" pitchFamily="2" charset="2"/>
                  <a:buChar char="v"/>
                </a:pPr>
                <a:r>
                  <a:rPr lang="it-IT" dirty="0"/>
                  <a:t>Massa del carrello </a:t>
                </a:r>
                <a14:m>
                  <m:oMath xmlns:m="http://schemas.openxmlformats.org/officeDocument/2006/math">
                    <m:r>
                      <a:rPr lang="it-IT" i="1">
                        <a:latin typeface="Cambria Math" panose="02040503050406030204" pitchFamily="18" charset="0"/>
                      </a:rPr>
                      <m:t>𝑀</m:t>
                    </m:r>
                    <m:r>
                      <a:rPr lang="it-IT" i="1">
                        <a:latin typeface="Cambria Math" panose="02040503050406030204" pitchFamily="18" charset="0"/>
                      </a:rPr>
                      <m:t>=1</m:t>
                    </m:r>
                    <m:r>
                      <a:rPr lang="it-IT" i="1">
                        <a:latin typeface="Cambria Math" panose="02040503050406030204" pitchFamily="18" charset="0"/>
                      </a:rPr>
                      <m:t>𝑘𝑔</m:t>
                    </m:r>
                  </m:oMath>
                </a14:m>
                <a:r>
                  <a:rPr lang="it-IT" dirty="0"/>
                  <a:t> </a:t>
                </a:r>
              </a:p>
              <a:p>
                <a:pPr marL="594345" indent="-530847">
                  <a:spcBef>
                    <a:spcPts val="600"/>
                  </a:spcBef>
                  <a:buFont typeface="Wingdings" panose="05000000000000000000" pitchFamily="2" charset="2"/>
                  <a:buChar char="Ø"/>
                </a:pPr>
                <a:endParaRPr lang="it-IT" sz="1600" noProof="0" dirty="0">
                  <a:latin typeface="Atkinson Hyperlegible"/>
                </a:endParaRPr>
              </a:p>
            </p:txBody>
          </p:sp>
        </mc:Choice>
        <mc:Fallback xmlns="">
          <p:sp>
            <p:nvSpPr>
              <p:cNvPr id="24" name="Rectangle 4">
                <a:extLst>
                  <a:ext uri="{FF2B5EF4-FFF2-40B4-BE49-F238E27FC236}">
                    <a16:creationId xmlns:a16="http://schemas.microsoft.com/office/drawing/2014/main" id="{7DB732DF-8084-F31B-0227-41CA43EA2D7E}"/>
                  </a:ext>
                </a:extLst>
              </p:cNvPr>
              <p:cNvSpPr>
                <a:spLocks noRot="1" noChangeAspect="1" noMove="1" noResize="1" noEditPoints="1" noAdjustHandles="1" noChangeArrowheads="1" noChangeShapeType="1" noTextEdit="1"/>
              </p:cNvSpPr>
              <p:nvPr/>
            </p:nvSpPr>
            <p:spPr>
              <a:xfrm>
                <a:off x="0" y="2144033"/>
                <a:ext cx="5352911" cy="2846933"/>
              </a:xfrm>
              <a:prstGeom prst="rect">
                <a:avLst/>
              </a:prstGeom>
              <a:blipFill>
                <a:blip r:embed="rId3"/>
                <a:stretch>
                  <a:fillRect t="-1285"/>
                </a:stretch>
              </a:blipFill>
            </p:spPr>
            <p:txBody>
              <a:bodyPr/>
              <a:lstStyle/>
              <a:p>
                <a:r>
                  <a:rPr lang="it-IT">
                    <a:noFill/>
                  </a:rPr>
                  <a:t> </a:t>
                </a:r>
              </a:p>
            </p:txBody>
          </p:sp>
        </mc:Fallback>
      </mc:AlternateContent>
      <p:sp>
        <p:nvSpPr>
          <p:cNvPr id="11" name="Rettangolo 10">
            <a:extLst>
              <a:ext uri="{FF2B5EF4-FFF2-40B4-BE49-F238E27FC236}">
                <a16:creationId xmlns:a16="http://schemas.microsoft.com/office/drawing/2014/main" id="{C3F4FF3D-BC41-46EA-61C7-348B2F39CEAA}"/>
              </a:ext>
            </a:extLst>
          </p:cNvPr>
          <p:cNvSpPr/>
          <p:nvPr/>
        </p:nvSpPr>
        <p:spPr>
          <a:xfrm>
            <a:off x="-195210" y="5943602"/>
            <a:ext cx="12387209" cy="977153"/>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15" name="Rectangle 4">
            <a:extLst>
              <a:ext uri="{FF2B5EF4-FFF2-40B4-BE49-F238E27FC236}">
                <a16:creationId xmlns:a16="http://schemas.microsoft.com/office/drawing/2014/main" id="{6C112094-5E3A-2B02-AD01-FB2F79CB0067}"/>
              </a:ext>
            </a:extLst>
          </p:cNvPr>
          <p:cNvSpPr/>
          <p:nvPr/>
        </p:nvSpPr>
        <p:spPr>
          <a:xfrm>
            <a:off x="695325" y="621119"/>
            <a:ext cx="5619750" cy="769441"/>
          </a:xfrm>
          <a:prstGeom prst="rect">
            <a:avLst/>
          </a:prstGeom>
        </p:spPr>
        <p:txBody>
          <a:bodyPr wrap="square">
            <a:spAutoFit/>
          </a:bodyPr>
          <a:lstStyle/>
          <a:p>
            <a:r>
              <a:rPr lang="it-IT" sz="2200" b="1" noProof="0" dirty="0">
                <a:solidFill>
                  <a:srgbClr val="424242"/>
                </a:solidFill>
                <a:latin typeface="Atkinson Hyperlegible" pitchFamily="2" charset="77"/>
                <a:ea typeface="Roboto" panose="02000000000000000000" pitchFamily="2" charset="0"/>
                <a:cs typeface="Roboto" panose="02000000000000000000" pitchFamily="2" charset="0"/>
              </a:rPr>
              <a:t>Sviluppo dell’Ambiente di Simulazione</a:t>
            </a:r>
            <a:br>
              <a:rPr lang="it-IT" sz="2200" b="1" noProof="0" dirty="0">
                <a:solidFill>
                  <a:srgbClr val="424242"/>
                </a:solidFill>
                <a:latin typeface="Atkinson Hyperlegible" pitchFamily="2" charset="77"/>
                <a:ea typeface="Roboto" panose="02000000000000000000" pitchFamily="2" charset="0"/>
                <a:cs typeface="Roboto" panose="02000000000000000000" pitchFamily="2" charset="0"/>
              </a:rPr>
            </a:br>
            <a:r>
              <a:rPr lang="it-IT" sz="2200" b="1" dirty="0">
                <a:latin typeface="Atkinson Hyperlegible" pitchFamily="2" charset="77"/>
                <a:ea typeface="Roboto" panose="02000000000000000000" pitchFamily="2" charset="0"/>
                <a:cs typeface="Roboto" panose="02000000000000000000" pitchFamily="2" charset="0"/>
              </a:rPr>
              <a:t>– </a:t>
            </a:r>
            <a:r>
              <a:rPr lang="it-IT" sz="2200" b="1" noProof="0" dirty="0">
                <a:solidFill>
                  <a:srgbClr val="424242"/>
                </a:solidFill>
                <a:latin typeface="Atkinson Hyperlegible" pitchFamily="2" charset="77"/>
                <a:ea typeface="Roboto" panose="02000000000000000000" pitchFamily="2" charset="0"/>
                <a:cs typeface="Roboto" panose="02000000000000000000" pitchFamily="2" charset="0"/>
              </a:rPr>
              <a:t>Specifiche di Simulazione</a:t>
            </a:r>
            <a:endParaRPr lang="it-IT" sz="2200" b="1" noProof="0" dirty="0">
              <a:latin typeface="Atkinson Hyperlegible" pitchFamily="2" charset="77"/>
              <a:ea typeface="Roboto" panose="02000000000000000000" pitchFamily="2" charset="0"/>
              <a:cs typeface="Roboto" panose="02000000000000000000" pitchFamily="2" charset="0"/>
            </a:endParaRPr>
          </a:p>
        </p:txBody>
      </p:sp>
      <p:sp>
        <p:nvSpPr>
          <p:cNvPr id="18" name="Rettangolo 17">
            <a:extLst>
              <a:ext uri="{FF2B5EF4-FFF2-40B4-BE49-F238E27FC236}">
                <a16:creationId xmlns:a16="http://schemas.microsoft.com/office/drawing/2014/main" id="{4FDA666C-853B-891E-0939-65387868123A}"/>
              </a:ext>
            </a:extLst>
          </p:cNvPr>
          <p:cNvSpPr/>
          <p:nvPr/>
        </p:nvSpPr>
        <p:spPr>
          <a:xfrm>
            <a:off x="-61301" y="5934488"/>
            <a:ext cx="12305631" cy="54425"/>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pic>
        <p:nvPicPr>
          <p:cNvPr id="21" name="Immagine 20">
            <a:extLst>
              <a:ext uri="{FF2B5EF4-FFF2-40B4-BE49-F238E27FC236}">
                <a16:creationId xmlns:a16="http://schemas.microsoft.com/office/drawing/2014/main" id="{BE59F3E3-1367-1387-4975-67873176C3F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426078" y="6133296"/>
            <a:ext cx="2283511" cy="566274"/>
          </a:xfrm>
          <a:prstGeom prst="rect">
            <a:avLst/>
          </a:prstGeom>
        </p:spPr>
      </p:pic>
      <p:pic>
        <p:nvPicPr>
          <p:cNvPr id="3" name="Immagine 2">
            <a:extLst>
              <a:ext uri="{FF2B5EF4-FFF2-40B4-BE49-F238E27FC236}">
                <a16:creationId xmlns:a16="http://schemas.microsoft.com/office/drawing/2014/main" id="{A6C9EC57-2DC4-DDC4-65A4-D4FC1A9E60C4}"/>
              </a:ext>
            </a:extLst>
          </p:cNvPr>
          <p:cNvPicPr>
            <a:picLocks noChangeAspect="1"/>
          </p:cNvPicPr>
          <p:nvPr/>
        </p:nvPicPr>
        <p:blipFill>
          <a:blip r:embed="rId5"/>
          <a:srcRect b="33066"/>
          <a:stretch>
            <a:fillRect/>
          </a:stretch>
        </p:blipFill>
        <p:spPr>
          <a:xfrm>
            <a:off x="5551726" y="1289586"/>
            <a:ext cx="6262639" cy="3827841"/>
          </a:xfrm>
          <a:prstGeom prst="rect">
            <a:avLst/>
          </a:prstGeom>
        </p:spPr>
      </p:pic>
      <p:sp>
        <p:nvSpPr>
          <p:cNvPr id="4" name="TextBox 24">
            <a:extLst>
              <a:ext uri="{FF2B5EF4-FFF2-40B4-BE49-F238E27FC236}">
                <a16:creationId xmlns:a16="http://schemas.microsoft.com/office/drawing/2014/main" id="{EED349F1-00D6-993E-5BE6-66A8B2B62330}"/>
              </a:ext>
            </a:extLst>
          </p:cNvPr>
          <p:cNvSpPr txBox="1"/>
          <p:nvPr/>
        </p:nvSpPr>
        <p:spPr>
          <a:xfrm>
            <a:off x="7275622" y="5120988"/>
            <a:ext cx="2998316" cy="502702"/>
          </a:xfrm>
          <a:prstGeom prst="rect">
            <a:avLst/>
          </a:prstGeom>
          <a:noFill/>
          <a:effectLst/>
        </p:spPr>
        <p:txBody>
          <a:bodyPr wrap="square" rtlCol="0">
            <a:spAutoFit/>
          </a:bodyPr>
          <a:lstStyle/>
          <a:p>
            <a:pPr>
              <a:lnSpc>
                <a:spcPts val="1600"/>
              </a:lnSpc>
            </a:pPr>
            <a:r>
              <a:rPr lang="it-IT" sz="1200" b="0" i="0" noProof="0" dirty="0">
                <a:solidFill>
                  <a:schemeClr val="bg2">
                    <a:lumMod val="50000"/>
                  </a:schemeClr>
                </a:solidFill>
                <a:effectLst/>
                <a:latin typeface="Atkinson Hyperlegible" pitchFamily="2" charset="77"/>
              </a:rPr>
              <a:t>Simulazione del sistema libero, senza alcun ingresso di controllo </a:t>
            </a:r>
            <a:r>
              <a:rPr lang="it-IT" sz="1200" b="0" i="1" noProof="0" dirty="0">
                <a:solidFill>
                  <a:schemeClr val="bg2">
                    <a:lumMod val="50000"/>
                  </a:schemeClr>
                </a:solidFill>
                <a:effectLst/>
                <a:latin typeface="Atkinson Hyperlegible" pitchFamily="2" charset="77"/>
              </a:rPr>
              <a:t>(</a:t>
            </a:r>
            <a:r>
              <a:rPr lang="it-IT" sz="1200" b="0" i="1" noProof="0" dirty="0" err="1">
                <a:solidFill>
                  <a:schemeClr val="bg2">
                    <a:lumMod val="50000"/>
                  </a:schemeClr>
                </a:solidFill>
                <a:effectLst/>
                <a:latin typeface="Atkinson Hyperlegible" pitchFamily="2" charset="77"/>
              </a:rPr>
              <a:t>Sanity</a:t>
            </a:r>
            <a:r>
              <a:rPr lang="it-IT" sz="1200" i="1" dirty="0">
                <a:solidFill>
                  <a:schemeClr val="bg2">
                    <a:lumMod val="50000"/>
                  </a:schemeClr>
                </a:solidFill>
                <a:latin typeface="Atkinson Hyperlegible" pitchFamily="2" charset="77"/>
              </a:rPr>
              <a:t>-check).</a:t>
            </a:r>
            <a:endParaRPr lang="it-IT" sz="1200" noProof="0" dirty="0">
              <a:solidFill>
                <a:schemeClr val="bg2">
                  <a:lumMod val="50000"/>
                </a:schemeClr>
              </a:solidFill>
              <a:latin typeface="Atkinson Hyperlegible" pitchFamily="2" charset="77"/>
              <a:ea typeface="PT Sans" panose="020B0503020203020204" pitchFamily="34" charset="0"/>
              <a:cs typeface="Poppins" panose="00000500000000000000" pitchFamily="50" charset="0"/>
            </a:endParaRPr>
          </a:p>
        </p:txBody>
      </p:sp>
      <p:sp>
        <p:nvSpPr>
          <p:cNvPr id="5" name="Rettangolo 4">
            <a:extLst>
              <a:ext uri="{FF2B5EF4-FFF2-40B4-BE49-F238E27FC236}">
                <a16:creationId xmlns:a16="http://schemas.microsoft.com/office/drawing/2014/main" id="{C1C58DC5-5F60-84CD-7246-6DA293A49AFA}"/>
              </a:ext>
            </a:extLst>
          </p:cNvPr>
          <p:cNvSpPr/>
          <p:nvPr/>
        </p:nvSpPr>
        <p:spPr>
          <a:xfrm>
            <a:off x="7226705" y="5120988"/>
            <a:ext cx="48917" cy="492059"/>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Tree>
    <p:extLst>
      <p:ext uri="{BB962C8B-B14F-4D97-AF65-F5344CB8AC3E}">
        <p14:creationId xmlns:p14="http://schemas.microsoft.com/office/powerpoint/2010/main" val="8119507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22D88-AD1E-7061-21F3-28544A9977AE}"/>
            </a:ext>
          </a:extLst>
        </p:cNvPr>
        <p:cNvGrpSpPr/>
        <p:nvPr/>
      </p:nvGrpSpPr>
      <p:grpSpPr>
        <a:xfrm>
          <a:off x="0" y="0"/>
          <a:ext cx="0" cy="0"/>
          <a:chOff x="0" y="0"/>
          <a:chExt cx="0" cy="0"/>
        </a:xfrm>
      </p:grpSpPr>
      <p:pic>
        <p:nvPicPr>
          <p:cNvPr id="8" name="Picture 2" descr="1: Diagram of a classic PID controller">
            <a:extLst>
              <a:ext uri="{FF2B5EF4-FFF2-40B4-BE49-F238E27FC236}">
                <a16:creationId xmlns:a16="http://schemas.microsoft.com/office/drawing/2014/main" id="{2A046756-2562-6D7C-8982-042FD51B76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2627" y="2152688"/>
            <a:ext cx="5446901" cy="2249250"/>
          </a:xfrm>
          <a:prstGeom prst="rect">
            <a:avLst/>
          </a:prstGeom>
          <a:noFill/>
          <a:extLst>
            <a:ext uri="{909E8E84-426E-40DD-AFC4-6F175D3DCCD1}">
              <a14:hiddenFill xmlns:a14="http://schemas.microsoft.com/office/drawing/2010/main">
                <a:solidFill>
                  <a:srgbClr val="FFFFFF"/>
                </a:solidFill>
              </a14:hiddenFill>
            </a:ext>
          </a:extLst>
        </p:spPr>
      </p:pic>
      <p:sp>
        <p:nvSpPr>
          <p:cNvPr id="58" name="Rettangolo 57">
            <a:extLst>
              <a:ext uri="{FF2B5EF4-FFF2-40B4-BE49-F238E27FC236}">
                <a16:creationId xmlns:a16="http://schemas.microsoft.com/office/drawing/2014/main" id="{3F63695D-641B-25C9-82B9-44769B0D3428}"/>
              </a:ext>
            </a:extLst>
          </p:cNvPr>
          <p:cNvSpPr/>
          <p:nvPr/>
        </p:nvSpPr>
        <p:spPr>
          <a:xfrm>
            <a:off x="-294968" y="-32856"/>
            <a:ext cx="12993277" cy="1139411"/>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23" name="Rectangle 4">
            <a:extLst>
              <a:ext uri="{FF2B5EF4-FFF2-40B4-BE49-F238E27FC236}">
                <a16:creationId xmlns:a16="http://schemas.microsoft.com/office/drawing/2014/main" id="{7B8C79A3-641D-29EE-E37C-91B1C50500D8}"/>
              </a:ext>
            </a:extLst>
          </p:cNvPr>
          <p:cNvSpPr/>
          <p:nvPr/>
        </p:nvSpPr>
        <p:spPr>
          <a:xfrm>
            <a:off x="695324" y="621119"/>
            <a:ext cx="8879750" cy="321242"/>
          </a:xfrm>
          <a:prstGeom prst="rect">
            <a:avLst/>
          </a:prstGeom>
        </p:spPr>
        <p:txBody>
          <a:bodyPr wrap="square">
            <a:spAutoFit/>
          </a:bodyPr>
          <a:lstStyle/>
          <a:p>
            <a:pPr>
              <a:lnSpc>
                <a:spcPts val="1500"/>
              </a:lnSpc>
            </a:pPr>
            <a:r>
              <a:rPr lang="it-IT" sz="2200" b="1" noProof="0" dirty="0">
                <a:solidFill>
                  <a:schemeClr val="bg1"/>
                </a:solidFill>
                <a:latin typeface="Atkinson Hyperlegible" pitchFamily="2" charset="77"/>
                <a:ea typeface="Roboto" panose="02000000000000000000" pitchFamily="2" charset="0"/>
                <a:cs typeface="Roboto" panose="02000000000000000000" pitchFamily="2" charset="0"/>
              </a:rPr>
              <a:t>Controllore con PID – Richiami e Architettura a Doppio Ciclo</a:t>
            </a:r>
          </a:p>
        </p:txBody>
      </p:sp>
      <mc:AlternateContent xmlns:mc="http://schemas.openxmlformats.org/markup-compatibility/2006">
        <mc:Choice xmlns:a14="http://schemas.microsoft.com/office/drawing/2010/main" Requires="a14">
          <p:sp>
            <p:nvSpPr>
              <p:cNvPr id="24" name="Rectangle 4">
                <a:extLst>
                  <a:ext uri="{FF2B5EF4-FFF2-40B4-BE49-F238E27FC236}">
                    <a16:creationId xmlns:a16="http://schemas.microsoft.com/office/drawing/2014/main" id="{2EDC696D-C651-62E4-9708-3ED2A135EBEF}"/>
                  </a:ext>
                </a:extLst>
              </p:cNvPr>
              <p:cNvSpPr/>
              <p:nvPr/>
            </p:nvSpPr>
            <p:spPr>
              <a:xfrm>
                <a:off x="695324" y="1661869"/>
                <a:ext cx="6572278" cy="4177169"/>
              </a:xfrm>
              <a:prstGeom prst="rect">
                <a:avLst/>
              </a:prstGeom>
            </p:spPr>
            <p:txBody>
              <a:bodyPr wrap="square">
                <a:spAutoFit/>
              </a:bodyPr>
              <a:lstStyle/>
              <a:p>
                <a:pPr marL="285750" indent="-285750">
                  <a:buClr>
                    <a:srgbClr val="1F7E9C"/>
                  </a:buClr>
                  <a:buFont typeface="Wingdings" panose="05000000000000000000" pitchFamily="2" charset="2"/>
                  <a:buChar char="v"/>
                </a:pPr>
                <a:r>
                  <a:rPr lang="it-IT" noProof="0" dirty="0">
                    <a:solidFill>
                      <a:srgbClr val="424242"/>
                    </a:solidFill>
                    <a:latin typeface="Atkinson Hyperlegible" pitchFamily="2" charset="77"/>
                    <a:ea typeface="Roboto" panose="02000000000000000000" pitchFamily="2" charset="0"/>
                    <a:cs typeface="Roboto" panose="02000000000000000000" pitchFamily="2" charset="0"/>
                  </a:rPr>
                  <a:t>Controllore Proporzionale-Derivativo-Integrativo, regola una variabile di processo, confrontando il valore letto con quello desiderato (</a:t>
                </a:r>
                <a:r>
                  <a:rPr lang="it-IT" i="1" noProof="0" dirty="0" err="1">
                    <a:solidFill>
                      <a:srgbClr val="424242"/>
                    </a:solidFill>
                    <a:latin typeface="Atkinson Hyperlegible" pitchFamily="2" charset="77"/>
                    <a:ea typeface="Roboto" panose="02000000000000000000" pitchFamily="2" charset="0"/>
                    <a:cs typeface="Roboto" panose="02000000000000000000" pitchFamily="2" charset="0"/>
                  </a:rPr>
                  <a:t>setpoint</a:t>
                </a:r>
                <a:r>
                  <a:rPr lang="it-IT" noProof="0" dirty="0">
                    <a:solidFill>
                      <a:srgbClr val="424242"/>
                    </a:solidFill>
                    <a:latin typeface="Atkinson Hyperlegible" pitchFamily="2" charset="77"/>
                    <a:ea typeface="Roboto" panose="02000000000000000000" pitchFamily="2" charset="0"/>
                    <a:cs typeface="Roboto" panose="02000000000000000000" pitchFamily="2" charset="0"/>
                  </a:rPr>
                  <a:t>).</a:t>
                </a:r>
              </a:p>
              <a:p>
                <a:pPr marL="285750" indent="-285750">
                  <a:buClr>
                    <a:srgbClr val="1F7E9C"/>
                  </a:buClr>
                  <a:buFont typeface="Wingdings" panose="05000000000000000000" pitchFamily="2" charset="2"/>
                  <a:buChar char="v"/>
                </a:pPr>
                <a:endParaRPr lang="it-IT" dirty="0">
                  <a:solidFill>
                    <a:srgbClr val="424242"/>
                  </a:solidFill>
                  <a:latin typeface="Atkinson Hyperlegible" pitchFamily="2" charset="77"/>
                  <a:ea typeface="Roboto" panose="02000000000000000000" pitchFamily="2" charset="0"/>
                  <a:cs typeface="Roboto" panose="02000000000000000000" pitchFamily="2" charset="0"/>
                </a:endParaRPr>
              </a:p>
              <a:p>
                <a:pPr marL="285750" indent="-285750">
                  <a:buClr>
                    <a:srgbClr val="1F7E9C"/>
                  </a:buClr>
                  <a:buFont typeface="Wingdings" panose="05000000000000000000" pitchFamily="2" charset="2"/>
                  <a:buChar char="v"/>
                </a:pPr>
                <a:r>
                  <a:rPr lang="it-IT" noProof="0" dirty="0">
                    <a:solidFill>
                      <a:srgbClr val="424242"/>
                    </a:solidFill>
                    <a:latin typeface="Atkinson Hyperlegible" pitchFamily="2" charset="77"/>
                    <a:ea typeface="Roboto" panose="02000000000000000000" pitchFamily="2" charset="0"/>
                    <a:cs typeface="Roboto" panose="02000000000000000000" pitchFamily="2" charset="0"/>
                  </a:rPr>
                  <a:t>Utilizzato nella forma discreta:</a:t>
                </a:r>
                <a:br>
                  <a:rPr lang="it-IT" noProof="0" dirty="0">
                    <a:solidFill>
                      <a:srgbClr val="424242"/>
                    </a:solidFill>
                    <a:latin typeface="Atkinson Hyperlegible" pitchFamily="2" charset="77"/>
                    <a:ea typeface="Roboto" panose="02000000000000000000" pitchFamily="2" charset="0"/>
                    <a:cs typeface="Roboto" panose="02000000000000000000" pitchFamily="2" charset="0"/>
                  </a:rPr>
                </a:br>
                <a14:m>
                  <m:oMath xmlns:m="http://schemas.openxmlformats.org/officeDocument/2006/math">
                    <m:r>
                      <a:rPr lang="it-IT" i="1">
                        <a:latin typeface="Cambria Math" panose="02040503050406030204" pitchFamily="18" charset="0"/>
                      </a:rPr>
                      <m:t>𝑢</m:t>
                    </m:r>
                    <m:d>
                      <m:dPr>
                        <m:begChr m:val="["/>
                        <m:endChr m:val="]"/>
                        <m:ctrlPr>
                          <a:rPr lang="it-IT" i="1">
                            <a:solidFill>
                              <a:srgbClr val="836967"/>
                            </a:solidFill>
                            <a:latin typeface="Cambria Math" panose="02040503050406030204" pitchFamily="18" charset="0"/>
                          </a:rPr>
                        </m:ctrlPr>
                      </m:dPr>
                      <m:e>
                        <m:r>
                          <a:rPr lang="it-IT" i="1">
                            <a:latin typeface="Cambria Math" panose="02040503050406030204" pitchFamily="18" charset="0"/>
                          </a:rPr>
                          <m:t>𝑘</m:t>
                        </m:r>
                      </m:e>
                    </m:d>
                    <m:r>
                      <a:rPr lang="it-IT">
                        <a:latin typeface="Cambria Math" panose="02040503050406030204" pitchFamily="18" charset="0"/>
                      </a:rPr>
                      <m:t>= </m:t>
                    </m:r>
                    <m:sSub>
                      <m:sSubPr>
                        <m:ctrlPr>
                          <a:rPr lang="it-IT" i="1">
                            <a:solidFill>
                              <a:srgbClr val="836967"/>
                            </a:solidFill>
                            <a:latin typeface="Cambria Math" panose="02040503050406030204" pitchFamily="18" charset="0"/>
                          </a:rPr>
                        </m:ctrlPr>
                      </m:sSubPr>
                      <m:e>
                        <m:r>
                          <a:rPr lang="it-IT" i="1">
                            <a:latin typeface="Cambria Math" panose="02040503050406030204" pitchFamily="18" charset="0"/>
                          </a:rPr>
                          <m:t>𝐾</m:t>
                        </m:r>
                      </m:e>
                      <m:sub>
                        <m:r>
                          <a:rPr lang="it-IT" i="1">
                            <a:latin typeface="Cambria Math" panose="02040503050406030204" pitchFamily="18" charset="0"/>
                          </a:rPr>
                          <m:t>𝑝</m:t>
                        </m:r>
                      </m:sub>
                    </m:sSub>
                    <m:r>
                      <a:rPr lang="it-IT" i="1">
                        <a:latin typeface="Cambria Math" panose="02040503050406030204" pitchFamily="18" charset="0"/>
                      </a:rPr>
                      <m:t>𝑒</m:t>
                    </m:r>
                    <m:d>
                      <m:dPr>
                        <m:begChr m:val="["/>
                        <m:endChr m:val="]"/>
                        <m:ctrlPr>
                          <a:rPr lang="it-IT" i="1">
                            <a:solidFill>
                              <a:srgbClr val="836967"/>
                            </a:solidFill>
                            <a:latin typeface="Cambria Math" panose="02040503050406030204" pitchFamily="18" charset="0"/>
                          </a:rPr>
                        </m:ctrlPr>
                      </m:dPr>
                      <m:e>
                        <m:r>
                          <a:rPr lang="it-IT" i="1">
                            <a:latin typeface="Cambria Math" panose="02040503050406030204" pitchFamily="18" charset="0"/>
                          </a:rPr>
                          <m:t>𝑘</m:t>
                        </m:r>
                      </m:e>
                    </m:d>
                    <m:r>
                      <a:rPr lang="it-IT">
                        <a:latin typeface="Cambria Math" panose="02040503050406030204" pitchFamily="18" charset="0"/>
                      </a:rPr>
                      <m:t>+ </m:t>
                    </m:r>
                    <m:sSub>
                      <m:sSubPr>
                        <m:ctrlPr>
                          <a:rPr lang="it-IT" i="1">
                            <a:solidFill>
                              <a:srgbClr val="836967"/>
                            </a:solidFill>
                            <a:latin typeface="Cambria Math" panose="02040503050406030204" pitchFamily="18" charset="0"/>
                          </a:rPr>
                        </m:ctrlPr>
                      </m:sSubPr>
                      <m:e>
                        <m:r>
                          <a:rPr lang="it-IT" i="1">
                            <a:latin typeface="Cambria Math" panose="02040503050406030204" pitchFamily="18" charset="0"/>
                          </a:rPr>
                          <m:t>𝐾</m:t>
                        </m:r>
                      </m:e>
                      <m:sub>
                        <m:r>
                          <a:rPr lang="it-IT" i="1">
                            <a:latin typeface="Cambria Math" panose="02040503050406030204" pitchFamily="18" charset="0"/>
                          </a:rPr>
                          <m:t>𝑖</m:t>
                        </m:r>
                      </m:sub>
                    </m:sSub>
                    <m:nary>
                      <m:naryPr>
                        <m:chr m:val="∑"/>
                        <m:limLoc m:val="subSup"/>
                        <m:ctrlPr>
                          <a:rPr lang="it-IT" i="1">
                            <a:latin typeface="Cambria Math" panose="02040503050406030204" pitchFamily="18" charset="0"/>
                          </a:rPr>
                        </m:ctrlPr>
                      </m:naryPr>
                      <m:sub>
                        <m:r>
                          <a:rPr lang="it-IT" i="1">
                            <a:latin typeface="Cambria Math" panose="02040503050406030204" pitchFamily="18" charset="0"/>
                          </a:rPr>
                          <m:t>𝑖</m:t>
                        </m:r>
                        <m:r>
                          <a:rPr lang="it-IT">
                            <a:latin typeface="Cambria Math" panose="02040503050406030204" pitchFamily="18" charset="0"/>
                          </a:rPr>
                          <m:t>=0</m:t>
                        </m:r>
                      </m:sub>
                      <m:sup>
                        <m:r>
                          <a:rPr lang="it-IT" i="1">
                            <a:latin typeface="Cambria Math" panose="02040503050406030204" pitchFamily="18" charset="0"/>
                          </a:rPr>
                          <m:t>𝑘</m:t>
                        </m:r>
                      </m:sup>
                      <m:e>
                        <m:r>
                          <a:rPr lang="it-IT" i="1">
                            <a:latin typeface="Cambria Math" panose="02040503050406030204" pitchFamily="18" charset="0"/>
                          </a:rPr>
                          <m:t>𝑒</m:t>
                        </m:r>
                        <m:d>
                          <m:dPr>
                            <m:begChr m:val="["/>
                            <m:endChr m:val="]"/>
                            <m:ctrlPr>
                              <a:rPr lang="it-IT" i="1">
                                <a:solidFill>
                                  <a:srgbClr val="836967"/>
                                </a:solidFill>
                                <a:latin typeface="Cambria Math" panose="02040503050406030204" pitchFamily="18" charset="0"/>
                              </a:rPr>
                            </m:ctrlPr>
                          </m:dPr>
                          <m:e>
                            <m:r>
                              <a:rPr lang="it-IT" i="1">
                                <a:latin typeface="Cambria Math" panose="02040503050406030204" pitchFamily="18" charset="0"/>
                              </a:rPr>
                              <m:t>𝑖</m:t>
                            </m:r>
                          </m:e>
                        </m:d>
                      </m:e>
                    </m:nary>
                    <m:r>
                      <a:rPr lang="it-IT">
                        <a:latin typeface="Cambria Math" panose="02040503050406030204" pitchFamily="18" charset="0"/>
                      </a:rPr>
                      <m:t>+ </m:t>
                    </m:r>
                    <m:sSub>
                      <m:sSubPr>
                        <m:ctrlPr>
                          <a:rPr lang="it-IT" i="1">
                            <a:solidFill>
                              <a:srgbClr val="836967"/>
                            </a:solidFill>
                            <a:latin typeface="Cambria Math" panose="02040503050406030204" pitchFamily="18" charset="0"/>
                          </a:rPr>
                        </m:ctrlPr>
                      </m:sSubPr>
                      <m:e>
                        <m:r>
                          <a:rPr lang="it-IT" i="1">
                            <a:latin typeface="Cambria Math" panose="02040503050406030204" pitchFamily="18" charset="0"/>
                          </a:rPr>
                          <m:t>𝐾</m:t>
                        </m:r>
                      </m:e>
                      <m:sub>
                        <m:r>
                          <a:rPr lang="it-IT" i="1">
                            <a:latin typeface="Cambria Math" panose="02040503050406030204" pitchFamily="18" charset="0"/>
                          </a:rPr>
                          <m:t>𝑑</m:t>
                        </m:r>
                      </m:sub>
                    </m:sSub>
                    <m:d>
                      <m:dPr>
                        <m:ctrlPr>
                          <a:rPr lang="it-IT" i="1">
                            <a:solidFill>
                              <a:srgbClr val="836967"/>
                            </a:solidFill>
                            <a:latin typeface="Cambria Math" panose="02040503050406030204" pitchFamily="18" charset="0"/>
                          </a:rPr>
                        </m:ctrlPr>
                      </m:dPr>
                      <m:e>
                        <m:r>
                          <a:rPr lang="it-IT" i="1">
                            <a:latin typeface="Cambria Math" panose="02040503050406030204" pitchFamily="18" charset="0"/>
                          </a:rPr>
                          <m:t>𝑒</m:t>
                        </m:r>
                        <m:d>
                          <m:dPr>
                            <m:begChr m:val="["/>
                            <m:endChr m:val="]"/>
                            <m:ctrlPr>
                              <a:rPr lang="it-IT" i="1">
                                <a:solidFill>
                                  <a:srgbClr val="836967"/>
                                </a:solidFill>
                                <a:latin typeface="Cambria Math" panose="02040503050406030204" pitchFamily="18" charset="0"/>
                              </a:rPr>
                            </m:ctrlPr>
                          </m:dPr>
                          <m:e>
                            <m:r>
                              <a:rPr lang="it-IT" i="1">
                                <a:latin typeface="Cambria Math" panose="02040503050406030204" pitchFamily="18" charset="0"/>
                              </a:rPr>
                              <m:t>𝑘</m:t>
                            </m:r>
                          </m:e>
                        </m:d>
                        <m:r>
                          <a:rPr lang="it-IT">
                            <a:latin typeface="Cambria Math" panose="02040503050406030204" pitchFamily="18" charset="0"/>
                          </a:rPr>
                          <m:t>− </m:t>
                        </m:r>
                        <m:r>
                          <a:rPr lang="it-IT" i="1">
                            <a:latin typeface="Cambria Math" panose="02040503050406030204" pitchFamily="18" charset="0"/>
                          </a:rPr>
                          <m:t>𝑒</m:t>
                        </m:r>
                        <m:d>
                          <m:dPr>
                            <m:begChr m:val="["/>
                            <m:endChr m:val="]"/>
                            <m:ctrlPr>
                              <a:rPr lang="it-IT" i="1">
                                <a:solidFill>
                                  <a:srgbClr val="836967"/>
                                </a:solidFill>
                                <a:latin typeface="Cambria Math" panose="02040503050406030204" pitchFamily="18" charset="0"/>
                              </a:rPr>
                            </m:ctrlPr>
                          </m:dPr>
                          <m:e>
                            <m:r>
                              <a:rPr lang="it-IT" i="1">
                                <a:latin typeface="Cambria Math" panose="02040503050406030204" pitchFamily="18" charset="0"/>
                              </a:rPr>
                              <m:t>𝑘</m:t>
                            </m:r>
                            <m:r>
                              <a:rPr lang="it-IT">
                                <a:latin typeface="Cambria Math" panose="02040503050406030204" pitchFamily="18" charset="0"/>
                              </a:rPr>
                              <m:t>−1</m:t>
                            </m:r>
                          </m:e>
                        </m:d>
                      </m:e>
                    </m:d>
                    <m:r>
                      <a:rPr lang="it-IT">
                        <a:latin typeface="Cambria Math" panose="02040503050406030204" pitchFamily="18" charset="0"/>
                      </a:rPr>
                      <m:t>.</m:t>
                    </m:r>
                  </m:oMath>
                </a14:m>
                <a:endParaRPr lang="it-IT" sz="2100" dirty="0"/>
              </a:p>
              <a:p>
                <a:pPr marL="285750" indent="-285750">
                  <a:spcBef>
                    <a:spcPts val="1800"/>
                  </a:spcBef>
                  <a:buClr>
                    <a:srgbClr val="1F7E9C"/>
                  </a:buClr>
                  <a:buFont typeface="Wingdings" panose="05000000000000000000" pitchFamily="2" charset="2"/>
                  <a:buChar char="v"/>
                </a:pPr>
                <a:r>
                  <a:rPr lang="it-IT" dirty="0">
                    <a:solidFill>
                      <a:srgbClr val="424242"/>
                    </a:solidFill>
                    <a:latin typeface="Atkinson Hyperlegible" pitchFamily="2" charset="77"/>
                    <a:ea typeface="Roboto" panose="02000000000000000000" pitchFamily="2" charset="0"/>
                    <a:cs typeface="Roboto" panose="02000000000000000000" pitchFamily="2" charset="0"/>
                  </a:rPr>
                  <a:t>Architettura a doppio ciclo PID; uno impiegato nella stabilizzazione dell’angolo, e l’altro nel controllo del carrello </a:t>
                </a:r>
                <a:r>
                  <a:rPr lang="it-IT" dirty="0">
                    <a:solidFill>
                      <a:schemeClr val="bg2">
                        <a:lumMod val="25000"/>
                      </a:schemeClr>
                    </a:solidFill>
                    <a:latin typeface="Atkinson Hyperlegible" pitchFamily="2" charset="77"/>
                    <a:ea typeface="Roboto" panose="02000000000000000000" pitchFamily="2" charset="0"/>
                    <a:cs typeface="Roboto" panose="02000000000000000000" pitchFamily="2" charset="0"/>
                  </a:rPr>
                  <a:t>(</a:t>
                </a:r>
                <a:r>
                  <a:rPr lang="it-IT" dirty="0">
                    <a:solidFill>
                      <a:schemeClr val="bg2">
                        <a:lumMod val="25000"/>
                      </a:schemeClr>
                    </a:solidFill>
                  </a:rPr>
                  <a:t>Vivek K. P., et al., 2017), (</a:t>
                </a:r>
                <a:r>
                  <a:rPr lang="it-IT" dirty="0" err="1">
                    <a:solidFill>
                      <a:schemeClr val="bg2">
                        <a:lumMod val="25000"/>
                      </a:schemeClr>
                    </a:solidFill>
                  </a:rPr>
                  <a:t>Dang</a:t>
                </a:r>
                <a:r>
                  <a:rPr lang="it-IT" dirty="0">
                    <a:solidFill>
                      <a:schemeClr val="bg2">
                        <a:lumMod val="25000"/>
                      </a:schemeClr>
                    </a:solidFill>
                  </a:rPr>
                  <a:t>, et al. 2024), (</a:t>
                </a:r>
                <a:r>
                  <a:rPr lang="it-IT" dirty="0" err="1">
                    <a:solidFill>
                      <a:schemeClr val="bg2">
                        <a:lumMod val="25000"/>
                      </a:schemeClr>
                    </a:solidFill>
                  </a:rPr>
                  <a:t>Samadh</a:t>
                </a:r>
                <a:r>
                  <a:rPr lang="it-IT" dirty="0">
                    <a:solidFill>
                      <a:schemeClr val="bg2">
                        <a:lumMod val="25000"/>
                      </a:schemeClr>
                    </a:solidFill>
                  </a:rPr>
                  <a:t>, 2017)</a:t>
                </a:r>
                <a:r>
                  <a:rPr lang="it-IT" dirty="0">
                    <a:solidFill>
                      <a:schemeClr val="bg2">
                        <a:lumMod val="25000"/>
                      </a:schemeClr>
                    </a:solidFill>
                    <a:latin typeface="Atkinson Hyperlegible" pitchFamily="2" charset="77"/>
                    <a:ea typeface="Roboto" panose="02000000000000000000" pitchFamily="2" charset="0"/>
                    <a:cs typeface="Roboto" panose="02000000000000000000" pitchFamily="2" charset="0"/>
                  </a:rPr>
                  <a:t>:</a:t>
                </a:r>
                <a:br>
                  <a:rPr lang="it-IT" sz="900" dirty="0">
                    <a:solidFill>
                      <a:schemeClr val="bg2">
                        <a:lumMod val="25000"/>
                      </a:schemeClr>
                    </a:solidFill>
                    <a:latin typeface="Atkinson Hyperlegible" pitchFamily="2" charset="77"/>
                    <a:ea typeface="Roboto" panose="02000000000000000000" pitchFamily="2" charset="0"/>
                    <a:cs typeface="Roboto" panose="02000000000000000000" pitchFamily="2" charset="0"/>
                  </a:rPr>
                </a:br>
                <a14:m>
                  <m:oMath xmlns:m="http://schemas.openxmlformats.org/officeDocument/2006/math">
                    <m:r>
                      <a:rPr lang="it-IT" i="1">
                        <a:latin typeface="Cambria Math" panose="02040503050406030204" pitchFamily="18" charset="0"/>
                      </a:rPr>
                      <m:t>𝑢</m:t>
                    </m:r>
                    <m:r>
                      <a:rPr lang="it-IT">
                        <a:latin typeface="Cambria Math" panose="02040503050406030204" pitchFamily="18" charset="0"/>
                      </a:rPr>
                      <m:t> = </m:t>
                    </m:r>
                    <m:sSub>
                      <m:sSubPr>
                        <m:ctrlPr>
                          <a:rPr lang="it-IT" i="1">
                            <a:solidFill>
                              <a:srgbClr val="836967"/>
                            </a:solidFill>
                            <a:latin typeface="Cambria Math" panose="02040503050406030204" pitchFamily="18" charset="0"/>
                          </a:rPr>
                        </m:ctrlPr>
                      </m:sSubPr>
                      <m:e>
                        <m:r>
                          <a:rPr lang="it-IT" i="1">
                            <a:latin typeface="Cambria Math" panose="02040503050406030204" pitchFamily="18" charset="0"/>
                          </a:rPr>
                          <m:t>𝑃𝐼𝐷</m:t>
                        </m:r>
                      </m:e>
                      <m:sub>
                        <m:r>
                          <a:rPr lang="it-IT">
                            <a:latin typeface="Cambria Math" panose="02040503050406030204" pitchFamily="18" charset="0"/>
                          </a:rPr>
                          <m:t>1</m:t>
                        </m:r>
                      </m:sub>
                    </m:sSub>
                    <m:d>
                      <m:dPr>
                        <m:ctrlPr>
                          <a:rPr lang="it-IT" i="1">
                            <a:latin typeface="Cambria Math" panose="02040503050406030204" pitchFamily="18" charset="0"/>
                          </a:rPr>
                        </m:ctrlPr>
                      </m:dPr>
                      <m:e>
                        <m:r>
                          <a:rPr lang="it-IT" i="1">
                            <a:latin typeface="Cambria Math" panose="02040503050406030204" pitchFamily="18" charset="0"/>
                          </a:rPr>
                          <m:t>𝜃</m:t>
                        </m:r>
                      </m:e>
                    </m:d>
                    <m:r>
                      <a:rPr lang="it-IT">
                        <a:latin typeface="Cambria Math" panose="02040503050406030204" pitchFamily="18" charset="0"/>
                      </a:rPr>
                      <m:t> +</m:t>
                    </m:r>
                    <m:sSub>
                      <m:sSubPr>
                        <m:ctrlPr>
                          <a:rPr lang="it-IT" i="1">
                            <a:solidFill>
                              <a:srgbClr val="836967"/>
                            </a:solidFill>
                            <a:latin typeface="Cambria Math" panose="02040503050406030204" pitchFamily="18" charset="0"/>
                          </a:rPr>
                        </m:ctrlPr>
                      </m:sSubPr>
                      <m:e>
                        <m:r>
                          <a:rPr lang="it-IT" i="1">
                            <a:latin typeface="Cambria Math" panose="02040503050406030204" pitchFamily="18" charset="0"/>
                          </a:rPr>
                          <m:t>𝑃𝐼𝐷</m:t>
                        </m:r>
                      </m:e>
                      <m:sub>
                        <m:r>
                          <a:rPr lang="it-IT">
                            <a:latin typeface="Cambria Math" panose="02040503050406030204" pitchFamily="18" charset="0"/>
                          </a:rPr>
                          <m:t>2</m:t>
                        </m:r>
                      </m:sub>
                    </m:sSub>
                    <m:d>
                      <m:dPr>
                        <m:ctrlPr>
                          <a:rPr lang="it-IT" i="1">
                            <a:latin typeface="Cambria Math" panose="02040503050406030204" pitchFamily="18" charset="0"/>
                          </a:rPr>
                        </m:ctrlPr>
                      </m:dPr>
                      <m:e>
                        <m:sSub>
                          <m:sSubPr>
                            <m:ctrlPr>
                              <a:rPr lang="it-IT" i="1">
                                <a:solidFill>
                                  <a:srgbClr val="836967"/>
                                </a:solidFill>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𝑟𝑒𝑓</m:t>
                            </m:r>
                          </m:sub>
                        </m:sSub>
                        <m:r>
                          <a:rPr lang="it-IT">
                            <a:latin typeface="Cambria Math" panose="02040503050406030204" pitchFamily="18" charset="0"/>
                          </a:rPr>
                          <m:t>−</m:t>
                        </m:r>
                        <m:r>
                          <a:rPr lang="it-IT" i="1">
                            <a:latin typeface="Cambria Math" panose="02040503050406030204" pitchFamily="18" charset="0"/>
                          </a:rPr>
                          <m:t>𝑥</m:t>
                        </m:r>
                      </m:e>
                    </m:d>
                    <m:phant>
                      <m:phantPr>
                        <m:show m:val="off"/>
                        <m:ctrlPr>
                          <a:rPr lang="it-IT" b="0" i="1" smtClean="0">
                            <a:latin typeface="Cambria Math" panose="02040503050406030204" pitchFamily="18" charset="0"/>
                          </a:rPr>
                        </m:ctrlPr>
                      </m:phantPr>
                      <m:e>
                        <m:nary>
                          <m:naryPr>
                            <m:chr m:val="∑"/>
                            <m:limLoc m:val="subSup"/>
                            <m:ctrlPr>
                              <a:rPr lang="it-IT" i="1" smtClean="0">
                                <a:latin typeface="Cambria Math" panose="02040503050406030204" pitchFamily="18" charset="0"/>
                              </a:rPr>
                            </m:ctrlPr>
                          </m:naryPr>
                          <m:sub>
                            <m:r>
                              <a:rPr lang="it-IT" i="1">
                                <a:latin typeface="Cambria Math" panose="02040503050406030204" pitchFamily="18" charset="0"/>
                              </a:rPr>
                              <m:t>𝑖</m:t>
                            </m:r>
                            <m:r>
                              <a:rPr lang="it-IT">
                                <a:latin typeface="Cambria Math" panose="02040503050406030204" pitchFamily="18" charset="0"/>
                              </a:rPr>
                              <m:t>=0</m:t>
                            </m:r>
                          </m:sub>
                          <m:sup>
                            <m:r>
                              <a:rPr lang="it-IT" i="1">
                                <a:latin typeface="Cambria Math" panose="02040503050406030204" pitchFamily="18" charset="0"/>
                              </a:rPr>
                              <m:t>𝑘</m:t>
                            </m:r>
                          </m:sup>
                          <m:e>
                            <m:r>
                              <a:rPr lang="it-IT" i="1">
                                <a:latin typeface="Cambria Math" panose="02040503050406030204" pitchFamily="18" charset="0"/>
                              </a:rPr>
                              <m:t>𝑒</m:t>
                            </m:r>
                            <m:d>
                              <m:dPr>
                                <m:begChr m:val="["/>
                                <m:endChr m:val="]"/>
                                <m:ctrlPr>
                                  <a:rPr lang="it-IT" i="1">
                                    <a:solidFill>
                                      <a:srgbClr val="836967"/>
                                    </a:solidFill>
                                    <a:latin typeface="Cambria Math" panose="02040503050406030204" pitchFamily="18" charset="0"/>
                                  </a:rPr>
                                </m:ctrlPr>
                              </m:dPr>
                              <m:e>
                                <m:r>
                                  <a:rPr lang="it-IT" i="1">
                                    <a:latin typeface="Cambria Math" panose="02040503050406030204" pitchFamily="18" charset="0"/>
                                  </a:rPr>
                                  <m:t>𝑖</m:t>
                                </m:r>
                              </m:e>
                            </m:d>
                          </m:e>
                        </m:nary>
                      </m:e>
                    </m:phant>
                  </m:oMath>
                </a14:m>
                <a:endParaRPr lang="it-IT" sz="1400" dirty="0"/>
              </a:p>
              <a:p>
                <a:br>
                  <a:rPr lang="it-IT" sz="1600" dirty="0">
                    <a:solidFill>
                      <a:srgbClr val="424242"/>
                    </a:solidFill>
                    <a:latin typeface="Atkinson Hyperlegible" pitchFamily="2" charset="77"/>
                    <a:ea typeface="Roboto" panose="02000000000000000000" pitchFamily="2" charset="0"/>
                    <a:cs typeface="Roboto" panose="02000000000000000000" pitchFamily="2" charset="0"/>
                  </a:rPr>
                </a:br>
                <a:endParaRPr lang="it-IT" sz="1600" dirty="0">
                  <a:solidFill>
                    <a:schemeClr val="tx2"/>
                  </a:solidFill>
                </a:endParaRPr>
              </a:p>
            </p:txBody>
          </p:sp>
        </mc:Choice>
        <mc:Fallback>
          <p:sp>
            <p:nvSpPr>
              <p:cNvPr id="24" name="Rectangle 4">
                <a:extLst>
                  <a:ext uri="{FF2B5EF4-FFF2-40B4-BE49-F238E27FC236}">
                    <a16:creationId xmlns:a16="http://schemas.microsoft.com/office/drawing/2014/main" id="{2EDC696D-C651-62E4-9708-3ED2A135EBEF}"/>
                  </a:ext>
                </a:extLst>
              </p:cNvPr>
              <p:cNvSpPr>
                <a:spLocks noRot="1" noChangeAspect="1" noMove="1" noResize="1" noEditPoints="1" noAdjustHandles="1" noChangeArrowheads="1" noChangeShapeType="1" noTextEdit="1"/>
              </p:cNvSpPr>
              <p:nvPr/>
            </p:nvSpPr>
            <p:spPr>
              <a:xfrm>
                <a:off x="695324" y="1661869"/>
                <a:ext cx="6572278" cy="4177169"/>
              </a:xfrm>
              <a:prstGeom prst="rect">
                <a:avLst/>
              </a:prstGeom>
              <a:blipFill>
                <a:blip r:embed="rId4"/>
                <a:stretch>
                  <a:fillRect l="-557" t="-876"/>
                </a:stretch>
              </a:blipFill>
            </p:spPr>
            <p:txBody>
              <a:bodyPr/>
              <a:lstStyle/>
              <a:p>
                <a:r>
                  <a:rPr lang="it-IT">
                    <a:noFill/>
                  </a:rPr>
                  <a:t> </a:t>
                </a:r>
              </a:p>
            </p:txBody>
          </p:sp>
        </mc:Fallback>
      </mc:AlternateContent>
      <p:sp>
        <p:nvSpPr>
          <p:cNvPr id="15" name="Rettangolo 14">
            <a:extLst>
              <a:ext uri="{FF2B5EF4-FFF2-40B4-BE49-F238E27FC236}">
                <a16:creationId xmlns:a16="http://schemas.microsoft.com/office/drawing/2014/main" id="{1DB7EC36-7687-5C70-4958-84F1FB45A5A7}"/>
              </a:ext>
            </a:extLst>
          </p:cNvPr>
          <p:cNvSpPr/>
          <p:nvPr/>
        </p:nvSpPr>
        <p:spPr>
          <a:xfrm>
            <a:off x="-195210" y="5943602"/>
            <a:ext cx="12387209" cy="977153"/>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16" name="Rettangolo 15">
            <a:extLst>
              <a:ext uri="{FF2B5EF4-FFF2-40B4-BE49-F238E27FC236}">
                <a16:creationId xmlns:a16="http://schemas.microsoft.com/office/drawing/2014/main" id="{34135D88-4C21-9E86-99E3-4C06B4A04B5D}"/>
              </a:ext>
            </a:extLst>
          </p:cNvPr>
          <p:cNvSpPr/>
          <p:nvPr/>
        </p:nvSpPr>
        <p:spPr>
          <a:xfrm>
            <a:off x="-61301" y="5934488"/>
            <a:ext cx="12305631" cy="54425"/>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pic>
        <p:nvPicPr>
          <p:cNvPr id="10" name="Immagine 9">
            <a:extLst>
              <a:ext uri="{FF2B5EF4-FFF2-40B4-BE49-F238E27FC236}">
                <a16:creationId xmlns:a16="http://schemas.microsoft.com/office/drawing/2014/main" id="{BF839177-39A1-1A6D-CBCD-9BEF0185809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426078" y="6133296"/>
            <a:ext cx="2283511" cy="566274"/>
          </a:xfrm>
          <a:prstGeom prst="rect">
            <a:avLst/>
          </a:prstGeom>
        </p:spPr>
      </p:pic>
      <p:sp>
        <p:nvSpPr>
          <p:cNvPr id="11" name="TextBox 24">
            <a:extLst>
              <a:ext uri="{FF2B5EF4-FFF2-40B4-BE49-F238E27FC236}">
                <a16:creationId xmlns:a16="http://schemas.microsoft.com/office/drawing/2014/main" id="{D091A1C2-6005-26B7-BEE0-BDF6F9AA2577}"/>
              </a:ext>
            </a:extLst>
          </p:cNvPr>
          <p:cNvSpPr txBox="1"/>
          <p:nvPr/>
        </p:nvSpPr>
        <p:spPr>
          <a:xfrm>
            <a:off x="7637571" y="4626581"/>
            <a:ext cx="2754203" cy="492058"/>
          </a:xfrm>
          <a:prstGeom prst="rect">
            <a:avLst/>
          </a:prstGeom>
          <a:noFill/>
          <a:effectLst/>
        </p:spPr>
        <p:txBody>
          <a:bodyPr wrap="square" rtlCol="0">
            <a:spAutoFit/>
          </a:bodyPr>
          <a:lstStyle/>
          <a:p>
            <a:pPr>
              <a:lnSpc>
                <a:spcPts val="1600"/>
              </a:lnSpc>
            </a:pPr>
            <a:r>
              <a:rPr lang="it-IT" sz="1200" noProof="0">
                <a:solidFill>
                  <a:schemeClr val="bg2">
                    <a:lumMod val="50000"/>
                  </a:schemeClr>
                </a:solidFill>
                <a:latin typeface="Atkinson Hyperlegible" pitchFamily="2" charset="77"/>
                <a:ea typeface="PT Sans" panose="020B0503020203020204" pitchFamily="34" charset="0"/>
                <a:cs typeface="Poppins" panose="00000500000000000000" pitchFamily="50" charset="0"/>
              </a:rPr>
              <a:t>Diagramma a blocchi di un controllore PID a tempo continuo.</a:t>
            </a:r>
          </a:p>
        </p:txBody>
      </p:sp>
      <p:sp>
        <p:nvSpPr>
          <p:cNvPr id="12" name="Rettangolo 11">
            <a:extLst>
              <a:ext uri="{FF2B5EF4-FFF2-40B4-BE49-F238E27FC236}">
                <a16:creationId xmlns:a16="http://schemas.microsoft.com/office/drawing/2014/main" id="{2B21EB02-61CE-6B90-AE66-20B34F59F7FD}"/>
              </a:ext>
            </a:extLst>
          </p:cNvPr>
          <p:cNvSpPr/>
          <p:nvPr/>
        </p:nvSpPr>
        <p:spPr>
          <a:xfrm>
            <a:off x="7588655" y="4626581"/>
            <a:ext cx="48917" cy="492059"/>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Tree>
    <p:extLst>
      <p:ext uri="{BB962C8B-B14F-4D97-AF65-F5344CB8AC3E}">
        <p14:creationId xmlns:p14="http://schemas.microsoft.com/office/powerpoint/2010/main" val="35873101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ECC5C-BFB6-AB8F-AEC6-E1C977922EAF}"/>
            </a:ext>
          </a:extLst>
        </p:cNvPr>
        <p:cNvGrpSpPr/>
        <p:nvPr/>
      </p:nvGrpSpPr>
      <p:grpSpPr>
        <a:xfrm>
          <a:off x="0" y="0"/>
          <a:ext cx="0" cy="0"/>
          <a:chOff x="0" y="0"/>
          <a:chExt cx="0" cy="0"/>
        </a:xfrm>
      </p:grpSpPr>
      <p:sp>
        <p:nvSpPr>
          <p:cNvPr id="58" name="Rettangolo 57">
            <a:extLst>
              <a:ext uri="{FF2B5EF4-FFF2-40B4-BE49-F238E27FC236}">
                <a16:creationId xmlns:a16="http://schemas.microsoft.com/office/drawing/2014/main" id="{2CF0DA7B-1975-DD97-08B9-FD5512EE6309}"/>
              </a:ext>
            </a:extLst>
          </p:cNvPr>
          <p:cNvSpPr/>
          <p:nvPr/>
        </p:nvSpPr>
        <p:spPr>
          <a:xfrm>
            <a:off x="-294968" y="-32856"/>
            <a:ext cx="12993277" cy="1139411"/>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23" name="Rectangle 4">
            <a:extLst>
              <a:ext uri="{FF2B5EF4-FFF2-40B4-BE49-F238E27FC236}">
                <a16:creationId xmlns:a16="http://schemas.microsoft.com/office/drawing/2014/main" id="{E625EDB4-0FC0-8EC8-5B82-E886697A3403}"/>
              </a:ext>
            </a:extLst>
          </p:cNvPr>
          <p:cNvSpPr/>
          <p:nvPr/>
        </p:nvSpPr>
        <p:spPr>
          <a:xfrm>
            <a:off x="695324" y="621119"/>
            <a:ext cx="8201026" cy="311111"/>
          </a:xfrm>
          <a:prstGeom prst="rect">
            <a:avLst/>
          </a:prstGeom>
        </p:spPr>
        <p:txBody>
          <a:bodyPr wrap="square">
            <a:spAutoFit/>
          </a:bodyPr>
          <a:lstStyle/>
          <a:p>
            <a:pPr>
              <a:lnSpc>
                <a:spcPts val="1500"/>
              </a:lnSpc>
            </a:pPr>
            <a:r>
              <a:rPr lang="it-IT" sz="2200" b="1" noProof="0" dirty="0">
                <a:solidFill>
                  <a:schemeClr val="bg1"/>
                </a:solidFill>
                <a:latin typeface="Atkinson Hyperlegible" pitchFamily="2" charset="77"/>
                <a:ea typeface="Roboto" panose="02000000000000000000" pitchFamily="2" charset="0"/>
                <a:cs typeface="Roboto" panose="02000000000000000000" pitchFamily="2" charset="0"/>
              </a:rPr>
              <a:t>Simulazione e Raccolta Dati Ingresso-Uscita</a:t>
            </a:r>
          </a:p>
        </p:txBody>
      </p:sp>
      <p:sp>
        <p:nvSpPr>
          <p:cNvPr id="24" name="Rectangle 4">
            <a:extLst>
              <a:ext uri="{FF2B5EF4-FFF2-40B4-BE49-F238E27FC236}">
                <a16:creationId xmlns:a16="http://schemas.microsoft.com/office/drawing/2014/main" id="{2EF112ED-0AB2-7671-9EDB-31621B596DAD}"/>
              </a:ext>
            </a:extLst>
          </p:cNvPr>
          <p:cNvSpPr/>
          <p:nvPr/>
        </p:nvSpPr>
        <p:spPr>
          <a:xfrm>
            <a:off x="695325" y="1922403"/>
            <a:ext cx="4299369" cy="3524042"/>
          </a:xfrm>
          <a:prstGeom prst="rect">
            <a:avLst/>
          </a:prstGeom>
        </p:spPr>
        <p:txBody>
          <a:bodyPr wrap="square">
            <a:spAutoFit/>
          </a:bodyPr>
          <a:lstStyle/>
          <a:p>
            <a:pPr marL="285750" indent="-285750">
              <a:spcAft>
                <a:spcPts val="1200"/>
              </a:spcAft>
              <a:buClr>
                <a:srgbClr val="1F7E9C"/>
              </a:buClr>
              <a:buFont typeface="Wingdings" panose="05000000000000000000" pitchFamily="2" charset="2"/>
              <a:buChar char="v"/>
            </a:pPr>
            <a:r>
              <a:rPr lang="it-IT" noProof="0" dirty="0">
                <a:solidFill>
                  <a:srgbClr val="424242"/>
                </a:solidFill>
                <a:latin typeface="Atkinson Hyperlegible" pitchFamily="2" charset="77"/>
                <a:ea typeface="Roboto" panose="02000000000000000000" pitchFamily="2" charset="0"/>
                <a:cs typeface="Roboto" panose="02000000000000000000" pitchFamily="2" charset="0"/>
              </a:rPr>
              <a:t>Svolgimento di simulazioni multiple del sistema a ciclo chiuso, e raccolta dati su stato e ingresso per ogni istante di tempo;</a:t>
            </a:r>
          </a:p>
          <a:p>
            <a:pPr marL="285750" indent="-285750">
              <a:spcAft>
                <a:spcPts val="1800"/>
              </a:spcAft>
              <a:buClr>
                <a:srgbClr val="1F7E9C"/>
              </a:buClr>
              <a:buFont typeface="Wingdings" panose="05000000000000000000" pitchFamily="2" charset="2"/>
              <a:buChar char="v"/>
            </a:pPr>
            <a:r>
              <a:rPr lang="it-IT" dirty="0">
                <a:solidFill>
                  <a:srgbClr val="424242"/>
                </a:solidFill>
                <a:latin typeface="Atkinson Hyperlegible" pitchFamily="2" charset="77"/>
                <a:ea typeface="Roboto" panose="02000000000000000000" pitchFamily="2" charset="0"/>
                <a:cs typeface="Roboto" panose="02000000000000000000" pitchFamily="2" charset="0"/>
              </a:rPr>
              <a:t>Riferimento al carrello basato su una combinazione di una o più onde quadre smussate;</a:t>
            </a:r>
          </a:p>
          <a:p>
            <a:pPr marL="285750" indent="-285750">
              <a:buClr>
                <a:srgbClr val="1F7E9C"/>
              </a:buClr>
              <a:buFont typeface="Wingdings" panose="05000000000000000000" pitchFamily="2" charset="2"/>
              <a:buChar char="v"/>
            </a:pPr>
            <a:endParaRPr lang="it-IT" b="1" dirty="0">
              <a:solidFill>
                <a:srgbClr val="424242"/>
              </a:solidFill>
              <a:latin typeface="Atkinson Hyperlegible" pitchFamily="2" charset="77"/>
              <a:ea typeface="Roboto" panose="02000000000000000000" pitchFamily="2" charset="0"/>
              <a:cs typeface="Roboto" panose="02000000000000000000" pitchFamily="2" charset="0"/>
            </a:endParaRPr>
          </a:p>
          <a:p>
            <a:pPr marL="285750" indent="-285750">
              <a:buClr>
                <a:srgbClr val="1F7E9C"/>
              </a:buClr>
              <a:buFont typeface="Wingdings" panose="05000000000000000000" pitchFamily="2" charset="2"/>
              <a:buChar char="v"/>
            </a:pPr>
            <a:r>
              <a:rPr lang="it-IT" b="1" dirty="0">
                <a:solidFill>
                  <a:srgbClr val="424242"/>
                </a:solidFill>
                <a:latin typeface="Atkinson Hyperlegible" pitchFamily="2" charset="77"/>
                <a:ea typeface="Roboto" panose="02000000000000000000" pitchFamily="2" charset="0"/>
                <a:cs typeface="Roboto" panose="02000000000000000000" pitchFamily="2" charset="0"/>
              </a:rPr>
              <a:t>Obiettivo:</a:t>
            </a:r>
            <a:r>
              <a:rPr lang="it-IT" dirty="0">
                <a:solidFill>
                  <a:srgbClr val="424242"/>
                </a:solidFill>
                <a:latin typeface="Atkinson Hyperlegible" pitchFamily="2" charset="77"/>
                <a:ea typeface="Roboto" panose="02000000000000000000" pitchFamily="2" charset="0"/>
                <a:cs typeface="Roboto" panose="02000000000000000000" pitchFamily="2" charset="0"/>
              </a:rPr>
              <a:t> eccitare il sistema nell’intorno del punto di linearizzazione, e raccogliere i dati ingresso-uscita (stato).</a:t>
            </a:r>
            <a:endParaRPr lang="it-IT" b="1" dirty="0">
              <a:solidFill>
                <a:srgbClr val="424242"/>
              </a:solidFill>
              <a:latin typeface="Atkinson Hyperlegible" pitchFamily="2" charset="77"/>
              <a:ea typeface="Roboto" panose="02000000000000000000" pitchFamily="2" charset="0"/>
              <a:cs typeface="Roboto" panose="02000000000000000000" pitchFamily="2" charset="0"/>
            </a:endParaRPr>
          </a:p>
        </p:txBody>
      </p:sp>
      <p:sp>
        <p:nvSpPr>
          <p:cNvPr id="15" name="Rettangolo 14">
            <a:extLst>
              <a:ext uri="{FF2B5EF4-FFF2-40B4-BE49-F238E27FC236}">
                <a16:creationId xmlns:a16="http://schemas.microsoft.com/office/drawing/2014/main" id="{3351C916-2BE8-1A85-E43D-D429EC3AC044}"/>
              </a:ext>
            </a:extLst>
          </p:cNvPr>
          <p:cNvSpPr/>
          <p:nvPr/>
        </p:nvSpPr>
        <p:spPr>
          <a:xfrm>
            <a:off x="-195210" y="5943602"/>
            <a:ext cx="12387209" cy="977153"/>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16" name="Rettangolo 15">
            <a:extLst>
              <a:ext uri="{FF2B5EF4-FFF2-40B4-BE49-F238E27FC236}">
                <a16:creationId xmlns:a16="http://schemas.microsoft.com/office/drawing/2014/main" id="{D856E6A7-0340-778C-C614-EAF8D93D832B}"/>
              </a:ext>
            </a:extLst>
          </p:cNvPr>
          <p:cNvSpPr/>
          <p:nvPr/>
        </p:nvSpPr>
        <p:spPr>
          <a:xfrm>
            <a:off x="-61301" y="5934488"/>
            <a:ext cx="12305631" cy="54425"/>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pic>
        <p:nvPicPr>
          <p:cNvPr id="10" name="Immagine 9">
            <a:extLst>
              <a:ext uri="{FF2B5EF4-FFF2-40B4-BE49-F238E27FC236}">
                <a16:creationId xmlns:a16="http://schemas.microsoft.com/office/drawing/2014/main" id="{D359F8D2-986A-0FF4-67F2-BF8043091EE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426078" y="6133296"/>
            <a:ext cx="2283511" cy="566274"/>
          </a:xfrm>
          <a:prstGeom prst="rect">
            <a:avLst/>
          </a:prstGeom>
        </p:spPr>
      </p:pic>
      <p:sp>
        <p:nvSpPr>
          <p:cNvPr id="7" name="TextBox 24">
            <a:extLst>
              <a:ext uri="{FF2B5EF4-FFF2-40B4-BE49-F238E27FC236}">
                <a16:creationId xmlns:a16="http://schemas.microsoft.com/office/drawing/2014/main" id="{E9A5B9BE-DCC3-2FEF-3770-67771D3DE011}"/>
              </a:ext>
            </a:extLst>
          </p:cNvPr>
          <p:cNvSpPr txBox="1"/>
          <p:nvPr/>
        </p:nvSpPr>
        <p:spPr>
          <a:xfrm>
            <a:off x="7275622" y="5120988"/>
            <a:ext cx="3057098" cy="502702"/>
          </a:xfrm>
          <a:prstGeom prst="rect">
            <a:avLst/>
          </a:prstGeom>
          <a:noFill/>
          <a:effectLst/>
        </p:spPr>
        <p:txBody>
          <a:bodyPr wrap="square" rtlCol="0">
            <a:spAutoFit/>
          </a:bodyPr>
          <a:lstStyle/>
          <a:p>
            <a:pPr>
              <a:lnSpc>
                <a:spcPts val="1600"/>
              </a:lnSpc>
            </a:pPr>
            <a:r>
              <a:rPr lang="it-IT" sz="1200" b="0" i="0" noProof="0" dirty="0">
                <a:solidFill>
                  <a:schemeClr val="bg2">
                    <a:lumMod val="50000"/>
                  </a:schemeClr>
                </a:solidFill>
                <a:effectLst/>
                <a:latin typeface="Atkinson Hyperlegible" pitchFamily="2" charset="77"/>
              </a:rPr>
              <a:t>Simulazione del sistema a ciclo chiuso </a:t>
            </a:r>
            <a:r>
              <a:rPr lang="it-IT" sz="1200" dirty="0">
                <a:solidFill>
                  <a:schemeClr val="bg2">
                    <a:lumMod val="50000"/>
                  </a:schemeClr>
                </a:solidFill>
                <a:latin typeface="Atkinson Hyperlegible" pitchFamily="2" charset="77"/>
              </a:rPr>
              <a:t>con controllore a doppio ciclo PID.</a:t>
            </a:r>
            <a:endParaRPr lang="it-IT" sz="1200" noProof="0" dirty="0">
              <a:solidFill>
                <a:schemeClr val="bg2">
                  <a:lumMod val="50000"/>
                </a:schemeClr>
              </a:solidFill>
              <a:latin typeface="Atkinson Hyperlegible" pitchFamily="2" charset="77"/>
              <a:ea typeface="PT Sans" panose="020B0503020203020204" pitchFamily="34" charset="0"/>
              <a:cs typeface="Poppins" panose="00000500000000000000" pitchFamily="50" charset="0"/>
            </a:endParaRPr>
          </a:p>
        </p:txBody>
      </p:sp>
      <p:sp>
        <p:nvSpPr>
          <p:cNvPr id="9" name="Rettangolo 8">
            <a:extLst>
              <a:ext uri="{FF2B5EF4-FFF2-40B4-BE49-F238E27FC236}">
                <a16:creationId xmlns:a16="http://schemas.microsoft.com/office/drawing/2014/main" id="{C8E8410B-16D2-58ED-7C22-1647001E2E0F}"/>
              </a:ext>
            </a:extLst>
          </p:cNvPr>
          <p:cNvSpPr/>
          <p:nvPr/>
        </p:nvSpPr>
        <p:spPr>
          <a:xfrm>
            <a:off x="7226705" y="5120988"/>
            <a:ext cx="48917" cy="492059"/>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pic>
        <p:nvPicPr>
          <p:cNvPr id="3" name="Immagine 2" descr="Immagine che contiene testo, diagramma, linea, Diagramma&#10;&#10;Il contenuto generato dall'IA potrebbe non essere corretto.">
            <a:extLst>
              <a:ext uri="{FF2B5EF4-FFF2-40B4-BE49-F238E27FC236}">
                <a16:creationId xmlns:a16="http://schemas.microsoft.com/office/drawing/2014/main" id="{D9E83AF2-511F-1F8D-4970-165B9ADDBC5B}"/>
              </a:ext>
            </a:extLst>
          </p:cNvPr>
          <p:cNvPicPr>
            <a:picLocks noChangeAspect="1"/>
          </p:cNvPicPr>
          <p:nvPr/>
        </p:nvPicPr>
        <p:blipFill>
          <a:blip r:embed="rId4"/>
          <a:stretch>
            <a:fillRect/>
          </a:stretch>
        </p:blipFill>
        <p:spPr>
          <a:xfrm>
            <a:off x="5530882" y="1294033"/>
            <a:ext cx="6425485" cy="3826954"/>
          </a:xfrm>
          <a:prstGeom prst="rect">
            <a:avLst/>
          </a:prstGeom>
        </p:spPr>
      </p:pic>
    </p:spTree>
    <p:extLst>
      <p:ext uri="{BB962C8B-B14F-4D97-AF65-F5344CB8AC3E}">
        <p14:creationId xmlns:p14="http://schemas.microsoft.com/office/powerpoint/2010/main" val="29237068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5590A-5D11-4F19-CF20-5D1994DB3CA9}"/>
            </a:ext>
          </a:extLst>
        </p:cNvPr>
        <p:cNvGrpSpPr/>
        <p:nvPr/>
      </p:nvGrpSpPr>
      <p:grpSpPr>
        <a:xfrm>
          <a:off x="0" y="0"/>
          <a:ext cx="0" cy="0"/>
          <a:chOff x="0" y="0"/>
          <a:chExt cx="0" cy="0"/>
        </a:xfrm>
      </p:grpSpPr>
      <p:sp>
        <p:nvSpPr>
          <p:cNvPr id="58" name="Rettangolo 57">
            <a:extLst>
              <a:ext uri="{FF2B5EF4-FFF2-40B4-BE49-F238E27FC236}">
                <a16:creationId xmlns:a16="http://schemas.microsoft.com/office/drawing/2014/main" id="{AC0674EB-D8C3-43A7-EE1A-4FC4C48AD93C}"/>
              </a:ext>
            </a:extLst>
          </p:cNvPr>
          <p:cNvSpPr/>
          <p:nvPr/>
        </p:nvSpPr>
        <p:spPr>
          <a:xfrm>
            <a:off x="-294968" y="-32856"/>
            <a:ext cx="12993277" cy="1139411"/>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mc:AlternateContent xmlns:mc="http://schemas.openxmlformats.org/markup-compatibility/2006" xmlns:a14="http://schemas.microsoft.com/office/drawing/2010/main">
        <mc:Choice Requires="a14">
          <p:sp>
            <p:nvSpPr>
              <p:cNvPr id="23" name="Rectangle 4">
                <a:extLst>
                  <a:ext uri="{FF2B5EF4-FFF2-40B4-BE49-F238E27FC236}">
                    <a16:creationId xmlns:a16="http://schemas.microsoft.com/office/drawing/2014/main" id="{C295725A-56E3-6034-E25C-CBD8443C063D}"/>
                  </a:ext>
                </a:extLst>
              </p:cNvPr>
              <p:cNvSpPr/>
              <p:nvPr/>
            </p:nvSpPr>
            <p:spPr>
              <a:xfrm>
                <a:off x="695324" y="621119"/>
                <a:ext cx="8201026" cy="311111"/>
              </a:xfrm>
              <a:prstGeom prst="rect">
                <a:avLst/>
              </a:prstGeom>
            </p:spPr>
            <p:txBody>
              <a:bodyPr wrap="square">
                <a:spAutoFit/>
              </a:bodyPr>
              <a:lstStyle/>
              <a:p>
                <a:pPr>
                  <a:lnSpc>
                    <a:spcPts val="1500"/>
                  </a:lnSpc>
                </a:pPr>
                <a:r>
                  <a:rPr lang="it-IT" sz="2200" b="1" noProof="0">
                    <a:solidFill>
                      <a:schemeClr val="bg1"/>
                    </a:solidFill>
                    <a:latin typeface="Atkinson Hyperlegible" pitchFamily="2" charset="77"/>
                    <a:ea typeface="Roboto" panose="02000000000000000000" pitchFamily="2" charset="0"/>
                    <a:cs typeface="Roboto" panose="02000000000000000000" pitchFamily="2" charset="0"/>
                  </a:rPr>
                  <a:t>Stima delle Matrici </a:t>
                </a:r>
                <a14:m>
                  <m:oMath xmlns:m="http://schemas.openxmlformats.org/officeDocument/2006/math">
                    <m:r>
                      <a:rPr lang="it-IT" sz="2200" b="1" i="1" noProof="0" smtClean="0">
                        <a:solidFill>
                          <a:schemeClr val="bg1"/>
                        </a:solidFill>
                        <a:latin typeface="Cambria Math" panose="02040503050406030204" pitchFamily="18" charset="0"/>
                        <a:ea typeface="Roboto" panose="02000000000000000000" pitchFamily="2" charset="0"/>
                        <a:cs typeface="Roboto" panose="02000000000000000000" pitchFamily="2" charset="0"/>
                      </a:rPr>
                      <m:t>𝑨</m:t>
                    </m:r>
                  </m:oMath>
                </a14:m>
                <a:r>
                  <a:rPr lang="it-IT" sz="2200" b="1" noProof="0">
                    <a:solidFill>
                      <a:schemeClr val="bg1"/>
                    </a:solidFill>
                    <a:latin typeface="Atkinson Hyperlegible" pitchFamily="2" charset="77"/>
                    <a:ea typeface="Roboto" panose="02000000000000000000" pitchFamily="2" charset="0"/>
                    <a:cs typeface="Roboto" panose="02000000000000000000" pitchFamily="2" charset="0"/>
                  </a:rPr>
                  <a:t> e </a:t>
                </a:r>
                <a14:m>
                  <m:oMath xmlns:m="http://schemas.openxmlformats.org/officeDocument/2006/math">
                    <m:r>
                      <a:rPr lang="it-IT" sz="2200" b="1" i="1" noProof="0" smtClean="0">
                        <a:solidFill>
                          <a:schemeClr val="bg1"/>
                        </a:solidFill>
                        <a:latin typeface="Cambria Math" panose="02040503050406030204" pitchFamily="18" charset="0"/>
                        <a:ea typeface="Roboto" panose="02000000000000000000" pitchFamily="2" charset="0"/>
                        <a:cs typeface="Roboto" panose="02000000000000000000" pitchFamily="2" charset="0"/>
                      </a:rPr>
                      <m:t>𝑩</m:t>
                    </m:r>
                  </m:oMath>
                </a14:m>
                <a:r>
                  <a:rPr lang="it-IT" sz="2200" b="1" noProof="0">
                    <a:solidFill>
                      <a:schemeClr val="bg1"/>
                    </a:solidFill>
                    <a:latin typeface="Atkinson Hyperlegible" pitchFamily="2" charset="77"/>
                    <a:ea typeface="Roboto" panose="02000000000000000000" pitchFamily="2" charset="0"/>
                    <a:cs typeface="Roboto" panose="02000000000000000000" pitchFamily="2" charset="0"/>
                  </a:rPr>
                  <a:t> del Sistema – Regressione Lineare</a:t>
                </a:r>
              </a:p>
            </p:txBody>
          </p:sp>
        </mc:Choice>
        <mc:Fallback xmlns="">
          <p:sp>
            <p:nvSpPr>
              <p:cNvPr id="23" name="Rectangle 4">
                <a:extLst>
                  <a:ext uri="{FF2B5EF4-FFF2-40B4-BE49-F238E27FC236}">
                    <a16:creationId xmlns:a16="http://schemas.microsoft.com/office/drawing/2014/main" id="{C295725A-56E3-6034-E25C-CBD8443C063D}"/>
                  </a:ext>
                </a:extLst>
              </p:cNvPr>
              <p:cNvSpPr>
                <a:spLocks noRot="1" noChangeAspect="1" noMove="1" noResize="1" noEditPoints="1" noAdjustHandles="1" noChangeArrowheads="1" noChangeShapeType="1" noTextEdit="1"/>
              </p:cNvSpPr>
              <p:nvPr/>
            </p:nvSpPr>
            <p:spPr>
              <a:xfrm>
                <a:off x="695324" y="621119"/>
                <a:ext cx="8201026" cy="311111"/>
              </a:xfrm>
              <a:prstGeom prst="rect">
                <a:avLst/>
              </a:prstGeom>
              <a:blipFill>
                <a:blip r:embed="rId4"/>
                <a:stretch>
                  <a:fillRect l="-967" t="-52941" b="-372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4">
                <a:extLst>
                  <a:ext uri="{FF2B5EF4-FFF2-40B4-BE49-F238E27FC236}">
                    <a16:creationId xmlns:a16="http://schemas.microsoft.com/office/drawing/2014/main" id="{06C26338-3ED3-5631-1E67-5E3E0C16F2C5}"/>
                  </a:ext>
                </a:extLst>
              </p:cNvPr>
              <p:cNvSpPr/>
              <p:nvPr/>
            </p:nvSpPr>
            <p:spPr>
              <a:xfrm>
                <a:off x="695325" y="1922403"/>
                <a:ext cx="10619083" cy="3678956"/>
              </a:xfrm>
              <a:prstGeom prst="rect">
                <a:avLst/>
              </a:prstGeom>
            </p:spPr>
            <p:txBody>
              <a:bodyPr wrap="square">
                <a:spAutoFit/>
              </a:bodyPr>
              <a:lstStyle/>
              <a:p>
                <a:pPr marL="285750" indent="-285750">
                  <a:buClr>
                    <a:srgbClr val="1F7E9C"/>
                  </a:buClr>
                  <a:buFont typeface="Wingdings" panose="05000000000000000000" pitchFamily="2" charset="2"/>
                  <a:buChar char="v"/>
                </a:pPr>
                <a:r>
                  <a:rPr lang="it-IT" noProof="0" dirty="0">
                    <a:solidFill>
                      <a:schemeClr val="bg2">
                        <a:lumMod val="25000"/>
                      </a:schemeClr>
                    </a:solidFill>
                    <a:latin typeface="Atkinson Hyperlegible" pitchFamily="2" charset="77"/>
                    <a:ea typeface="Roboto" panose="02000000000000000000" pitchFamily="2" charset="0"/>
                    <a:cs typeface="Roboto" panose="02000000000000000000" pitchFamily="2" charset="0"/>
                  </a:rPr>
                  <a:t>Ipotesi di linearità nell’intorno di </a:t>
                </a:r>
                <a14:m>
                  <m:oMath xmlns:m="http://schemas.openxmlformats.org/officeDocument/2006/math">
                    <m:r>
                      <a:rPr lang="it-IT" b="0" i="1" noProof="0" smtClean="0">
                        <a:solidFill>
                          <a:schemeClr val="bg2">
                            <a:lumMod val="25000"/>
                          </a:schemeClr>
                        </a:solidFill>
                        <a:latin typeface="Cambria Math" panose="02040503050406030204" pitchFamily="18" charset="0"/>
                        <a:ea typeface="Roboto" panose="02000000000000000000" pitchFamily="2" charset="0"/>
                        <a:cs typeface="Roboto" panose="02000000000000000000" pitchFamily="2" charset="0"/>
                      </a:rPr>
                      <m:t>𝜃</m:t>
                    </m:r>
                    <m:r>
                      <a:rPr lang="it-IT" b="0" i="1" noProof="0" smtClean="0">
                        <a:solidFill>
                          <a:schemeClr val="bg2">
                            <a:lumMod val="25000"/>
                          </a:schemeClr>
                        </a:solidFill>
                        <a:latin typeface="Cambria Math" panose="02040503050406030204" pitchFamily="18" charset="0"/>
                        <a:ea typeface="Roboto" panose="02000000000000000000" pitchFamily="2" charset="0"/>
                        <a:cs typeface="Roboto" panose="02000000000000000000" pitchFamily="2" charset="0"/>
                      </a:rPr>
                      <m:t>≈0  ⇒</m:t>
                    </m:r>
                  </m:oMath>
                </a14:m>
                <a:r>
                  <a:rPr lang="it-IT" dirty="0">
                    <a:solidFill>
                      <a:schemeClr val="bg2">
                        <a:lumMod val="25000"/>
                      </a:schemeClr>
                    </a:solidFill>
                    <a:latin typeface="Atkinson Hyperlegible" pitchFamily="2" charset="77"/>
                    <a:ea typeface="Roboto" panose="02000000000000000000" pitchFamily="2" charset="0"/>
                    <a:cs typeface="Roboto" panose="02000000000000000000" pitchFamily="2" charset="0"/>
                  </a:rPr>
                  <a:t> dinamiche locali del pendolo invertito descrivibili dal sistema spazio-stato:</a:t>
                </a:r>
              </a:p>
              <a:p>
                <a:pPr>
                  <a:buClr>
                    <a:srgbClr val="1F7E9C"/>
                  </a:buClr>
                </a:pPr>
                <a14:m>
                  <m:oMathPara xmlns:m="http://schemas.openxmlformats.org/officeDocument/2006/math">
                    <m:oMathParaPr>
                      <m:jc m:val="centerGroup"/>
                    </m:oMathParaPr>
                    <m:oMath xmlns:m="http://schemas.openxmlformats.org/officeDocument/2006/math">
                      <m:sSub>
                        <m:sSubPr>
                          <m:ctrlPr>
                            <a:rPr lang="it-IT" b="0" i="1" smtClean="0">
                              <a:solidFill>
                                <a:schemeClr val="bg2">
                                  <a:lumMod val="25000"/>
                                </a:schemeClr>
                              </a:solidFill>
                              <a:latin typeface="Cambria Math" panose="02040503050406030204" pitchFamily="18" charset="0"/>
                              <a:ea typeface="Roboto" panose="02000000000000000000" pitchFamily="2" charset="0"/>
                              <a:cs typeface="Roboto" panose="02000000000000000000" pitchFamily="2" charset="0"/>
                            </a:rPr>
                          </m:ctrlPr>
                        </m:sSubPr>
                        <m:e>
                          <m:r>
                            <a:rPr lang="it-IT" b="0" i="1" smtClean="0">
                              <a:solidFill>
                                <a:schemeClr val="bg2">
                                  <a:lumMod val="25000"/>
                                </a:schemeClr>
                              </a:solidFill>
                              <a:latin typeface="Cambria Math" panose="02040503050406030204" pitchFamily="18" charset="0"/>
                              <a:ea typeface="Roboto" panose="02000000000000000000" pitchFamily="2" charset="0"/>
                              <a:cs typeface="Roboto" panose="02000000000000000000" pitchFamily="2" charset="0"/>
                            </a:rPr>
                            <m:t>𝑦</m:t>
                          </m:r>
                        </m:e>
                        <m:sub>
                          <m:r>
                            <a:rPr lang="it-IT" b="0" i="1" smtClean="0">
                              <a:solidFill>
                                <a:schemeClr val="bg2">
                                  <a:lumMod val="25000"/>
                                </a:schemeClr>
                              </a:solidFill>
                              <a:latin typeface="Cambria Math" panose="02040503050406030204" pitchFamily="18" charset="0"/>
                              <a:ea typeface="Roboto" panose="02000000000000000000" pitchFamily="2" charset="0"/>
                              <a:cs typeface="Roboto" panose="02000000000000000000" pitchFamily="2" charset="0"/>
                            </a:rPr>
                            <m:t>𝑘</m:t>
                          </m:r>
                          <m:r>
                            <a:rPr lang="it-IT" b="0" i="1" smtClean="0">
                              <a:solidFill>
                                <a:schemeClr val="bg2">
                                  <a:lumMod val="25000"/>
                                </a:schemeClr>
                              </a:solidFill>
                              <a:latin typeface="Cambria Math" panose="02040503050406030204" pitchFamily="18" charset="0"/>
                              <a:ea typeface="Roboto" panose="02000000000000000000" pitchFamily="2" charset="0"/>
                              <a:cs typeface="Roboto" panose="02000000000000000000" pitchFamily="2" charset="0"/>
                            </a:rPr>
                            <m:t>+1</m:t>
                          </m:r>
                        </m:sub>
                      </m:sSub>
                      <m:r>
                        <a:rPr lang="it-IT" b="0" i="1" smtClean="0">
                          <a:solidFill>
                            <a:schemeClr val="bg2">
                              <a:lumMod val="25000"/>
                            </a:schemeClr>
                          </a:solidFill>
                          <a:latin typeface="Cambria Math" panose="02040503050406030204" pitchFamily="18" charset="0"/>
                          <a:ea typeface="Roboto" panose="02000000000000000000" pitchFamily="2" charset="0"/>
                          <a:cs typeface="Roboto" panose="02000000000000000000" pitchFamily="2" charset="0"/>
                        </a:rPr>
                        <m:t>=</m:t>
                      </m:r>
                      <m:r>
                        <a:rPr lang="it-IT" b="0" i="1" smtClean="0">
                          <a:solidFill>
                            <a:schemeClr val="bg2">
                              <a:lumMod val="25000"/>
                            </a:schemeClr>
                          </a:solidFill>
                          <a:latin typeface="Cambria Math" panose="02040503050406030204" pitchFamily="18" charset="0"/>
                          <a:ea typeface="Roboto" panose="02000000000000000000" pitchFamily="2" charset="0"/>
                          <a:cs typeface="Roboto" panose="02000000000000000000" pitchFamily="2" charset="0"/>
                        </a:rPr>
                        <m:t>𝐴</m:t>
                      </m:r>
                      <m:sSub>
                        <m:sSubPr>
                          <m:ctrlPr>
                            <a:rPr lang="it-IT" b="0" i="1" smtClean="0">
                              <a:solidFill>
                                <a:schemeClr val="bg2">
                                  <a:lumMod val="25000"/>
                                </a:schemeClr>
                              </a:solidFill>
                              <a:latin typeface="Cambria Math" panose="02040503050406030204" pitchFamily="18" charset="0"/>
                              <a:ea typeface="Roboto" panose="02000000000000000000" pitchFamily="2" charset="0"/>
                              <a:cs typeface="Roboto" panose="02000000000000000000" pitchFamily="2" charset="0"/>
                            </a:rPr>
                          </m:ctrlPr>
                        </m:sSubPr>
                        <m:e>
                          <m:r>
                            <a:rPr lang="it-IT" b="0" i="1" smtClean="0">
                              <a:solidFill>
                                <a:schemeClr val="bg2">
                                  <a:lumMod val="25000"/>
                                </a:schemeClr>
                              </a:solidFill>
                              <a:latin typeface="Cambria Math" panose="02040503050406030204" pitchFamily="18" charset="0"/>
                              <a:ea typeface="Roboto" panose="02000000000000000000" pitchFamily="2" charset="0"/>
                              <a:cs typeface="Roboto" panose="02000000000000000000" pitchFamily="2" charset="0"/>
                            </a:rPr>
                            <m:t>𝑦</m:t>
                          </m:r>
                        </m:e>
                        <m:sub>
                          <m:r>
                            <a:rPr lang="it-IT" b="0" i="1" smtClean="0">
                              <a:solidFill>
                                <a:schemeClr val="bg2">
                                  <a:lumMod val="25000"/>
                                </a:schemeClr>
                              </a:solidFill>
                              <a:latin typeface="Cambria Math" panose="02040503050406030204" pitchFamily="18" charset="0"/>
                              <a:ea typeface="Roboto" panose="02000000000000000000" pitchFamily="2" charset="0"/>
                              <a:cs typeface="Roboto" panose="02000000000000000000" pitchFamily="2" charset="0"/>
                            </a:rPr>
                            <m:t>𝑘</m:t>
                          </m:r>
                        </m:sub>
                      </m:sSub>
                      <m:r>
                        <a:rPr lang="it-IT" b="0" i="1" smtClean="0">
                          <a:solidFill>
                            <a:schemeClr val="bg2">
                              <a:lumMod val="25000"/>
                            </a:schemeClr>
                          </a:solidFill>
                          <a:latin typeface="Cambria Math" panose="02040503050406030204" pitchFamily="18" charset="0"/>
                          <a:ea typeface="Roboto" panose="02000000000000000000" pitchFamily="2" charset="0"/>
                          <a:cs typeface="Roboto" panose="02000000000000000000" pitchFamily="2" charset="0"/>
                        </a:rPr>
                        <m:t>+</m:t>
                      </m:r>
                      <m:r>
                        <a:rPr lang="it-IT" b="0" i="1" smtClean="0">
                          <a:solidFill>
                            <a:schemeClr val="bg2">
                              <a:lumMod val="25000"/>
                            </a:schemeClr>
                          </a:solidFill>
                          <a:latin typeface="Cambria Math" panose="02040503050406030204" pitchFamily="18" charset="0"/>
                          <a:ea typeface="Roboto" panose="02000000000000000000" pitchFamily="2" charset="0"/>
                          <a:cs typeface="Roboto" panose="02000000000000000000" pitchFamily="2" charset="0"/>
                        </a:rPr>
                        <m:t>𝐵</m:t>
                      </m:r>
                      <m:sSub>
                        <m:sSubPr>
                          <m:ctrlPr>
                            <a:rPr lang="it-IT" b="0" i="1" smtClean="0">
                              <a:solidFill>
                                <a:schemeClr val="bg2">
                                  <a:lumMod val="25000"/>
                                </a:schemeClr>
                              </a:solidFill>
                              <a:latin typeface="Cambria Math" panose="02040503050406030204" pitchFamily="18" charset="0"/>
                              <a:ea typeface="Roboto" panose="02000000000000000000" pitchFamily="2" charset="0"/>
                              <a:cs typeface="Roboto" panose="02000000000000000000" pitchFamily="2" charset="0"/>
                            </a:rPr>
                          </m:ctrlPr>
                        </m:sSubPr>
                        <m:e>
                          <m:r>
                            <a:rPr lang="it-IT" b="0" i="1" smtClean="0">
                              <a:solidFill>
                                <a:schemeClr val="bg2">
                                  <a:lumMod val="25000"/>
                                </a:schemeClr>
                              </a:solidFill>
                              <a:latin typeface="Cambria Math" panose="02040503050406030204" pitchFamily="18" charset="0"/>
                              <a:ea typeface="Roboto" panose="02000000000000000000" pitchFamily="2" charset="0"/>
                              <a:cs typeface="Roboto" panose="02000000000000000000" pitchFamily="2" charset="0"/>
                            </a:rPr>
                            <m:t>𝑢</m:t>
                          </m:r>
                        </m:e>
                        <m:sub>
                          <m:r>
                            <a:rPr lang="it-IT" b="0" i="1" smtClean="0">
                              <a:solidFill>
                                <a:schemeClr val="bg2">
                                  <a:lumMod val="25000"/>
                                </a:schemeClr>
                              </a:solidFill>
                              <a:latin typeface="Cambria Math" panose="02040503050406030204" pitchFamily="18" charset="0"/>
                              <a:ea typeface="Roboto" panose="02000000000000000000" pitchFamily="2" charset="0"/>
                              <a:cs typeface="Roboto" panose="02000000000000000000" pitchFamily="2" charset="0"/>
                            </a:rPr>
                            <m:t>𝑘</m:t>
                          </m:r>
                        </m:sub>
                      </m:sSub>
                    </m:oMath>
                  </m:oMathPara>
                </a14:m>
                <a:endParaRPr lang="it-IT" dirty="0">
                  <a:solidFill>
                    <a:schemeClr val="bg2">
                      <a:lumMod val="25000"/>
                    </a:schemeClr>
                  </a:solidFill>
                  <a:latin typeface="Atkinson Hyperlegible" pitchFamily="2" charset="77"/>
                  <a:ea typeface="Roboto" panose="02000000000000000000" pitchFamily="2" charset="0"/>
                  <a:cs typeface="Roboto" panose="02000000000000000000" pitchFamily="2" charset="0"/>
                </a:endParaRPr>
              </a:p>
              <a:p>
                <a:pPr marL="285750" indent="-285750">
                  <a:buClr>
                    <a:srgbClr val="1F7E9C"/>
                  </a:buClr>
                  <a:buFont typeface="Wingdings" panose="05000000000000000000" pitchFamily="2" charset="2"/>
                  <a:buChar char="v"/>
                </a:pPr>
                <a:endParaRPr lang="it-IT" b="1" dirty="0">
                  <a:solidFill>
                    <a:schemeClr val="bg2">
                      <a:lumMod val="25000"/>
                    </a:schemeClr>
                  </a:solidFill>
                  <a:latin typeface="Atkinson Hyperlegible" pitchFamily="2" charset="77"/>
                  <a:ea typeface="Roboto" panose="02000000000000000000" pitchFamily="2" charset="0"/>
                  <a:cs typeface="Roboto" panose="02000000000000000000" pitchFamily="2" charset="0"/>
                </a:endParaRPr>
              </a:p>
              <a:p>
                <a:pPr marL="285750" indent="-285750">
                  <a:buClr>
                    <a:srgbClr val="1F7E9C"/>
                  </a:buClr>
                  <a:buFont typeface="Wingdings" panose="05000000000000000000" pitchFamily="2" charset="2"/>
                  <a:buChar char="v"/>
                </a:pPr>
                <a:r>
                  <a:rPr lang="it-IT" dirty="0">
                    <a:solidFill>
                      <a:schemeClr val="bg2">
                        <a:lumMod val="25000"/>
                      </a:schemeClr>
                    </a:solidFill>
                    <a:latin typeface="Atkinson Hyperlegible" pitchFamily="2" charset="77"/>
                    <a:ea typeface="Roboto" panose="02000000000000000000" pitchFamily="2" charset="0"/>
                    <a:cs typeface="Roboto" panose="02000000000000000000" pitchFamily="2" charset="0"/>
                  </a:rPr>
                  <a:t>Formulazione del problema di regressione lineare per la stima di A e B, a partire dai dataset con </a:t>
                </a:r>
                <a:br>
                  <a:rPr lang="it-IT" dirty="0">
                    <a:solidFill>
                      <a:schemeClr val="bg2">
                        <a:lumMod val="25000"/>
                      </a:schemeClr>
                    </a:solidFill>
                    <a:latin typeface="Atkinson Hyperlegible" pitchFamily="2" charset="77"/>
                    <a:ea typeface="Roboto" panose="02000000000000000000" pitchFamily="2" charset="0"/>
                    <a:cs typeface="Roboto" panose="02000000000000000000" pitchFamily="2" charset="0"/>
                  </a:rPr>
                </a:br>
                <a:r>
                  <a:rPr lang="it-IT" dirty="0">
                    <a:solidFill>
                      <a:schemeClr val="bg2">
                        <a:lumMod val="25000"/>
                      </a:schemeClr>
                    </a:solidFill>
                    <a:latin typeface="Atkinson Hyperlegible" pitchFamily="2" charset="77"/>
                    <a:ea typeface="Roboto" panose="02000000000000000000" pitchFamily="2" charset="0"/>
                    <a:cs typeface="Roboto" panose="02000000000000000000" pitchFamily="2" charset="0"/>
                  </a:rPr>
                  <a:t>dati ingresso-uscita (stato) raccolti:</a:t>
                </a:r>
              </a:p>
              <a:p>
                <a:pPr marL="285750" indent="-285750">
                  <a:buFont typeface="Arial" panose="020B0604020202020204" pitchFamily="34" charset="0"/>
                  <a:buChar char="•"/>
                </a:pPr>
                <a:endParaRPr lang="it-IT" dirty="0">
                  <a:solidFill>
                    <a:schemeClr val="bg2">
                      <a:lumMod val="25000"/>
                    </a:schemeClr>
                  </a:solidFill>
                  <a:latin typeface="Atkinson Hyperlegible" pitchFamily="2" charset="77"/>
                  <a:ea typeface="Roboto" panose="02000000000000000000" pitchFamily="2" charset="0"/>
                  <a:cs typeface="Roboto" panose="02000000000000000000" pitchFamily="2" charset="0"/>
                </a:endParaRPr>
              </a:p>
              <a:p>
                <a:pPr/>
                <a14:m>
                  <m:oMathPara xmlns:m="http://schemas.openxmlformats.org/officeDocument/2006/math">
                    <m:oMathParaPr>
                      <m:jc m:val="centerGroup"/>
                    </m:oMathParaPr>
                    <m:oMath xmlns:m="http://schemas.openxmlformats.org/officeDocument/2006/math">
                      <m:r>
                        <a:rPr lang="it-IT" i="1">
                          <a:solidFill>
                            <a:schemeClr val="bg2">
                              <a:lumMod val="25000"/>
                            </a:schemeClr>
                          </a:solidFill>
                          <a:latin typeface="Cambria Math" panose="02040503050406030204" pitchFamily="18" charset="0"/>
                        </a:rPr>
                        <m:t>𝑌</m:t>
                      </m:r>
                      <m:r>
                        <a:rPr lang="it-IT" i="1">
                          <a:solidFill>
                            <a:schemeClr val="bg2">
                              <a:lumMod val="25000"/>
                            </a:schemeClr>
                          </a:solidFill>
                          <a:latin typeface="Cambria Math" panose="02040503050406030204" pitchFamily="18" charset="0"/>
                        </a:rPr>
                        <m:t>=</m:t>
                      </m:r>
                      <m:r>
                        <a:rPr lang="it-IT" i="1">
                          <a:solidFill>
                            <a:schemeClr val="bg2">
                              <a:lumMod val="25000"/>
                            </a:schemeClr>
                          </a:solidFill>
                          <a:latin typeface="Cambria Math" panose="02040503050406030204" pitchFamily="18" charset="0"/>
                        </a:rPr>
                        <m:t>𝑋𝑀</m:t>
                      </m:r>
                      <m:r>
                        <a:rPr lang="it-IT" i="1">
                          <a:solidFill>
                            <a:schemeClr val="bg2">
                              <a:lumMod val="25000"/>
                            </a:schemeClr>
                          </a:solidFill>
                          <a:latin typeface="Cambria Math" panose="02040503050406030204" pitchFamily="18" charset="0"/>
                        </a:rPr>
                        <m:t>   </m:t>
                      </m:r>
                      <m:r>
                        <a:rPr lang="it-IT" i="1">
                          <a:solidFill>
                            <a:schemeClr val="bg2">
                              <a:lumMod val="25000"/>
                            </a:schemeClr>
                          </a:solidFill>
                          <a:latin typeface="Cambria Math" panose="02040503050406030204" pitchFamily="18" charset="0"/>
                        </a:rPr>
                        <m:t>↔</m:t>
                      </m:r>
                      <m:r>
                        <a:rPr lang="it-IT" i="1">
                          <a:solidFill>
                            <a:schemeClr val="bg2">
                              <a:lumMod val="25000"/>
                            </a:schemeClr>
                          </a:solidFill>
                          <a:latin typeface="Cambria Math" panose="02040503050406030204" pitchFamily="18" charset="0"/>
                        </a:rPr>
                        <m:t> </m:t>
                      </m:r>
                      <m:limLow>
                        <m:limLowPr>
                          <m:ctrlPr>
                            <a:rPr lang="it-IT" i="1">
                              <a:solidFill>
                                <a:schemeClr val="bg2">
                                  <a:lumMod val="25000"/>
                                </a:schemeClr>
                              </a:solidFill>
                              <a:latin typeface="Cambria Math" panose="02040503050406030204" pitchFamily="18" charset="0"/>
                            </a:rPr>
                          </m:ctrlPr>
                        </m:limLowPr>
                        <m:e>
                          <m:groupChr>
                            <m:groupChrPr>
                              <m:chr m:val="⏟"/>
                              <m:ctrlPr>
                                <a:rPr lang="it-IT" i="1">
                                  <a:solidFill>
                                    <a:schemeClr val="bg2">
                                      <a:lumMod val="25000"/>
                                    </a:schemeClr>
                                  </a:solidFill>
                                  <a:latin typeface="Cambria Math" panose="02040503050406030204" pitchFamily="18" charset="0"/>
                                </a:rPr>
                              </m:ctrlPr>
                            </m:groupChrPr>
                            <m:e>
                              <m:d>
                                <m:dPr>
                                  <m:begChr m:val="["/>
                                  <m:endChr m:val="]"/>
                                  <m:ctrlPr>
                                    <a:rPr lang="it-IT" i="1">
                                      <a:solidFill>
                                        <a:schemeClr val="bg2">
                                          <a:lumMod val="25000"/>
                                        </a:schemeClr>
                                      </a:solidFill>
                                      <a:latin typeface="Cambria Math" panose="02040503050406030204" pitchFamily="18" charset="0"/>
                                    </a:rPr>
                                  </m:ctrlPr>
                                </m:dPr>
                                <m:e>
                                  <m:m>
                                    <m:mPr>
                                      <m:mcs>
                                        <m:mc>
                                          <m:mcPr>
                                            <m:count m:val="1"/>
                                            <m:mcJc m:val="center"/>
                                          </m:mcPr>
                                        </m:mc>
                                      </m:mcs>
                                      <m:ctrlPr>
                                        <a:rPr lang="it-IT" i="1">
                                          <a:solidFill>
                                            <a:schemeClr val="bg2">
                                              <a:lumMod val="25000"/>
                                            </a:schemeClr>
                                          </a:solidFill>
                                          <a:latin typeface="Cambria Math" panose="02040503050406030204" pitchFamily="18" charset="0"/>
                                        </a:rPr>
                                      </m:ctrlPr>
                                    </m:mPr>
                                    <m:mr>
                                      <m:e>
                                        <m:sSubSup>
                                          <m:sSubSupPr>
                                            <m:ctrlPr>
                                              <a:rPr lang="it-IT" i="1">
                                                <a:solidFill>
                                                  <a:schemeClr val="bg2">
                                                    <a:lumMod val="25000"/>
                                                  </a:schemeClr>
                                                </a:solidFill>
                                                <a:latin typeface="Cambria Math" panose="02040503050406030204" pitchFamily="18" charset="0"/>
                                              </a:rPr>
                                            </m:ctrlPr>
                                          </m:sSubSupPr>
                                          <m:e>
                                            <m:r>
                                              <a:rPr lang="it-IT" i="1">
                                                <a:solidFill>
                                                  <a:schemeClr val="bg2">
                                                    <a:lumMod val="25000"/>
                                                  </a:schemeClr>
                                                </a:solidFill>
                                                <a:latin typeface="Cambria Math" panose="02040503050406030204" pitchFamily="18" charset="0"/>
                                              </a:rPr>
                                              <m:t>𝑦</m:t>
                                            </m:r>
                                          </m:e>
                                          <m:sub>
                                            <m:r>
                                              <a:rPr lang="it-IT" i="1">
                                                <a:solidFill>
                                                  <a:schemeClr val="bg2">
                                                    <a:lumMod val="25000"/>
                                                  </a:schemeClr>
                                                </a:solidFill>
                                                <a:latin typeface="Cambria Math" panose="02040503050406030204" pitchFamily="18" charset="0"/>
                                              </a:rPr>
                                              <m:t>2</m:t>
                                            </m:r>
                                          </m:sub>
                                          <m:sup>
                                            <m:r>
                                              <a:rPr lang="it-IT" i="1">
                                                <a:solidFill>
                                                  <a:schemeClr val="bg2">
                                                    <a:lumMod val="25000"/>
                                                  </a:schemeClr>
                                                </a:solidFill>
                                                <a:latin typeface="Cambria Math" panose="02040503050406030204" pitchFamily="18" charset="0"/>
                                              </a:rPr>
                                              <m:t>𝑇</m:t>
                                            </m:r>
                                          </m:sup>
                                        </m:sSubSup>
                                      </m:e>
                                    </m:mr>
                                    <m:mr>
                                      <m:e>
                                        <m:sSubSup>
                                          <m:sSubSupPr>
                                            <m:ctrlPr>
                                              <a:rPr lang="it-IT" i="1">
                                                <a:solidFill>
                                                  <a:schemeClr val="bg2">
                                                    <a:lumMod val="25000"/>
                                                  </a:schemeClr>
                                                </a:solidFill>
                                                <a:latin typeface="Cambria Math" panose="02040503050406030204" pitchFamily="18" charset="0"/>
                                              </a:rPr>
                                            </m:ctrlPr>
                                          </m:sSubSupPr>
                                          <m:e>
                                            <m:r>
                                              <a:rPr lang="it-IT" i="1">
                                                <a:solidFill>
                                                  <a:schemeClr val="bg2">
                                                    <a:lumMod val="25000"/>
                                                  </a:schemeClr>
                                                </a:solidFill>
                                                <a:latin typeface="Cambria Math" panose="02040503050406030204" pitchFamily="18" charset="0"/>
                                              </a:rPr>
                                              <m:t>𝑦</m:t>
                                            </m:r>
                                          </m:e>
                                          <m:sub>
                                            <m:r>
                                              <a:rPr lang="it-IT" i="1">
                                                <a:solidFill>
                                                  <a:schemeClr val="bg2">
                                                    <a:lumMod val="25000"/>
                                                  </a:schemeClr>
                                                </a:solidFill>
                                                <a:latin typeface="Cambria Math" panose="02040503050406030204" pitchFamily="18" charset="0"/>
                                              </a:rPr>
                                              <m:t>3</m:t>
                                            </m:r>
                                          </m:sub>
                                          <m:sup>
                                            <m:r>
                                              <a:rPr lang="it-IT" i="1">
                                                <a:solidFill>
                                                  <a:schemeClr val="bg2">
                                                    <a:lumMod val="25000"/>
                                                  </a:schemeClr>
                                                </a:solidFill>
                                                <a:latin typeface="Cambria Math" panose="02040503050406030204" pitchFamily="18" charset="0"/>
                                              </a:rPr>
                                              <m:t>𝑇</m:t>
                                            </m:r>
                                          </m:sup>
                                        </m:sSubSup>
                                      </m:e>
                                    </m:mr>
                                    <m:mr>
                                      <m:e>
                                        <m:r>
                                          <a:rPr lang="it-IT" i="1">
                                            <a:solidFill>
                                              <a:schemeClr val="bg2">
                                                <a:lumMod val="25000"/>
                                              </a:schemeClr>
                                            </a:solidFill>
                                            <a:latin typeface="Cambria Math" panose="02040503050406030204" pitchFamily="18" charset="0"/>
                                          </a:rPr>
                                          <m:t>⋮</m:t>
                                        </m:r>
                                      </m:e>
                                    </m:mr>
                                    <m:mr>
                                      <m:e>
                                        <m:sSubSup>
                                          <m:sSubSupPr>
                                            <m:ctrlPr>
                                              <a:rPr lang="it-IT" i="1">
                                                <a:solidFill>
                                                  <a:schemeClr val="bg2">
                                                    <a:lumMod val="25000"/>
                                                  </a:schemeClr>
                                                </a:solidFill>
                                                <a:latin typeface="Cambria Math" panose="02040503050406030204" pitchFamily="18" charset="0"/>
                                              </a:rPr>
                                            </m:ctrlPr>
                                          </m:sSubSupPr>
                                          <m:e>
                                            <m:r>
                                              <a:rPr lang="it-IT" i="1">
                                                <a:solidFill>
                                                  <a:schemeClr val="bg2">
                                                    <a:lumMod val="25000"/>
                                                  </a:schemeClr>
                                                </a:solidFill>
                                                <a:latin typeface="Cambria Math" panose="02040503050406030204" pitchFamily="18" charset="0"/>
                                              </a:rPr>
                                              <m:t>𝑦</m:t>
                                            </m:r>
                                          </m:e>
                                          <m:sub>
                                            <m:r>
                                              <a:rPr lang="it-IT" i="1">
                                                <a:solidFill>
                                                  <a:schemeClr val="bg2">
                                                    <a:lumMod val="25000"/>
                                                  </a:schemeClr>
                                                </a:solidFill>
                                                <a:latin typeface="Cambria Math" panose="02040503050406030204" pitchFamily="18" charset="0"/>
                                              </a:rPr>
                                              <m:t>𝑁</m:t>
                                            </m:r>
                                          </m:sub>
                                          <m:sup>
                                            <m:r>
                                              <a:rPr lang="it-IT" i="1">
                                                <a:solidFill>
                                                  <a:schemeClr val="bg2">
                                                    <a:lumMod val="25000"/>
                                                  </a:schemeClr>
                                                </a:solidFill>
                                                <a:latin typeface="Cambria Math" panose="02040503050406030204" pitchFamily="18" charset="0"/>
                                              </a:rPr>
                                              <m:t>𝑇</m:t>
                                            </m:r>
                                          </m:sup>
                                        </m:sSubSup>
                                      </m:e>
                                    </m:mr>
                                  </m:m>
                                </m:e>
                              </m:d>
                            </m:e>
                          </m:groupChr>
                        </m:e>
                        <m:lim>
                          <m:eqArr>
                            <m:eqArrPr>
                              <m:ctrlPr>
                                <a:rPr lang="it-IT" i="1" smtClean="0">
                                  <a:solidFill>
                                    <a:schemeClr val="bg2">
                                      <a:lumMod val="25000"/>
                                    </a:schemeClr>
                                  </a:solidFill>
                                  <a:latin typeface="Cambria Math" panose="02040503050406030204" pitchFamily="18" charset="0"/>
                                </a:rPr>
                              </m:ctrlPr>
                            </m:eqArrPr>
                            <m:e/>
                            <m:e>
                              <m:r>
                                <m:rPr>
                                  <m:nor/>
                                </m:rPr>
                                <a:rPr lang="it-IT" i="0" smtClean="0">
                                  <a:solidFill>
                                    <a:schemeClr val="bg2">
                                      <a:lumMod val="25000"/>
                                    </a:schemeClr>
                                  </a:solidFill>
                                  <a:latin typeface="Cambria Math" panose="02040503050406030204" pitchFamily="18" charset="0"/>
                                </a:rPr>
                                <m:t>stato</m:t>
                              </m:r>
                              <m:r>
                                <m:rPr>
                                  <m:nor/>
                                </m:rPr>
                                <a:rPr lang="it-IT" i="0" smtClean="0">
                                  <a:solidFill>
                                    <a:schemeClr val="bg2">
                                      <a:lumMod val="25000"/>
                                    </a:schemeClr>
                                  </a:solidFill>
                                  <a:latin typeface="Cambria Math" panose="02040503050406030204" pitchFamily="18" charset="0"/>
                                </a:rPr>
                                <m:t> </m:t>
                              </m:r>
                              <m:r>
                                <m:rPr>
                                  <m:nor/>
                                </m:rPr>
                                <a:rPr lang="it-IT" i="0" smtClean="0">
                                  <a:solidFill>
                                    <a:schemeClr val="bg2">
                                      <a:lumMod val="25000"/>
                                    </a:schemeClr>
                                  </a:solidFill>
                                  <a:latin typeface="Cambria Math" panose="02040503050406030204" pitchFamily="18" charset="0"/>
                                </a:rPr>
                                <m:t>futuro</m:t>
                              </m:r>
                            </m:e>
                          </m:eqArr>
                        </m:lim>
                      </m:limLow>
                      <m:r>
                        <a:rPr lang="it-IT" i="1">
                          <a:solidFill>
                            <a:schemeClr val="bg2">
                              <a:lumMod val="25000"/>
                            </a:schemeClr>
                          </a:solidFill>
                          <a:latin typeface="Cambria Math" panose="02040503050406030204" pitchFamily="18" charset="0"/>
                        </a:rPr>
                        <m:t>=</m:t>
                      </m:r>
                      <m:limLow>
                        <m:limLowPr>
                          <m:ctrlPr>
                            <a:rPr lang="it-IT" i="1">
                              <a:solidFill>
                                <a:schemeClr val="bg2">
                                  <a:lumMod val="25000"/>
                                </a:schemeClr>
                              </a:solidFill>
                              <a:latin typeface="Cambria Math" panose="02040503050406030204" pitchFamily="18" charset="0"/>
                            </a:rPr>
                          </m:ctrlPr>
                        </m:limLowPr>
                        <m:e>
                          <m:groupChr>
                            <m:groupChrPr>
                              <m:chr m:val="⏟"/>
                              <m:ctrlPr>
                                <a:rPr lang="it-IT" i="1">
                                  <a:solidFill>
                                    <a:schemeClr val="bg2">
                                      <a:lumMod val="25000"/>
                                    </a:schemeClr>
                                  </a:solidFill>
                                  <a:latin typeface="Cambria Math" panose="02040503050406030204" pitchFamily="18" charset="0"/>
                                </a:rPr>
                              </m:ctrlPr>
                            </m:groupChrPr>
                            <m:e>
                              <m:d>
                                <m:dPr>
                                  <m:begChr m:val="["/>
                                  <m:endChr m:val="]"/>
                                  <m:ctrlPr>
                                    <a:rPr lang="it-IT" i="1">
                                      <a:solidFill>
                                        <a:schemeClr val="bg2">
                                          <a:lumMod val="25000"/>
                                        </a:schemeClr>
                                      </a:solidFill>
                                      <a:latin typeface="Cambria Math" panose="02040503050406030204" pitchFamily="18" charset="0"/>
                                    </a:rPr>
                                  </m:ctrlPr>
                                </m:dPr>
                                <m:e>
                                  <m:m>
                                    <m:mPr>
                                      <m:mcs>
                                        <m:mc>
                                          <m:mcPr>
                                            <m:count m:val="2"/>
                                            <m:mcJc m:val="center"/>
                                          </m:mcPr>
                                        </m:mc>
                                      </m:mcs>
                                      <m:ctrlPr>
                                        <a:rPr lang="it-IT" i="1">
                                          <a:solidFill>
                                            <a:schemeClr val="bg2">
                                              <a:lumMod val="25000"/>
                                            </a:schemeClr>
                                          </a:solidFill>
                                          <a:latin typeface="Cambria Math" panose="02040503050406030204" pitchFamily="18" charset="0"/>
                                        </a:rPr>
                                      </m:ctrlPr>
                                    </m:mPr>
                                    <m:mr>
                                      <m:e>
                                        <m:sSubSup>
                                          <m:sSubSupPr>
                                            <m:ctrlPr>
                                              <a:rPr lang="it-IT" i="1">
                                                <a:solidFill>
                                                  <a:schemeClr val="bg2">
                                                    <a:lumMod val="25000"/>
                                                  </a:schemeClr>
                                                </a:solidFill>
                                                <a:latin typeface="Cambria Math" panose="02040503050406030204" pitchFamily="18" charset="0"/>
                                              </a:rPr>
                                            </m:ctrlPr>
                                          </m:sSubSupPr>
                                          <m:e>
                                            <m:r>
                                              <a:rPr lang="it-IT" i="1">
                                                <a:solidFill>
                                                  <a:schemeClr val="bg2">
                                                    <a:lumMod val="25000"/>
                                                  </a:schemeClr>
                                                </a:solidFill>
                                                <a:latin typeface="Cambria Math" panose="02040503050406030204" pitchFamily="18" charset="0"/>
                                              </a:rPr>
                                              <m:t>𝑦</m:t>
                                            </m:r>
                                          </m:e>
                                          <m:sub>
                                            <m:r>
                                              <a:rPr lang="it-IT" i="1">
                                                <a:solidFill>
                                                  <a:schemeClr val="bg2">
                                                    <a:lumMod val="25000"/>
                                                  </a:schemeClr>
                                                </a:solidFill>
                                                <a:latin typeface="Cambria Math" panose="02040503050406030204" pitchFamily="18" charset="0"/>
                                              </a:rPr>
                                              <m:t>1</m:t>
                                            </m:r>
                                          </m:sub>
                                          <m:sup>
                                            <m:r>
                                              <a:rPr lang="it-IT" i="1">
                                                <a:solidFill>
                                                  <a:schemeClr val="bg2">
                                                    <a:lumMod val="25000"/>
                                                  </a:schemeClr>
                                                </a:solidFill>
                                                <a:latin typeface="Cambria Math" panose="02040503050406030204" pitchFamily="18" charset="0"/>
                                              </a:rPr>
                                              <m:t>𝑇</m:t>
                                            </m:r>
                                          </m:sup>
                                        </m:sSubSup>
                                      </m:e>
                                      <m:e>
                                        <m:sSub>
                                          <m:sSubPr>
                                            <m:ctrlPr>
                                              <a:rPr lang="it-IT" i="1">
                                                <a:solidFill>
                                                  <a:schemeClr val="bg2">
                                                    <a:lumMod val="25000"/>
                                                  </a:schemeClr>
                                                </a:solidFill>
                                                <a:latin typeface="Cambria Math" panose="02040503050406030204" pitchFamily="18" charset="0"/>
                                              </a:rPr>
                                            </m:ctrlPr>
                                          </m:sSubPr>
                                          <m:e>
                                            <m:r>
                                              <a:rPr lang="it-IT" i="1">
                                                <a:solidFill>
                                                  <a:schemeClr val="bg2">
                                                    <a:lumMod val="25000"/>
                                                  </a:schemeClr>
                                                </a:solidFill>
                                                <a:latin typeface="Cambria Math" panose="02040503050406030204" pitchFamily="18" charset="0"/>
                                              </a:rPr>
                                              <m:t>𝑢</m:t>
                                            </m:r>
                                          </m:e>
                                          <m:sub>
                                            <m:r>
                                              <a:rPr lang="it-IT" i="1">
                                                <a:solidFill>
                                                  <a:schemeClr val="bg2">
                                                    <a:lumMod val="25000"/>
                                                  </a:schemeClr>
                                                </a:solidFill>
                                                <a:latin typeface="Cambria Math" panose="02040503050406030204" pitchFamily="18" charset="0"/>
                                              </a:rPr>
                                              <m:t>1</m:t>
                                            </m:r>
                                          </m:sub>
                                        </m:sSub>
                                      </m:e>
                                    </m:mr>
                                    <m:mr>
                                      <m:e>
                                        <m:sSubSup>
                                          <m:sSubSupPr>
                                            <m:ctrlPr>
                                              <a:rPr lang="it-IT" i="1">
                                                <a:solidFill>
                                                  <a:schemeClr val="bg2">
                                                    <a:lumMod val="25000"/>
                                                  </a:schemeClr>
                                                </a:solidFill>
                                                <a:latin typeface="Cambria Math" panose="02040503050406030204" pitchFamily="18" charset="0"/>
                                              </a:rPr>
                                            </m:ctrlPr>
                                          </m:sSubSupPr>
                                          <m:e>
                                            <m:r>
                                              <a:rPr lang="it-IT" i="1">
                                                <a:solidFill>
                                                  <a:schemeClr val="bg2">
                                                    <a:lumMod val="25000"/>
                                                  </a:schemeClr>
                                                </a:solidFill>
                                                <a:latin typeface="Cambria Math" panose="02040503050406030204" pitchFamily="18" charset="0"/>
                                              </a:rPr>
                                              <m:t>𝑦</m:t>
                                            </m:r>
                                          </m:e>
                                          <m:sub>
                                            <m:r>
                                              <a:rPr lang="it-IT" i="1">
                                                <a:solidFill>
                                                  <a:schemeClr val="bg2">
                                                    <a:lumMod val="25000"/>
                                                  </a:schemeClr>
                                                </a:solidFill>
                                                <a:latin typeface="Cambria Math" panose="02040503050406030204" pitchFamily="18" charset="0"/>
                                              </a:rPr>
                                              <m:t>2</m:t>
                                            </m:r>
                                          </m:sub>
                                          <m:sup>
                                            <m:r>
                                              <a:rPr lang="it-IT" i="1">
                                                <a:solidFill>
                                                  <a:schemeClr val="bg2">
                                                    <a:lumMod val="25000"/>
                                                  </a:schemeClr>
                                                </a:solidFill>
                                                <a:latin typeface="Cambria Math" panose="02040503050406030204" pitchFamily="18" charset="0"/>
                                              </a:rPr>
                                              <m:t>𝑇</m:t>
                                            </m:r>
                                          </m:sup>
                                        </m:sSubSup>
                                      </m:e>
                                      <m:e>
                                        <m:sSub>
                                          <m:sSubPr>
                                            <m:ctrlPr>
                                              <a:rPr lang="it-IT" i="1">
                                                <a:solidFill>
                                                  <a:schemeClr val="bg2">
                                                    <a:lumMod val="25000"/>
                                                  </a:schemeClr>
                                                </a:solidFill>
                                                <a:latin typeface="Cambria Math" panose="02040503050406030204" pitchFamily="18" charset="0"/>
                                              </a:rPr>
                                            </m:ctrlPr>
                                          </m:sSubPr>
                                          <m:e>
                                            <m:r>
                                              <a:rPr lang="it-IT" i="1">
                                                <a:solidFill>
                                                  <a:schemeClr val="bg2">
                                                    <a:lumMod val="25000"/>
                                                  </a:schemeClr>
                                                </a:solidFill>
                                                <a:latin typeface="Cambria Math" panose="02040503050406030204" pitchFamily="18" charset="0"/>
                                              </a:rPr>
                                              <m:t>𝑢</m:t>
                                            </m:r>
                                          </m:e>
                                          <m:sub>
                                            <m:r>
                                              <a:rPr lang="it-IT" i="1">
                                                <a:solidFill>
                                                  <a:schemeClr val="bg2">
                                                    <a:lumMod val="25000"/>
                                                  </a:schemeClr>
                                                </a:solidFill>
                                                <a:latin typeface="Cambria Math" panose="02040503050406030204" pitchFamily="18" charset="0"/>
                                              </a:rPr>
                                              <m:t>2</m:t>
                                            </m:r>
                                          </m:sub>
                                        </m:sSub>
                                      </m:e>
                                    </m:mr>
                                    <m:mr>
                                      <m:e>
                                        <m:r>
                                          <a:rPr lang="it-IT" i="1">
                                            <a:solidFill>
                                              <a:schemeClr val="bg2">
                                                <a:lumMod val="25000"/>
                                              </a:schemeClr>
                                            </a:solidFill>
                                            <a:latin typeface="Cambria Math" panose="02040503050406030204" pitchFamily="18" charset="0"/>
                                          </a:rPr>
                                          <m:t>⋮</m:t>
                                        </m:r>
                                      </m:e>
                                      <m:e>
                                        <m:r>
                                          <a:rPr lang="it-IT" i="1">
                                            <a:solidFill>
                                              <a:schemeClr val="bg2">
                                                <a:lumMod val="25000"/>
                                              </a:schemeClr>
                                            </a:solidFill>
                                            <a:latin typeface="Cambria Math" panose="02040503050406030204" pitchFamily="18" charset="0"/>
                                          </a:rPr>
                                          <m:t>⋮</m:t>
                                        </m:r>
                                      </m:e>
                                    </m:mr>
                                    <m:mr>
                                      <m:e>
                                        <m:sSubSup>
                                          <m:sSubSupPr>
                                            <m:ctrlPr>
                                              <a:rPr lang="it-IT" i="1">
                                                <a:solidFill>
                                                  <a:schemeClr val="bg2">
                                                    <a:lumMod val="25000"/>
                                                  </a:schemeClr>
                                                </a:solidFill>
                                                <a:latin typeface="Cambria Math" panose="02040503050406030204" pitchFamily="18" charset="0"/>
                                              </a:rPr>
                                            </m:ctrlPr>
                                          </m:sSubSupPr>
                                          <m:e>
                                            <m:r>
                                              <a:rPr lang="it-IT" i="1">
                                                <a:solidFill>
                                                  <a:schemeClr val="bg2">
                                                    <a:lumMod val="25000"/>
                                                  </a:schemeClr>
                                                </a:solidFill>
                                                <a:latin typeface="Cambria Math" panose="02040503050406030204" pitchFamily="18" charset="0"/>
                                              </a:rPr>
                                              <m:t>𝑦</m:t>
                                            </m:r>
                                          </m:e>
                                          <m:sub>
                                            <m:r>
                                              <a:rPr lang="it-IT" i="1">
                                                <a:solidFill>
                                                  <a:schemeClr val="bg2">
                                                    <a:lumMod val="25000"/>
                                                  </a:schemeClr>
                                                </a:solidFill>
                                                <a:latin typeface="Cambria Math" panose="02040503050406030204" pitchFamily="18" charset="0"/>
                                              </a:rPr>
                                              <m:t>𝑁</m:t>
                                            </m:r>
                                            <m:r>
                                              <a:rPr lang="it-IT" i="1">
                                                <a:solidFill>
                                                  <a:schemeClr val="bg2">
                                                    <a:lumMod val="25000"/>
                                                  </a:schemeClr>
                                                </a:solidFill>
                                                <a:latin typeface="Cambria Math" panose="02040503050406030204" pitchFamily="18" charset="0"/>
                                              </a:rPr>
                                              <m:t>−1</m:t>
                                            </m:r>
                                          </m:sub>
                                          <m:sup>
                                            <m:r>
                                              <a:rPr lang="it-IT" i="1">
                                                <a:solidFill>
                                                  <a:schemeClr val="bg2">
                                                    <a:lumMod val="25000"/>
                                                  </a:schemeClr>
                                                </a:solidFill>
                                                <a:latin typeface="Cambria Math" panose="02040503050406030204" pitchFamily="18" charset="0"/>
                                              </a:rPr>
                                              <m:t>𝑇</m:t>
                                            </m:r>
                                          </m:sup>
                                        </m:sSubSup>
                                      </m:e>
                                      <m:e>
                                        <m:sSub>
                                          <m:sSubPr>
                                            <m:ctrlPr>
                                              <a:rPr lang="it-IT" i="1">
                                                <a:solidFill>
                                                  <a:schemeClr val="bg2">
                                                    <a:lumMod val="25000"/>
                                                  </a:schemeClr>
                                                </a:solidFill>
                                                <a:latin typeface="Cambria Math" panose="02040503050406030204" pitchFamily="18" charset="0"/>
                                              </a:rPr>
                                            </m:ctrlPr>
                                          </m:sSubPr>
                                          <m:e>
                                            <m:r>
                                              <a:rPr lang="it-IT" i="1">
                                                <a:solidFill>
                                                  <a:schemeClr val="bg2">
                                                    <a:lumMod val="25000"/>
                                                  </a:schemeClr>
                                                </a:solidFill>
                                                <a:latin typeface="Cambria Math" panose="02040503050406030204" pitchFamily="18" charset="0"/>
                                              </a:rPr>
                                              <m:t>𝑢</m:t>
                                            </m:r>
                                          </m:e>
                                          <m:sub>
                                            <m:r>
                                              <a:rPr lang="it-IT" i="1">
                                                <a:solidFill>
                                                  <a:schemeClr val="bg2">
                                                    <a:lumMod val="25000"/>
                                                  </a:schemeClr>
                                                </a:solidFill>
                                                <a:latin typeface="Cambria Math" panose="02040503050406030204" pitchFamily="18" charset="0"/>
                                              </a:rPr>
                                              <m:t>𝑁</m:t>
                                            </m:r>
                                            <m:r>
                                              <a:rPr lang="it-IT" i="1">
                                                <a:solidFill>
                                                  <a:schemeClr val="bg2">
                                                    <a:lumMod val="25000"/>
                                                  </a:schemeClr>
                                                </a:solidFill>
                                                <a:latin typeface="Cambria Math" panose="02040503050406030204" pitchFamily="18" charset="0"/>
                                              </a:rPr>
                                              <m:t>−1</m:t>
                                            </m:r>
                                          </m:sub>
                                        </m:sSub>
                                      </m:e>
                                    </m:mr>
                                  </m:m>
                                </m:e>
                              </m:d>
                            </m:e>
                          </m:groupChr>
                        </m:e>
                        <m:lim>
                          <m:eqArr>
                            <m:eqArrPr>
                              <m:ctrlPr>
                                <a:rPr lang="it-IT" i="1" smtClean="0">
                                  <a:solidFill>
                                    <a:schemeClr val="bg2">
                                      <a:lumMod val="25000"/>
                                    </a:schemeClr>
                                  </a:solidFill>
                                  <a:latin typeface="Cambria Math" panose="02040503050406030204" pitchFamily="18" charset="0"/>
                                </a:rPr>
                              </m:ctrlPr>
                            </m:eqArrPr>
                            <m:e/>
                            <m:e>
                              <m:r>
                                <m:rPr>
                                  <m:nor/>
                                </m:rPr>
                                <a:rPr lang="it-IT" i="0" smtClean="0">
                                  <a:solidFill>
                                    <a:schemeClr val="bg2">
                                      <a:lumMod val="25000"/>
                                    </a:schemeClr>
                                  </a:solidFill>
                                  <a:latin typeface="Cambria Math" panose="02040503050406030204" pitchFamily="18" charset="0"/>
                                </a:rPr>
                                <m:t>stato</m:t>
                              </m:r>
                              <m:r>
                                <m:rPr>
                                  <m:nor/>
                                </m:rPr>
                                <a:rPr lang="it-IT" i="0" smtClean="0">
                                  <a:solidFill>
                                    <a:schemeClr val="bg2">
                                      <a:lumMod val="25000"/>
                                    </a:schemeClr>
                                  </a:solidFill>
                                  <a:latin typeface="Cambria Math" panose="02040503050406030204" pitchFamily="18" charset="0"/>
                                </a:rPr>
                                <m:t> </m:t>
                              </m:r>
                              <m:r>
                                <m:rPr>
                                  <m:nor/>
                                </m:rPr>
                                <a:rPr lang="it-IT" i="0" smtClean="0">
                                  <a:solidFill>
                                    <a:schemeClr val="bg2">
                                      <a:lumMod val="25000"/>
                                    </a:schemeClr>
                                  </a:solidFill>
                                  <a:latin typeface="Cambria Math" panose="02040503050406030204" pitchFamily="18" charset="0"/>
                                </a:rPr>
                                <m:t>e</m:t>
                              </m:r>
                              <m:r>
                                <m:rPr>
                                  <m:nor/>
                                </m:rPr>
                                <a:rPr lang="it-IT" i="0" smtClean="0">
                                  <a:solidFill>
                                    <a:schemeClr val="bg2">
                                      <a:lumMod val="25000"/>
                                    </a:schemeClr>
                                  </a:solidFill>
                                  <a:latin typeface="Cambria Math" panose="02040503050406030204" pitchFamily="18" charset="0"/>
                                </a:rPr>
                                <m:t> </m:t>
                              </m:r>
                              <m:r>
                                <m:rPr>
                                  <m:nor/>
                                </m:rPr>
                                <a:rPr lang="it-IT" i="0" smtClean="0">
                                  <a:solidFill>
                                    <a:schemeClr val="bg2">
                                      <a:lumMod val="25000"/>
                                    </a:schemeClr>
                                  </a:solidFill>
                                  <a:latin typeface="Cambria Math" panose="02040503050406030204" pitchFamily="18" charset="0"/>
                                </a:rPr>
                                <m:t>ingresso</m:t>
                              </m:r>
                            </m:e>
                          </m:eqArr>
                        </m:lim>
                      </m:limLow>
                      <m:limLow>
                        <m:limLowPr>
                          <m:ctrlPr>
                            <a:rPr lang="it-IT" i="1">
                              <a:solidFill>
                                <a:schemeClr val="bg2">
                                  <a:lumMod val="25000"/>
                                </a:schemeClr>
                              </a:solidFill>
                              <a:latin typeface="Cambria Math" panose="02040503050406030204" pitchFamily="18" charset="0"/>
                            </a:rPr>
                          </m:ctrlPr>
                        </m:limLowPr>
                        <m:e>
                          <m:groupChr>
                            <m:groupChrPr>
                              <m:chr m:val="⏟"/>
                              <m:ctrlPr>
                                <a:rPr lang="it-IT" i="1">
                                  <a:solidFill>
                                    <a:schemeClr val="bg2">
                                      <a:lumMod val="25000"/>
                                    </a:schemeClr>
                                  </a:solidFill>
                                  <a:latin typeface="Cambria Math" panose="02040503050406030204" pitchFamily="18" charset="0"/>
                                </a:rPr>
                              </m:ctrlPr>
                            </m:groupChrPr>
                            <m:e>
                              <m:d>
                                <m:dPr>
                                  <m:begChr m:val="["/>
                                  <m:endChr m:val="]"/>
                                  <m:ctrlPr>
                                    <a:rPr lang="it-IT" i="1">
                                      <a:solidFill>
                                        <a:schemeClr val="bg2">
                                          <a:lumMod val="25000"/>
                                        </a:schemeClr>
                                      </a:solidFill>
                                      <a:latin typeface="Cambria Math" panose="02040503050406030204" pitchFamily="18" charset="0"/>
                                    </a:rPr>
                                  </m:ctrlPr>
                                </m:dPr>
                                <m:e>
                                  <m:m>
                                    <m:mPr>
                                      <m:mcs>
                                        <m:mc>
                                          <m:mcPr>
                                            <m:count m:val="1"/>
                                            <m:mcJc m:val="center"/>
                                          </m:mcPr>
                                        </m:mc>
                                      </m:mcs>
                                      <m:ctrlPr>
                                        <a:rPr lang="it-IT" i="1">
                                          <a:solidFill>
                                            <a:schemeClr val="bg2">
                                              <a:lumMod val="25000"/>
                                            </a:schemeClr>
                                          </a:solidFill>
                                          <a:latin typeface="Cambria Math" panose="02040503050406030204" pitchFamily="18" charset="0"/>
                                        </a:rPr>
                                      </m:ctrlPr>
                                    </m:mPr>
                                    <m:mr>
                                      <m:e>
                                        <m:sSup>
                                          <m:sSupPr>
                                            <m:ctrlPr>
                                              <a:rPr lang="it-IT" i="1">
                                                <a:solidFill>
                                                  <a:schemeClr val="bg2">
                                                    <a:lumMod val="25000"/>
                                                  </a:schemeClr>
                                                </a:solidFill>
                                                <a:latin typeface="Cambria Math" panose="02040503050406030204" pitchFamily="18" charset="0"/>
                                              </a:rPr>
                                            </m:ctrlPr>
                                          </m:sSupPr>
                                          <m:e>
                                            <m:r>
                                              <a:rPr lang="it-IT" i="1">
                                                <a:solidFill>
                                                  <a:schemeClr val="bg2">
                                                    <a:lumMod val="25000"/>
                                                  </a:schemeClr>
                                                </a:solidFill>
                                                <a:latin typeface="Cambria Math" panose="02040503050406030204" pitchFamily="18" charset="0"/>
                                              </a:rPr>
                                              <m:t>𝐴</m:t>
                                            </m:r>
                                          </m:e>
                                          <m:sup>
                                            <m:r>
                                              <a:rPr lang="it-IT" i="1">
                                                <a:solidFill>
                                                  <a:schemeClr val="bg2">
                                                    <a:lumMod val="25000"/>
                                                  </a:schemeClr>
                                                </a:solidFill>
                                                <a:latin typeface="Cambria Math" panose="02040503050406030204" pitchFamily="18" charset="0"/>
                                              </a:rPr>
                                              <m:t>𝑇</m:t>
                                            </m:r>
                                          </m:sup>
                                        </m:sSup>
                                      </m:e>
                                    </m:mr>
                                    <m:mr>
                                      <m:e>
                                        <m:sSup>
                                          <m:sSupPr>
                                            <m:ctrlPr>
                                              <a:rPr lang="it-IT" i="1">
                                                <a:solidFill>
                                                  <a:schemeClr val="bg2">
                                                    <a:lumMod val="25000"/>
                                                  </a:schemeClr>
                                                </a:solidFill>
                                                <a:latin typeface="Cambria Math" panose="02040503050406030204" pitchFamily="18" charset="0"/>
                                              </a:rPr>
                                            </m:ctrlPr>
                                          </m:sSupPr>
                                          <m:e>
                                            <m:r>
                                              <a:rPr lang="it-IT" i="1">
                                                <a:solidFill>
                                                  <a:schemeClr val="bg2">
                                                    <a:lumMod val="25000"/>
                                                  </a:schemeClr>
                                                </a:solidFill>
                                                <a:latin typeface="Cambria Math" panose="02040503050406030204" pitchFamily="18" charset="0"/>
                                              </a:rPr>
                                              <m:t>𝐵</m:t>
                                            </m:r>
                                          </m:e>
                                          <m:sup>
                                            <m:r>
                                              <a:rPr lang="it-IT" i="1">
                                                <a:solidFill>
                                                  <a:schemeClr val="bg2">
                                                    <a:lumMod val="25000"/>
                                                  </a:schemeClr>
                                                </a:solidFill>
                                                <a:latin typeface="Cambria Math" panose="02040503050406030204" pitchFamily="18" charset="0"/>
                                              </a:rPr>
                                              <m:t>𝑇</m:t>
                                            </m:r>
                                          </m:sup>
                                        </m:sSup>
                                      </m:e>
                                    </m:mr>
                                  </m:m>
                                </m:e>
                              </m:d>
                            </m:e>
                          </m:groupChr>
                        </m:e>
                        <m:lim>
                          <m:eqArr>
                            <m:eqArrPr>
                              <m:ctrlPr>
                                <a:rPr lang="it-IT" i="1">
                                  <a:solidFill>
                                    <a:schemeClr val="bg2">
                                      <a:lumMod val="25000"/>
                                    </a:schemeClr>
                                  </a:solidFill>
                                  <a:latin typeface="Cambria Math" panose="02040503050406030204" pitchFamily="18" charset="0"/>
                                </a:rPr>
                              </m:ctrlPr>
                            </m:eqArrPr>
                            <m:e/>
                            <m:e>
                              <m:r>
                                <a:rPr lang="it-IT" i="1">
                                  <a:solidFill>
                                    <a:schemeClr val="bg2">
                                      <a:lumMod val="25000"/>
                                    </a:schemeClr>
                                  </a:solidFill>
                                  <a:latin typeface="Cambria Math" panose="02040503050406030204" pitchFamily="18" charset="0"/>
                                </a:rPr>
                                <m:t>𝑀</m:t>
                              </m:r>
                            </m:e>
                          </m:eqArr>
                        </m:lim>
                      </m:limLow>
                    </m:oMath>
                  </m:oMathPara>
                </a14:m>
                <a:endParaRPr lang="it-IT" dirty="0">
                  <a:solidFill>
                    <a:schemeClr val="bg2">
                      <a:lumMod val="25000"/>
                    </a:schemeClr>
                  </a:solidFill>
                  <a:latin typeface="Atkinson Hyperlegible" pitchFamily="2" charset="77"/>
                  <a:ea typeface="Roboto" panose="02000000000000000000" pitchFamily="2" charset="0"/>
                  <a:cs typeface="Roboto" panose="02000000000000000000" pitchFamily="2" charset="0"/>
                </a:endParaRPr>
              </a:p>
            </p:txBody>
          </p:sp>
        </mc:Choice>
        <mc:Fallback xmlns="">
          <p:sp>
            <p:nvSpPr>
              <p:cNvPr id="24" name="Rectangle 4">
                <a:extLst>
                  <a:ext uri="{FF2B5EF4-FFF2-40B4-BE49-F238E27FC236}">
                    <a16:creationId xmlns:a16="http://schemas.microsoft.com/office/drawing/2014/main" id="{06C26338-3ED3-5631-1E67-5E3E0C16F2C5}"/>
                  </a:ext>
                </a:extLst>
              </p:cNvPr>
              <p:cNvSpPr>
                <a:spLocks noRot="1" noChangeAspect="1" noMove="1" noResize="1" noEditPoints="1" noAdjustHandles="1" noChangeArrowheads="1" noChangeShapeType="1" noTextEdit="1"/>
              </p:cNvSpPr>
              <p:nvPr/>
            </p:nvSpPr>
            <p:spPr>
              <a:xfrm>
                <a:off x="695325" y="1922403"/>
                <a:ext cx="10619083" cy="3678956"/>
              </a:xfrm>
              <a:prstGeom prst="rect">
                <a:avLst/>
              </a:prstGeom>
              <a:blipFill>
                <a:blip r:embed="rId5"/>
                <a:stretch>
                  <a:fillRect l="-358" t="-687" b="-687"/>
                </a:stretch>
              </a:blipFill>
            </p:spPr>
            <p:txBody>
              <a:bodyPr/>
              <a:lstStyle/>
              <a:p>
                <a:r>
                  <a:rPr lang="en-US">
                    <a:noFill/>
                  </a:rPr>
                  <a:t> </a:t>
                </a:r>
              </a:p>
            </p:txBody>
          </p:sp>
        </mc:Fallback>
      </mc:AlternateContent>
      <p:sp>
        <p:nvSpPr>
          <p:cNvPr id="15" name="Rettangolo 14">
            <a:extLst>
              <a:ext uri="{FF2B5EF4-FFF2-40B4-BE49-F238E27FC236}">
                <a16:creationId xmlns:a16="http://schemas.microsoft.com/office/drawing/2014/main" id="{011B01F8-765C-BD36-C5AD-4D716EAAA9FB}"/>
              </a:ext>
            </a:extLst>
          </p:cNvPr>
          <p:cNvSpPr/>
          <p:nvPr/>
        </p:nvSpPr>
        <p:spPr>
          <a:xfrm>
            <a:off x="-195210" y="5943602"/>
            <a:ext cx="12387209" cy="977153"/>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16" name="Rettangolo 15">
            <a:extLst>
              <a:ext uri="{FF2B5EF4-FFF2-40B4-BE49-F238E27FC236}">
                <a16:creationId xmlns:a16="http://schemas.microsoft.com/office/drawing/2014/main" id="{E14BC5D3-1881-99DE-2915-52052BE8C024}"/>
              </a:ext>
            </a:extLst>
          </p:cNvPr>
          <p:cNvSpPr/>
          <p:nvPr/>
        </p:nvSpPr>
        <p:spPr>
          <a:xfrm>
            <a:off x="-61301" y="5934488"/>
            <a:ext cx="12305631" cy="54425"/>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pic>
        <p:nvPicPr>
          <p:cNvPr id="10" name="Immagine 9">
            <a:extLst>
              <a:ext uri="{FF2B5EF4-FFF2-40B4-BE49-F238E27FC236}">
                <a16:creationId xmlns:a16="http://schemas.microsoft.com/office/drawing/2014/main" id="{7617B5D5-0C63-88E9-E165-7A30F98BEE3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426078" y="6133296"/>
            <a:ext cx="2283511" cy="566274"/>
          </a:xfrm>
          <a:prstGeom prst="rect">
            <a:avLst/>
          </a:prstGeom>
        </p:spPr>
      </p:pic>
      <mc:AlternateContent xmlns:mc="http://schemas.openxmlformats.org/markup-compatibility/2006" xmlns:a14="http://schemas.microsoft.com/office/drawing/2010/main">
        <mc:Choice Requires="a14">
          <p:sp>
            <p:nvSpPr>
              <p:cNvPr id="4" name="TextBox 24">
                <a:extLst>
                  <a:ext uri="{FF2B5EF4-FFF2-40B4-BE49-F238E27FC236}">
                    <a16:creationId xmlns:a16="http://schemas.microsoft.com/office/drawing/2014/main" id="{32CAD893-D34C-9ECD-EA3B-9FDBE8C04426}"/>
                  </a:ext>
                </a:extLst>
              </p:cNvPr>
              <p:cNvSpPr txBox="1"/>
              <p:nvPr/>
            </p:nvSpPr>
            <p:spPr>
              <a:xfrm>
                <a:off x="877592" y="4893182"/>
                <a:ext cx="2533974" cy="697242"/>
              </a:xfrm>
              <a:prstGeom prst="rect">
                <a:avLst/>
              </a:prstGeom>
              <a:noFill/>
              <a:effectLst/>
            </p:spPr>
            <p:txBody>
              <a:bodyPr wrap="square" rtlCol="0">
                <a:spAutoFit/>
              </a:bodyPr>
              <a:lstStyle/>
              <a:p>
                <a:pPr>
                  <a:lnSpc>
                    <a:spcPts val="1600"/>
                  </a:lnSpc>
                </a:pPr>
                <a:r>
                  <a:rPr lang="it-IT" sz="1200" dirty="0">
                    <a:solidFill>
                      <a:schemeClr val="bg2">
                        <a:lumMod val="50000"/>
                      </a:schemeClr>
                    </a:solidFill>
                    <a:latin typeface="Atkinson Hyperlegible" pitchFamily="2" charset="77"/>
                    <a:ea typeface="Roboto" panose="02000000000000000000" pitchFamily="2" charset="0"/>
                    <a:cs typeface="Roboto" panose="02000000000000000000" pitchFamily="2" charset="0"/>
                  </a:rPr>
                  <a:t>Con </a:t>
                </a:r>
                <a14:m>
                  <m:oMath xmlns:m="http://schemas.openxmlformats.org/officeDocument/2006/math">
                    <m:r>
                      <a:rPr lang="it-IT" sz="1100" i="1">
                        <a:solidFill>
                          <a:schemeClr val="bg2">
                            <a:lumMod val="50000"/>
                          </a:schemeClr>
                        </a:solidFill>
                        <a:latin typeface="Cambria Math" panose="02040503050406030204" pitchFamily="18" charset="0"/>
                      </a:rPr>
                      <m:t>𝑦</m:t>
                    </m:r>
                    <m:r>
                      <a:rPr lang="it-IT" sz="1100" i="1">
                        <a:solidFill>
                          <a:schemeClr val="bg2">
                            <a:lumMod val="50000"/>
                          </a:schemeClr>
                        </a:solidFill>
                        <a:latin typeface="Cambria Math" panose="02040503050406030204" pitchFamily="18" charset="0"/>
                      </a:rPr>
                      <m:t>=</m:t>
                    </m:r>
                    <m:sSup>
                      <m:sSupPr>
                        <m:ctrlPr>
                          <a:rPr lang="it-IT" sz="1100" i="1">
                            <a:solidFill>
                              <a:schemeClr val="bg2">
                                <a:lumMod val="50000"/>
                              </a:schemeClr>
                            </a:solidFill>
                            <a:latin typeface="Cambria Math" panose="02040503050406030204" pitchFamily="18" charset="0"/>
                          </a:rPr>
                        </m:ctrlPr>
                      </m:sSupPr>
                      <m:e>
                        <m:d>
                          <m:dPr>
                            <m:begChr m:val="["/>
                            <m:endChr m:val="]"/>
                            <m:ctrlPr>
                              <a:rPr lang="it-IT" sz="1100" i="1">
                                <a:solidFill>
                                  <a:schemeClr val="bg2">
                                    <a:lumMod val="50000"/>
                                  </a:schemeClr>
                                </a:solidFill>
                                <a:latin typeface="Cambria Math" panose="02040503050406030204" pitchFamily="18" charset="0"/>
                              </a:rPr>
                            </m:ctrlPr>
                          </m:dPr>
                          <m:e>
                            <m:m>
                              <m:mPr>
                                <m:mcs>
                                  <m:mc>
                                    <m:mcPr>
                                      <m:count m:val="4"/>
                                      <m:mcJc m:val="center"/>
                                    </m:mcPr>
                                  </m:mc>
                                </m:mcs>
                                <m:ctrlPr>
                                  <a:rPr lang="it-IT" sz="1100" i="1">
                                    <a:solidFill>
                                      <a:schemeClr val="bg2">
                                        <a:lumMod val="50000"/>
                                      </a:schemeClr>
                                    </a:solidFill>
                                    <a:latin typeface="Cambria Math" panose="02040503050406030204" pitchFamily="18" charset="0"/>
                                  </a:rPr>
                                </m:ctrlPr>
                              </m:mPr>
                              <m:mr>
                                <m:e>
                                  <m:r>
                                    <a:rPr lang="it-IT" sz="1100" i="1">
                                      <a:solidFill>
                                        <a:schemeClr val="bg2">
                                          <a:lumMod val="50000"/>
                                        </a:schemeClr>
                                      </a:solidFill>
                                      <a:latin typeface="Cambria Math" panose="02040503050406030204" pitchFamily="18" charset="0"/>
                                    </a:rPr>
                                    <m:t>𝑥</m:t>
                                  </m:r>
                                </m:e>
                                <m:e>
                                  <m:acc>
                                    <m:accPr>
                                      <m:chr m:val="̇"/>
                                      <m:ctrlPr>
                                        <a:rPr lang="it-IT" sz="1100" i="1">
                                          <a:solidFill>
                                            <a:schemeClr val="bg2">
                                              <a:lumMod val="50000"/>
                                            </a:schemeClr>
                                          </a:solidFill>
                                          <a:latin typeface="Cambria Math" panose="02040503050406030204" pitchFamily="18" charset="0"/>
                                        </a:rPr>
                                      </m:ctrlPr>
                                    </m:accPr>
                                    <m:e>
                                      <m:r>
                                        <a:rPr lang="it-IT" sz="1100" i="1">
                                          <a:solidFill>
                                            <a:schemeClr val="bg2">
                                              <a:lumMod val="50000"/>
                                            </a:schemeClr>
                                          </a:solidFill>
                                          <a:latin typeface="Cambria Math" panose="02040503050406030204" pitchFamily="18" charset="0"/>
                                        </a:rPr>
                                        <m:t>𝑥</m:t>
                                      </m:r>
                                    </m:e>
                                  </m:acc>
                                </m:e>
                                <m:e>
                                  <m:r>
                                    <a:rPr lang="it-IT" sz="1100" i="1">
                                      <a:solidFill>
                                        <a:schemeClr val="bg2">
                                          <a:lumMod val="50000"/>
                                        </a:schemeClr>
                                      </a:solidFill>
                                      <a:latin typeface="Cambria Math" panose="02040503050406030204" pitchFamily="18" charset="0"/>
                                    </a:rPr>
                                    <m:t>𝜃</m:t>
                                  </m:r>
                                </m:e>
                                <m:e>
                                  <m:acc>
                                    <m:accPr>
                                      <m:chr m:val="̇"/>
                                      <m:ctrlPr>
                                        <a:rPr lang="it-IT" sz="1100" i="1">
                                          <a:solidFill>
                                            <a:schemeClr val="bg2">
                                              <a:lumMod val="50000"/>
                                            </a:schemeClr>
                                          </a:solidFill>
                                          <a:latin typeface="Cambria Math" panose="02040503050406030204" pitchFamily="18" charset="0"/>
                                        </a:rPr>
                                      </m:ctrlPr>
                                    </m:accPr>
                                    <m:e>
                                      <m:r>
                                        <a:rPr lang="it-IT" sz="1100" i="1">
                                          <a:solidFill>
                                            <a:schemeClr val="bg2">
                                              <a:lumMod val="50000"/>
                                            </a:schemeClr>
                                          </a:solidFill>
                                          <a:latin typeface="Cambria Math" panose="02040503050406030204" pitchFamily="18" charset="0"/>
                                        </a:rPr>
                                        <m:t>𝜃</m:t>
                                      </m:r>
                                    </m:e>
                                  </m:acc>
                                </m:e>
                              </m:mr>
                            </m:m>
                          </m:e>
                        </m:d>
                      </m:e>
                      <m:sup>
                        <m:r>
                          <a:rPr lang="it-IT" sz="1100" i="1">
                            <a:solidFill>
                              <a:schemeClr val="bg2">
                                <a:lumMod val="50000"/>
                              </a:schemeClr>
                            </a:solidFill>
                            <a:latin typeface="Cambria Math" panose="02040503050406030204" pitchFamily="18" charset="0"/>
                          </a:rPr>
                          <m:t>𝑇</m:t>
                        </m:r>
                      </m:sup>
                    </m:sSup>
                  </m:oMath>
                </a14:m>
                <a:r>
                  <a:rPr lang="it-IT" sz="1200" dirty="0">
                    <a:solidFill>
                      <a:schemeClr val="bg2">
                        <a:lumMod val="50000"/>
                      </a:schemeClr>
                    </a:solidFill>
                  </a:rPr>
                  <a:t>  vettore di stato del sistema</a:t>
                </a:r>
                <a:endParaRPr lang="it-IT" sz="1200" dirty="0">
                  <a:solidFill>
                    <a:schemeClr val="bg2">
                      <a:lumMod val="50000"/>
                    </a:schemeClr>
                  </a:solidFill>
                  <a:latin typeface="Atkinson Hyperlegible" pitchFamily="2" charset="77"/>
                  <a:ea typeface="Roboto" panose="02000000000000000000" pitchFamily="2" charset="0"/>
                  <a:cs typeface="Roboto" panose="02000000000000000000" pitchFamily="2" charset="0"/>
                </a:endParaRPr>
              </a:p>
              <a:p>
                <a:pPr>
                  <a:lnSpc>
                    <a:spcPts val="1600"/>
                  </a:lnSpc>
                </a:pPr>
                <a:endParaRPr lang="it-IT" sz="1200" noProof="0" dirty="0">
                  <a:solidFill>
                    <a:schemeClr val="bg2">
                      <a:lumMod val="50000"/>
                    </a:schemeClr>
                  </a:solidFill>
                  <a:latin typeface="Atkinson Hyperlegible" pitchFamily="2" charset="77"/>
                  <a:ea typeface="PT Sans" panose="020B0503020203020204" pitchFamily="34" charset="0"/>
                  <a:cs typeface="Poppins" panose="00000500000000000000" pitchFamily="50" charset="0"/>
                </a:endParaRPr>
              </a:p>
            </p:txBody>
          </p:sp>
        </mc:Choice>
        <mc:Fallback xmlns="">
          <p:sp>
            <p:nvSpPr>
              <p:cNvPr id="4" name="TextBox 24">
                <a:extLst>
                  <a:ext uri="{FF2B5EF4-FFF2-40B4-BE49-F238E27FC236}">
                    <a16:creationId xmlns:a16="http://schemas.microsoft.com/office/drawing/2014/main" id="{32CAD893-D34C-9ECD-EA3B-9FDBE8C04426}"/>
                  </a:ext>
                </a:extLst>
              </p:cNvPr>
              <p:cNvSpPr txBox="1">
                <a:spLocks noRot="1" noChangeAspect="1" noMove="1" noResize="1" noEditPoints="1" noAdjustHandles="1" noChangeArrowheads="1" noChangeShapeType="1" noTextEdit="1"/>
              </p:cNvSpPr>
              <p:nvPr/>
            </p:nvSpPr>
            <p:spPr>
              <a:xfrm>
                <a:off x="877592" y="4893182"/>
                <a:ext cx="2533974" cy="697242"/>
              </a:xfrm>
              <a:prstGeom prst="rect">
                <a:avLst/>
              </a:prstGeom>
              <a:blipFill>
                <a:blip r:embed="rId7"/>
                <a:stretch>
                  <a:fillRect l="-240"/>
                </a:stretch>
              </a:blipFill>
              <a:effectLst/>
            </p:spPr>
            <p:txBody>
              <a:bodyPr/>
              <a:lstStyle/>
              <a:p>
                <a:r>
                  <a:rPr lang="en-US">
                    <a:noFill/>
                  </a:rPr>
                  <a:t> </a:t>
                </a:r>
              </a:p>
            </p:txBody>
          </p:sp>
        </mc:Fallback>
      </mc:AlternateContent>
      <p:sp>
        <p:nvSpPr>
          <p:cNvPr id="5" name="Rettangolo 4">
            <a:extLst>
              <a:ext uri="{FF2B5EF4-FFF2-40B4-BE49-F238E27FC236}">
                <a16:creationId xmlns:a16="http://schemas.microsoft.com/office/drawing/2014/main" id="{517CF421-B612-6862-EBFC-1D953E3CB219}"/>
              </a:ext>
            </a:extLst>
          </p:cNvPr>
          <p:cNvSpPr/>
          <p:nvPr/>
        </p:nvSpPr>
        <p:spPr>
          <a:xfrm>
            <a:off x="828675" y="4893182"/>
            <a:ext cx="48917" cy="492059"/>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Tree>
    <p:extLst>
      <p:ext uri="{BB962C8B-B14F-4D97-AF65-F5344CB8AC3E}">
        <p14:creationId xmlns:p14="http://schemas.microsoft.com/office/powerpoint/2010/main" val="13441629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FABAD-D976-3BFA-11BE-434F2E510216}"/>
            </a:ext>
          </a:extLst>
        </p:cNvPr>
        <p:cNvGrpSpPr/>
        <p:nvPr/>
      </p:nvGrpSpPr>
      <p:grpSpPr>
        <a:xfrm>
          <a:off x="0" y="0"/>
          <a:ext cx="0" cy="0"/>
          <a:chOff x="0" y="0"/>
          <a:chExt cx="0" cy="0"/>
        </a:xfrm>
      </p:grpSpPr>
      <p:sp>
        <p:nvSpPr>
          <p:cNvPr id="24" name="Rectangle 4">
            <a:extLst>
              <a:ext uri="{FF2B5EF4-FFF2-40B4-BE49-F238E27FC236}">
                <a16:creationId xmlns:a16="http://schemas.microsoft.com/office/drawing/2014/main" id="{526972ED-A0D8-79C4-AEC6-CFCDE137962B}"/>
              </a:ext>
            </a:extLst>
          </p:cNvPr>
          <p:cNvSpPr/>
          <p:nvPr/>
        </p:nvSpPr>
        <p:spPr>
          <a:xfrm>
            <a:off x="596432" y="1944197"/>
            <a:ext cx="4150380" cy="2031325"/>
          </a:xfrm>
          <a:prstGeom prst="rect">
            <a:avLst/>
          </a:prstGeom>
        </p:spPr>
        <p:txBody>
          <a:bodyPr wrap="square" numCol="1">
            <a:spAutoFit/>
          </a:bodyPr>
          <a:lstStyle/>
          <a:p>
            <a:pPr marL="349248" indent="-285750">
              <a:spcBef>
                <a:spcPts val="600"/>
              </a:spcBef>
              <a:spcAft>
                <a:spcPts val="600"/>
              </a:spcAft>
              <a:buClr>
                <a:srgbClr val="1F7E9C"/>
              </a:buClr>
              <a:buFont typeface="Wingdings" panose="05000000000000000000" pitchFamily="2" charset="2"/>
              <a:buChar char="v"/>
            </a:pPr>
            <a:r>
              <a:rPr lang="it-IT" dirty="0">
                <a:latin typeface="Atkinson Hyperlegible"/>
                <a:ea typeface="Open Sans Condensed Light"/>
                <a:cs typeface="Open Sans Condensed Light"/>
              </a:rPr>
              <a:t>Caso di rumore gaussiano a diversi livelli di deviazione standard sovrapposto alle letture di stato;</a:t>
            </a:r>
          </a:p>
          <a:p>
            <a:pPr marL="349248" indent="-285750">
              <a:spcBef>
                <a:spcPts val="600"/>
              </a:spcBef>
              <a:spcAft>
                <a:spcPts val="600"/>
              </a:spcAft>
              <a:buClr>
                <a:srgbClr val="1F7E9C"/>
              </a:buClr>
              <a:buFont typeface="Wingdings" panose="05000000000000000000" pitchFamily="2" charset="2"/>
              <a:buChar char="v"/>
            </a:pPr>
            <a:r>
              <a:rPr lang="it-IT" noProof="0" dirty="0">
                <a:latin typeface="Atkinson Hyperlegible"/>
                <a:ea typeface="Open Sans Condensed Light"/>
                <a:cs typeface="Open Sans Condensed Light"/>
              </a:rPr>
              <a:t>Caso di perdite di pacchetti di attuazione.</a:t>
            </a:r>
          </a:p>
          <a:p>
            <a:pPr marL="63498">
              <a:spcBef>
                <a:spcPts val="600"/>
              </a:spcBef>
            </a:pPr>
            <a:endParaRPr lang="it-IT" sz="1600" noProof="0" dirty="0">
              <a:latin typeface="Atkinson Hyperlegible"/>
            </a:endParaRPr>
          </a:p>
        </p:txBody>
      </p:sp>
      <p:sp>
        <p:nvSpPr>
          <p:cNvPr id="11" name="Rettangolo 10">
            <a:extLst>
              <a:ext uri="{FF2B5EF4-FFF2-40B4-BE49-F238E27FC236}">
                <a16:creationId xmlns:a16="http://schemas.microsoft.com/office/drawing/2014/main" id="{D3823138-DD5E-97E2-7003-5DC0CFAF8829}"/>
              </a:ext>
            </a:extLst>
          </p:cNvPr>
          <p:cNvSpPr/>
          <p:nvPr/>
        </p:nvSpPr>
        <p:spPr>
          <a:xfrm>
            <a:off x="-195210" y="5943602"/>
            <a:ext cx="12387209" cy="977153"/>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mc:AlternateContent xmlns:mc="http://schemas.openxmlformats.org/markup-compatibility/2006" xmlns:a14="http://schemas.microsoft.com/office/drawing/2010/main">
        <mc:Choice Requires="a14">
          <p:sp>
            <p:nvSpPr>
              <p:cNvPr id="15" name="Rectangle 4">
                <a:extLst>
                  <a:ext uri="{FF2B5EF4-FFF2-40B4-BE49-F238E27FC236}">
                    <a16:creationId xmlns:a16="http://schemas.microsoft.com/office/drawing/2014/main" id="{41F3456E-EAF5-8B4C-40EE-B49851ACF765}"/>
                  </a:ext>
                </a:extLst>
              </p:cNvPr>
              <p:cNvSpPr/>
              <p:nvPr/>
            </p:nvSpPr>
            <p:spPr>
              <a:xfrm>
                <a:off x="695325" y="504708"/>
                <a:ext cx="5510493" cy="769441"/>
              </a:xfrm>
              <a:prstGeom prst="rect">
                <a:avLst/>
              </a:prstGeom>
            </p:spPr>
            <p:txBody>
              <a:bodyPr wrap="square">
                <a:spAutoFit/>
              </a:bodyPr>
              <a:lstStyle/>
              <a:p>
                <a:r>
                  <a:rPr lang="it-IT" sz="2200" b="1" dirty="0">
                    <a:solidFill>
                      <a:schemeClr val="bg2">
                        <a:lumMod val="25000"/>
                      </a:schemeClr>
                    </a:solidFill>
                    <a:latin typeface="Atkinson Hyperlegible" pitchFamily="2" charset="77"/>
                    <a:ea typeface="Roboto" panose="02000000000000000000" pitchFamily="2" charset="0"/>
                    <a:cs typeface="Roboto" panose="02000000000000000000" pitchFamily="2" charset="0"/>
                  </a:rPr>
                  <a:t>Stima delle Matrici </a:t>
                </a:r>
                <a14:m>
                  <m:oMath xmlns:m="http://schemas.openxmlformats.org/officeDocument/2006/math">
                    <m:r>
                      <a:rPr lang="it-IT" sz="2200" b="1" i="1">
                        <a:solidFill>
                          <a:schemeClr val="bg2">
                            <a:lumMod val="25000"/>
                          </a:schemeClr>
                        </a:solidFill>
                        <a:latin typeface="Cambria Math" panose="02040503050406030204" pitchFamily="18" charset="0"/>
                        <a:ea typeface="Roboto" panose="02000000000000000000" pitchFamily="2" charset="0"/>
                        <a:cs typeface="Roboto" panose="02000000000000000000" pitchFamily="2" charset="0"/>
                      </a:rPr>
                      <m:t>𝑨</m:t>
                    </m:r>
                  </m:oMath>
                </a14:m>
                <a:r>
                  <a:rPr lang="it-IT" sz="2200" b="1" dirty="0">
                    <a:solidFill>
                      <a:schemeClr val="bg2">
                        <a:lumMod val="25000"/>
                      </a:schemeClr>
                    </a:solidFill>
                    <a:latin typeface="Atkinson Hyperlegible" pitchFamily="2" charset="77"/>
                    <a:ea typeface="Roboto" panose="02000000000000000000" pitchFamily="2" charset="0"/>
                    <a:cs typeface="Roboto" panose="02000000000000000000" pitchFamily="2" charset="0"/>
                  </a:rPr>
                  <a:t> e </a:t>
                </a:r>
                <a14:m>
                  <m:oMath xmlns:m="http://schemas.openxmlformats.org/officeDocument/2006/math">
                    <m:r>
                      <a:rPr lang="it-IT" sz="2200" b="1" i="1">
                        <a:solidFill>
                          <a:schemeClr val="bg2">
                            <a:lumMod val="25000"/>
                          </a:schemeClr>
                        </a:solidFill>
                        <a:latin typeface="Cambria Math" panose="02040503050406030204" pitchFamily="18" charset="0"/>
                        <a:ea typeface="Roboto" panose="02000000000000000000" pitchFamily="2" charset="0"/>
                        <a:cs typeface="Roboto" panose="02000000000000000000" pitchFamily="2" charset="0"/>
                      </a:rPr>
                      <m:t>𝑩</m:t>
                    </m:r>
                  </m:oMath>
                </a14:m>
                <a:r>
                  <a:rPr lang="it-IT" sz="2200" b="1" dirty="0">
                    <a:solidFill>
                      <a:schemeClr val="bg2">
                        <a:lumMod val="25000"/>
                      </a:schemeClr>
                    </a:solidFill>
                    <a:latin typeface="Atkinson Hyperlegible" pitchFamily="2" charset="77"/>
                    <a:ea typeface="Roboto" panose="02000000000000000000" pitchFamily="2" charset="0"/>
                    <a:cs typeface="Roboto" panose="02000000000000000000" pitchFamily="2" charset="0"/>
                  </a:rPr>
                  <a:t> del Sistema</a:t>
                </a:r>
                <a:br>
                  <a:rPr lang="it-IT" sz="2200" b="1" dirty="0">
                    <a:solidFill>
                      <a:schemeClr val="bg2">
                        <a:lumMod val="25000"/>
                      </a:schemeClr>
                    </a:solidFill>
                    <a:latin typeface="Atkinson Hyperlegible" pitchFamily="2" charset="77"/>
                    <a:ea typeface="Roboto" panose="02000000000000000000" pitchFamily="2" charset="0"/>
                    <a:cs typeface="Roboto" panose="02000000000000000000" pitchFamily="2" charset="0"/>
                  </a:rPr>
                </a:br>
                <a:r>
                  <a:rPr lang="it-IT" sz="2200" b="1" dirty="0">
                    <a:latin typeface="Atkinson Hyperlegible" pitchFamily="2" charset="77"/>
                    <a:ea typeface="Roboto" panose="02000000000000000000" pitchFamily="2" charset="0"/>
                    <a:cs typeface="Roboto" panose="02000000000000000000" pitchFamily="2" charset="0"/>
                  </a:rPr>
                  <a:t>– Impatto </a:t>
                </a:r>
                <a:r>
                  <a:rPr lang="it-IT" sz="2200" b="1" dirty="0">
                    <a:solidFill>
                      <a:schemeClr val="bg2">
                        <a:lumMod val="25000"/>
                      </a:schemeClr>
                    </a:solidFill>
                    <a:latin typeface="Atkinson Hyperlegible" pitchFamily="2" charset="77"/>
                    <a:ea typeface="Roboto" panose="02000000000000000000" pitchFamily="2" charset="0"/>
                    <a:cs typeface="Roboto" panose="02000000000000000000" pitchFamily="2" charset="0"/>
                  </a:rPr>
                  <a:t>di Disturbi</a:t>
                </a:r>
                <a:endParaRPr lang="it-IT" sz="2200" b="1" noProof="0" dirty="0">
                  <a:solidFill>
                    <a:schemeClr val="bg2">
                      <a:lumMod val="25000"/>
                    </a:schemeClr>
                  </a:solidFill>
                  <a:latin typeface="Atkinson Hyperlegible" pitchFamily="2" charset="77"/>
                  <a:ea typeface="Roboto" panose="02000000000000000000" pitchFamily="2" charset="0"/>
                  <a:cs typeface="Roboto" panose="02000000000000000000" pitchFamily="2" charset="0"/>
                </a:endParaRPr>
              </a:p>
            </p:txBody>
          </p:sp>
        </mc:Choice>
        <mc:Fallback xmlns="">
          <p:sp>
            <p:nvSpPr>
              <p:cNvPr id="15" name="Rectangle 4">
                <a:extLst>
                  <a:ext uri="{FF2B5EF4-FFF2-40B4-BE49-F238E27FC236}">
                    <a16:creationId xmlns:a16="http://schemas.microsoft.com/office/drawing/2014/main" id="{41F3456E-EAF5-8B4C-40EE-B49851ACF765}"/>
                  </a:ext>
                </a:extLst>
              </p:cNvPr>
              <p:cNvSpPr>
                <a:spLocks noRot="1" noChangeAspect="1" noMove="1" noResize="1" noEditPoints="1" noAdjustHandles="1" noChangeArrowheads="1" noChangeShapeType="1" noTextEdit="1"/>
              </p:cNvSpPr>
              <p:nvPr/>
            </p:nvSpPr>
            <p:spPr>
              <a:xfrm>
                <a:off x="695325" y="504708"/>
                <a:ext cx="5510493" cy="769441"/>
              </a:xfrm>
              <a:prstGeom prst="rect">
                <a:avLst/>
              </a:prstGeom>
              <a:blipFill>
                <a:blip r:embed="rId3"/>
                <a:stretch>
                  <a:fillRect l="-1379" t="-4839" b="-14516"/>
                </a:stretch>
              </a:blipFill>
            </p:spPr>
            <p:txBody>
              <a:bodyPr/>
              <a:lstStyle/>
              <a:p>
                <a:r>
                  <a:rPr lang="en-US">
                    <a:noFill/>
                  </a:rPr>
                  <a:t> </a:t>
                </a:r>
              </a:p>
            </p:txBody>
          </p:sp>
        </mc:Fallback>
      </mc:AlternateContent>
      <p:sp>
        <p:nvSpPr>
          <p:cNvPr id="18" name="Rettangolo 17">
            <a:extLst>
              <a:ext uri="{FF2B5EF4-FFF2-40B4-BE49-F238E27FC236}">
                <a16:creationId xmlns:a16="http://schemas.microsoft.com/office/drawing/2014/main" id="{357C500E-4034-A697-E5F7-8A5D6FA595EA}"/>
              </a:ext>
            </a:extLst>
          </p:cNvPr>
          <p:cNvSpPr/>
          <p:nvPr/>
        </p:nvSpPr>
        <p:spPr>
          <a:xfrm>
            <a:off x="-61301" y="5934488"/>
            <a:ext cx="12305631" cy="54425"/>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pic>
        <p:nvPicPr>
          <p:cNvPr id="21" name="Immagine 20">
            <a:extLst>
              <a:ext uri="{FF2B5EF4-FFF2-40B4-BE49-F238E27FC236}">
                <a16:creationId xmlns:a16="http://schemas.microsoft.com/office/drawing/2014/main" id="{F220DB0D-3178-5DC7-EA4B-7D701F343EB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426078" y="6133296"/>
            <a:ext cx="2283511" cy="566274"/>
          </a:xfrm>
          <a:prstGeom prst="rect">
            <a:avLst/>
          </a:prstGeom>
        </p:spPr>
      </p:pic>
      <p:pic>
        <p:nvPicPr>
          <p:cNvPr id="3" name="Immagine 2">
            <a:extLst>
              <a:ext uri="{FF2B5EF4-FFF2-40B4-BE49-F238E27FC236}">
                <a16:creationId xmlns:a16="http://schemas.microsoft.com/office/drawing/2014/main" id="{C8BA630B-28C6-84EC-795C-6304D24D644D}"/>
              </a:ext>
            </a:extLst>
          </p:cNvPr>
          <p:cNvPicPr>
            <a:picLocks noChangeAspect="1"/>
          </p:cNvPicPr>
          <p:nvPr/>
        </p:nvPicPr>
        <p:blipFill>
          <a:blip r:embed="rId5"/>
          <a:srcRect/>
          <a:stretch/>
        </p:blipFill>
        <p:spPr>
          <a:xfrm>
            <a:off x="5072866" y="1090523"/>
            <a:ext cx="6754363" cy="2311157"/>
          </a:xfrm>
          <a:prstGeom prst="rect">
            <a:avLst/>
          </a:prstGeom>
        </p:spPr>
      </p:pic>
      <p:sp>
        <p:nvSpPr>
          <p:cNvPr id="28" name="Ovale 27">
            <a:extLst>
              <a:ext uri="{FF2B5EF4-FFF2-40B4-BE49-F238E27FC236}">
                <a16:creationId xmlns:a16="http://schemas.microsoft.com/office/drawing/2014/main" id="{56CF107B-2754-B5F8-401B-F41845863829}"/>
              </a:ext>
            </a:extLst>
          </p:cNvPr>
          <p:cNvSpPr/>
          <p:nvPr/>
        </p:nvSpPr>
        <p:spPr>
          <a:xfrm>
            <a:off x="9406742" y="2542030"/>
            <a:ext cx="543464" cy="543464"/>
          </a:xfrm>
          <a:prstGeom prst="ellipse">
            <a:avLst/>
          </a:prstGeom>
          <a:noFill/>
          <a:ln w="38100">
            <a:solidFill>
              <a:srgbClr val="1F7E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1" name="TextBox 24">
            <a:extLst>
              <a:ext uri="{FF2B5EF4-FFF2-40B4-BE49-F238E27FC236}">
                <a16:creationId xmlns:a16="http://schemas.microsoft.com/office/drawing/2014/main" id="{1B7DB331-816B-BAD2-7F59-7BD4115814AC}"/>
              </a:ext>
            </a:extLst>
          </p:cNvPr>
          <p:cNvSpPr txBox="1"/>
          <p:nvPr/>
        </p:nvSpPr>
        <p:spPr>
          <a:xfrm>
            <a:off x="7030528" y="1807569"/>
            <a:ext cx="1561381" cy="505523"/>
          </a:xfrm>
          <a:prstGeom prst="rect">
            <a:avLst/>
          </a:prstGeom>
          <a:solidFill>
            <a:schemeClr val="bg1"/>
          </a:solidFill>
          <a:ln w="28575">
            <a:solidFill>
              <a:srgbClr val="1F7E9C"/>
            </a:solidFill>
          </a:ln>
          <a:effectLst/>
        </p:spPr>
        <p:txBody>
          <a:bodyPr wrap="square" rtlCol="0">
            <a:spAutoFit/>
          </a:bodyPr>
          <a:lstStyle/>
          <a:p>
            <a:pPr>
              <a:lnSpc>
                <a:spcPts val="1600"/>
              </a:lnSpc>
            </a:pPr>
            <a:r>
              <a:rPr lang="it-IT" sz="1400">
                <a:solidFill>
                  <a:schemeClr val="tx1">
                    <a:lumMod val="65000"/>
                    <a:lumOff val="35000"/>
                  </a:schemeClr>
                </a:solidFill>
                <a:latin typeface="Atkinson Hyperlegible" pitchFamily="2" charset="77"/>
                <a:ea typeface="Roboto" panose="02000000000000000000" pitchFamily="2" charset="0"/>
                <a:cs typeface="Roboto" panose="02000000000000000000" pitchFamily="2" charset="0"/>
              </a:rPr>
              <a:t>Fallimento nella stabilizzazione</a:t>
            </a:r>
          </a:p>
        </p:txBody>
      </p:sp>
      <p:cxnSp>
        <p:nvCxnSpPr>
          <p:cNvPr id="34" name="Connettore 2 33">
            <a:extLst>
              <a:ext uri="{FF2B5EF4-FFF2-40B4-BE49-F238E27FC236}">
                <a16:creationId xmlns:a16="http://schemas.microsoft.com/office/drawing/2014/main" id="{74A52EF6-C04C-1644-13AA-5BF3C1ABAF4D}"/>
              </a:ext>
            </a:extLst>
          </p:cNvPr>
          <p:cNvCxnSpPr>
            <a:cxnSpLocks/>
            <a:stCxn id="31" idx="3"/>
          </p:cNvCxnSpPr>
          <p:nvPr/>
        </p:nvCxnSpPr>
        <p:spPr>
          <a:xfrm>
            <a:off x="8591909" y="2060331"/>
            <a:ext cx="771167" cy="583360"/>
          </a:xfrm>
          <a:prstGeom prst="straightConnector1">
            <a:avLst/>
          </a:prstGeom>
          <a:ln w="38100">
            <a:solidFill>
              <a:srgbClr val="1F7E9C"/>
            </a:solidFill>
            <a:tailEnd type="triangle"/>
          </a:ln>
        </p:spPr>
        <p:style>
          <a:lnRef idx="1">
            <a:schemeClr val="accent1"/>
          </a:lnRef>
          <a:fillRef idx="0">
            <a:schemeClr val="accent1"/>
          </a:fillRef>
          <a:effectRef idx="0">
            <a:schemeClr val="accent1"/>
          </a:effectRef>
          <a:fontRef idx="minor">
            <a:schemeClr val="tx1"/>
          </a:fontRef>
        </p:style>
      </p:cxnSp>
      <p:grpSp>
        <p:nvGrpSpPr>
          <p:cNvPr id="47" name="Gruppo 46">
            <a:extLst>
              <a:ext uri="{FF2B5EF4-FFF2-40B4-BE49-F238E27FC236}">
                <a16:creationId xmlns:a16="http://schemas.microsoft.com/office/drawing/2014/main" id="{AEAA994E-7E26-8270-55C4-4C8466B18678}"/>
              </a:ext>
            </a:extLst>
          </p:cNvPr>
          <p:cNvGrpSpPr/>
          <p:nvPr/>
        </p:nvGrpSpPr>
        <p:grpSpPr>
          <a:xfrm>
            <a:off x="838199" y="4168867"/>
            <a:ext cx="2795533" cy="1261492"/>
            <a:chOff x="1519685" y="4158953"/>
            <a:chExt cx="2795533" cy="1261492"/>
          </a:xfrm>
        </p:grpSpPr>
        <p:sp>
          <p:nvSpPr>
            <p:cNvPr id="48" name="TextBox 24">
              <a:extLst>
                <a:ext uri="{FF2B5EF4-FFF2-40B4-BE49-F238E27FC236}">
                  <a16:creationId xmlns:a16="http://schemas.microsoft.com/office/drawing/2014/main" id="{5F04DB12-2B5D-D2BD-1B40-5B2283CFD11E}"/>
                </a:ext>
              </a:extLst>
            </p:cNvPr>
            <p:cNvSpPr txBox="1"/>
            <p:nvPr/>
          </p:nvSpPr>
          <p:spPr>
            <a:xfrm>
              <a:off x="1568602" y="4928386"/>
              <a:ext cx="2533974" cy="492058"/>
            </a:xfrm>
            <a:prstGeom prst="rect">
              <a:avLst/>
            </a:prstGeom>
            <a:noFill/>
            <a:effectLst/>
          </p:spPr>
          <p:txBody>
            <a:bodyPr wrap="square" rtlCol="0">
              <a:spAutoFit/>
            </a:bodyPr>
            <a:lstStyle/>
            <a:p>
              <a:pPr>
                <a:lnSpc>
                  <a:spcPts val="1600"/>
                </a:lnSpc>
              </a:pPr>
              <a:r>
                <a:rPr lang="it-IT" sz="1200" dirty="0">
                  <a:solidFill>
                    <a:schemeClr val="bg2">
                      <a:lumMod val="50000"/>
                    </a:schemeClr>
                  </a:solidFill>
                  <a:latin typeface="Atkinson Hyperlegible" pitchFamily="2" charset="77"/>
                  <a:ea typeface="Roboto" panose="02000000000000000000" pitchFamily="2" charset="0"/>
                  <a:cs typeface="Roboto" panose="02000000000000000000" pitchFamily="2" charset="0"/>
                </a:rPr>
                <a:t>Andamento RMSE medio al variare della probabilità di perdita.</a:t>
              </a:r>
            </a:p>
          </p:txBody>
        </p:sp>
        <p:sp>
          <p:nvSpPr>
            <p:cNvPr id="49" name="Rettangolo 48">
              <a:extLst>
                <a:ext uri="{FF2B5EF4-FFF2-40B4-BE49-F238E27FC236}">
                  <a16:creationId xmlns:a16="http://schemas.microsoft.com/office/drawing/2014/main" id="{0F1B024A-23FB-3E03-562C-AC0366F3941F}"/>
                </a:ext>
              </a:extLst>
            </p:cNvPr>
            <p:cNvSpPr/>
            <p:nvPr/>
          </p:nvSpPr>
          <p:spPr>
            <a:xfrm>
              <a:off x="1519685" y="4928386"/>
              <a:ext cx="48917" cy="492059"/>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50" name="TextBox 24">
              <a:extLst>
                <a:ext uri="{FF2B5EF4-FFF2-40B4-BE49-F238E27FC236}">
                  <a16:creationId xmlns:a16="http://schemas.microsoft.com/office/drawing/2014/main" id="{354C5D30-6677-E1B3-6147-DC6D5032D487}"/>
                </a:ext>
              </a:extLst>
            </p:cNvPr>
            <p:cNvSpPr txBox="1"/>
            <p:nvPr/>
          </p:nvSpPr>
          <p:spPr>
            <a:xfrm>
              <a:off x="1568602" y="4158953"/>
              <a:ext cx="2533974" cy="492058"/>
            </a:xfrm>
            <a:prstGeom prst="rect">
              <a:avLst/>
            </a:prstGeom>
            <a:noFill/>
            <a:effectLst/>
          </p:spPr>
          <p:txBody>
            <a:bodyPr wrap="square" rtlCol="0">
              <a:spAutoFit/>
            </a:bodyPr>
            <a:lstStyle/>
            <a:p>
              <a:pPr>
                <a:lnSpc>
                  <a:spcPts val="1600"/>
                </a:lnSpc>
              </a:pPr>
              <a:r>
                <a:rPr lang="it-IT" sz="1200">
                  <a:solidFill>
                    <a:schemeClr val="bg2">
                      <a:lumMod val="50000"/>
                    </a:schemeClr>
                  </a:solidFill>
                  <a:latin typeface="Atkinson Hyperlegible" pitchFamily="2" charset="77"/>
                  <a:ea typeface="Roboto" panose="02000000000000000000" pitchFamily="2" charset="0"/>
                  <a:cs typeface="Roboto" panose="02000000000000000000" pitchFamily="2" charset="0"/>
                </a:rPr>
                <a:t>Andamento RMSE medio al variare dell’intensità del rumore.</a:t>
              </a:r>
            </a:p>
          </p:txBody>
        </p:sp>
        <p:sp>
          <p:nvSpPr>
            <p:cNvPr id="51" name="Rettangolo 50">
              <a:extLst>
                <a:ext uri="{FF2B5EF4-FFF2-40B4-BE49-F238E27FC236}">
                  <a16:creationId xmlns:a16="http://schemas.microsoft.com/office/drawing/2014/main" id="{98AD5C69-B243-B290-357B-8E3C44FC4799}"/>
                </a:ext>
              </a:extLst>
            </p:cNvPr>
            <p:cNvSpPr/>
            <p:nvPr/>
          </p:nvSpPr>
          <p:spPr>
            <a:xfrm>
              <a:off x="1519685" y="4158953"/>
              <a:ext cx="48917" cy="492059"/>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52" name="Triangolo isoscele 51">
              <a:extLst>
                <a:ext uri="{FF2B5EF4-FFF2-40B4-BE49-F238E27FC236}">
                  <a16:creationId xmlns:a16="http://schemas.microsoft.com/office/drawing/2014/main" id="{33F9AC2A-FE22-6E1E-0B09-BE399D3C611B}"/>
                </a:ext>
              </a:extLst>
            </p:cNvPr>
            <p:cNvSpPr/>
            <p:nvPr/>
          </p:nvSpPr>
          <p:spPr>
            <a:xfrm rot="3359609">
              <a:off x="4091215" y="4178026"/>
              <a:ext cx="215016" cy="232991"/>
            </a:xfrm>
            <a:prstGeom prst="triangle">
              <a:avLst/>
            </a:prstGeom>
            <a:solidFill>
              <a:srgbClr val="1F7E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3" name="Triangolo isoscele 52">
              <a:extLst>
                <a:ext uri="{FF2B5EF4-FFF2-40B4-BE49-F238E27FC236}">
                  <a16:creationId xmlns:a16="http://schemas.microsoft.com/office/drawing/2014/main" id="{575CE08D-0279-F73A-42F5-8503FE0F1247}"/>
                </a:ext>
              </a:extLst>
            </p:cNvPr>
            <p:cNvSpPr/>
            <p:nvPr/>
          </p:nvSpPr>
          <p:spPr>
            <a:xfrm rot="5400000">
              <a:off x="4050944" y="5099631"/>
              <a:ext cx="201096" cy="220347"/>
            </a:xfrm>
            <a:prstGeom prst="triangle">
              <a:avLst/>
            </a:prstGeom>
            <a:solidFill>
              <a:srgbClr val="1F7E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pic>
        <p:nvPicPr>
          <p:cNvPr id="6" name="Immagine 5">
            <a:extLst>
              <a:ext uri="{FF2B5EF4-FFF2-40B4-BE49-F238E27FC236}">
                <a16:creationId xmlns:a16="http://schemas.microsoft.com/office/drawing/2014/main" id="{7C44651D-6015-A51F-0F5D-AE984E528729}"/>
              </a:ext>
            </a:extLst>
          </p:cNvPr>
          <p:cNvPicPr>
            <a:picLocks noChangeAspect="1"/>
          </p:cNvPicPr>
          <p:nvPr/>
        </p:nvPicPr>
        <p:blipFill>
          <a:blip r:embed="rId6"/>
          <a:stretch>
            <a:fillRect/>
          </a:stretch>
        </p:blipFill>
        <p:spPr>
          <a:xfrm>
            <a:off x="4935601" y="3524676"/>
            <a:ext cx="6891628" cy="2365492"/>
          </a:xfrm>
          <a:prstGeom prst="rect">
            <a:avLst/>
          </a:prstGeom>
        </p:spPr>
      </p:pic>
      <p:sp>
        <p:nvSpPr>
          <p:cNvPr id="10" name="TextBox 24">
            <a:extLst>
              <a:ext uri="{FF2B5EF4-FFF2-40B4-BE49-F238E27FC236}">
                <a16:creationId xmlns:a16="http://schemas.microsoft.com/office/drawing/2014/main" id="{1B6814BD-796D-DA00-6746-5BA52E1C34B0}"/>
              </a:ext>
            </a:extLst>
          </p:cNvPr>
          <p:cNvSpPr txBox="1"/>
          <p:nvPr/>
        </p:nvSpPr>
        <p:spPr>
          <a:xfrm>
            <a:off x="6501046" y="4246560"/>
            <a:ext cx="1561381" cy="505523"/>
          </a:xfrm>
          <a:prstGeom prst="rect">
            <a:avLst/>
          </a:prstGeom>
          <a:solidFill>
            <a:schemeClr val="bg1"/>
          </a:solidFill>
          <a:ln w="28575">
            <a:solidFill>
              <a:srgbClr val="1F7E9C"/>
            </a:solidFill>
          </a:ln>
          <a:effectLst/>
        </p:spPr>
        <p:txBody>
          <a:bodyPr wrap="square" rtlCol="0">
            <a:spAutoFit/>
          </a:bodyPr>
          <a:lstStyle/>
          <a:p>
            <a:pPr>
              <a:lnSpc>
                <a:spcPts val="1600"/>
              </a:lnSpc>
            </a:pPr>
            <a:r>
              <a:rPr lang="it-IT" sz="1400" dirty="0">
                <a:solidFill>
                  <a:schemeClr val="tx1">
                    <a:lumMod val="65000"/>
                    <a:lumOff val="35000"/>
                  </a:schemeClr>
                </a:solidFill>
                <a:latin typeface="Atkinson Hyperlegible" pitchFamily="2" charset="77"/>
                <a:ea typeface="Roboto" panose="02000000000000000000" pitchFamily="2" charset="0"/>
                <a:cs typeface="Roboto" panose="02000000000000000000" pitchFamily="2" charset="0"/>
              </a:rPr>
              <a:t>Fallimento nella stabilizzazione</a:t>
            </a:r>
          </a:p>
        </p:txBody>
      </p:sp>
      <p:cxnSp>
        <p:nvCxnSpPr>
          <p:cNvPr id="12" name="Connettore 2 11">
            <a:extLst>
              <a:ext uri="{FF2B5EF4-FFF2-40B4-BE49-F238E27FC236}">
                <a16:creationId xmlns:a16="http://schemas.microsoft.com/office/drawing/2014/main" id="{2AD6224C-B451-C722-8D8A-FF70AD2BBFA6}"/>
              </a:ext>
            </a:extLst>
          </p:cNvPr>
          <p:cNvCxnSpPr>
            <a:cxnSpLocks/>
            <a:stCxn id="10" idx="3"/>
          </p:cNvCxnSpPr>
          <p:nvPr/>
        </p:nvCxnSpPr>
        <p:spPr>
          <a:xfrm>
            <a:off x="8062427" y="4499322"/>
            <a:ext cx="780691" cy="503514"/>
          </a:xfrm>
          <a:prstGeom prst="straightConnector1">
            <a:avLst/>
          </a:prstGeom>
          <a:ln w="38100">
            <a:solidFill>
              <a:srgbClr val="1F7E9C"/>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78117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5416F-EF0B-76A1-19E3-2AD10B413A5D}"/>
            </a:ext>
          </a:extLst>
        </p:cNvPr>
        <p:cNvGrpSpPr/>
        <p:nvPr/>
      </p:nvGrpSpPr>
      <p:grpSpPr>
        <a:xfrm>
          <a:off x="0" y="0"/>
          <a:ext cx="0" cy="0"/>
          <a:chOff x="0" y="0"/>
          <a:chExt cx="0" cy="0"/>
        </a:xfrm>
      </p:grpSpPr>
      <p:sp>
        <p:nvSpPr>
          <p:cNvPr id="24" name="Rectangle 4">
            <a:extLst>
              <a:ext uri="{FF2B5EF4-FFF2-40B4-BE49-F238E27FC236}">
                <a16:creationId xmlns:a16="http://schemas.microsoft.com/office/drawing/2014/main" id="{30E6AA70-6BDC-F39A-D677-F0E3249E19CC}"/>
              </a:ext>
            </a:extLst>
          </p:cNvPr>
          <p:cNvSpPr/>
          <p:nvPr/>
        </p:nvSpPr>
        <p:spPr>
          <a:xfrm>
            <a:off x="596432" y="1944197"/>
            <a:ext cx="4150380" cy="2031325"/>
          </a:xfrm>
          <a:prstGeom prst="rect">
            <a:avLst/>
          </a:prstGeom>
        </p:spPr>
        <p:txBody>
          <a:bodyPr wrap="square" numCol="1">
            <a:spAutoFit/>
          </a:bodyPr>
          <a:lstStyle/>
          <a:p>
            <a:pPr marL="349248" indent="-285750">
              <a:spcBef>
                <a:spcPts val="600"/>
              </a:spcBef>
              <a:spcAft>
                <a:spcPts val="600"/>
              </a:spcAft>
              <a:buClr>
                <a:srgbClr val="1F7E9C"/>
              </a:buClr>
              <a:buFont typeface="Wingdings" panose="05000000000000000000" pitchFamily="2" charset="2"/>
              <a:buChar char="v"/>
            </a:pPr>
            <a:r>
              <a:rPr lang="it-IT" dirty="0">
                <a:latin typeface="Atkinson Hyperlegible"/>
                <a:ea typeface="Open Sans Condensed Light"/>
                <a:cs typeface="Open Sans Condensed Light"/>
              </a:rPr>
              <a:t>Caso di rumore gaussiano a diversi livelli di deviazione standard sovrapposto alle letture di stato;</a:t>
            </a:r>
          </a:p>
          <a:p>
            <a:pPr marL="349248" indent="-285750">
              <a:spcBef>
                <a:spcPts val="600"/>
              </a:spcBef>
              <a:spcAft>
                <a:spcPts val="600"/>
              </a:spcAft>
              <a:buClr>
                <a:srgbClr val="1F7E9C"/>
              </a:buClr>
              <a:buFont typeface="Wingdings" panose="05000000000000000000" pitchFamily="2" charset="2"/>
              <a:buChar char="v"/>
            </a:pPr>
            <a:r>
              <a:rPr lang="it-IT" dirty="0">
                <a:latin typeface="Atkinson Hyperlegible"/>
                <a:ea typeface="Open Sans Condensed Light"/>
                <a:cs typeface="Open Sans Condensed Light"/>
              </a:rPr>
              <a:t>Caso di perdite di pacchetti di attuazione.</a:t>
            </a:r>
          </a:p>
          <a:p>
            <a:pPr marL="63498">
              <a:spcBef>
                <a:spcPts val="600"/>
              </a:spcBef>
            </a:pPr>
            <a:endParaRPr lang="it-IT" sz="1600" noProof="0" dirty="0">
              <a:latin typeface="Atkinson Hyperlegible"/>
            </a:endParaRPr>
          </a:p>
        </p:txBody>
      </p:sp>
      <p:sp>
        <p:nvSpPr>
          <p:cNvPr id="11" name="Rettangolo 10">
            <a:extLst>
              <a:ext uri="{FF2B5EF4-FFF2-40B4-BE49-F238E27FC236}">
                <a16:creationId xmlns:a16="http://schemas.microsoft.com/office/drawing/2014/main" id="{6E90F763-6A3F-71B4-C20B-EB31C999A4C9}"/>
              </a:ext>
            </a:extLst>
          </p:cNvPr>
          <p:cNvSpPr/>
          <p:nvPr/>
        </p:nvSpPr>
        <p:spPr>
          <a:xfrm>
            <a:off x="-195210" y="5943602"/>
            <a:ext cx="12387209" cy="977153"/>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mc:AlternateContent xmlns:mc="http://schemas.openxmlformats.org/markup-compatibility/2006">
        <mc:Choice xmlns:a14="http://schemas.microsoft.com/office/drawing/2010/main" Requires="a14">
          <p:sp>
            <p:nvSpPr>
              <p:cNvPr id="15" name="Rectangle 4">
                <a:extLst>
                  <a:ext uri="{FF2B5EF4-FFF2-40B4-BE49-F238E27FC236}">
                    <a16:creationId xmlns:a16="http://schemas.microsoft.com/office/drawing/2014/main" id="{D7F76D07-EDA2-0D1C-5D8A-4AF8C952E3B8}"/>
                  </a:ext>
                </a:extLst>
              </p:cNvPr>
              <p:cNvSpPr/>
              <p:nvPr/>
            </p:nvSpPr>
            <p:spPr>
              <a:xfrm>
                <a:off x="695325" y="504708"/>
                <a:ext cx="5510493" cy="769441"/>
              </a:xfrm>
              <a:prstGeom prst="rect">
                <a:avLst/>
              </a:prstGeom>
            </p:spPr>
            <p:txBody>
              <a:bodyPr wrap="square">
                <a:spAutoFit/>
              </a:bodyPr>
              <a:lstStyle/>
              <a:p>
                <a:r>
                  <a:rPr lang="it-IT" sz="2200" b="1" dirty="0">
                    <a:solidFill>
                      <a:schemeClr val="bg2">
                        <a:lumMod val="25000"/>
                      </a:schemeClr>
                    </a:solidFill>
                    <a:latin typeface="Atkinson Hyperlegible" pitchFamily="2" charset="77"/>
                    <a:ea typeface="Roboto" panose="02000000000000000000" pitchFamily="2" charset="0"/>
                    <a:cs typeface="Roboto" panose="02000000000000000000" pitchFamily="2" charset="0"/>
                  </a:rPr>
                  <a:t>Stima delle Matrici </a:t>
                </a:r>
                <a14:m>
                  <m:oMath xmlns:m="http://schemas.openxmlformats.org/officeDocument/2006/math">
                    <m:r>
                      <a:rPr lang="it-IT" sz="2200" b="1" i="1">
                        <a:solidFill>
                          <a:schemeClr val="bg2">
                            <a:lumMod val="25000"/>
                          </a:schemeClr>
                        </a:solidFill>
                        <a:latin typeface="Cambria Math" panose="02040503050406030204" pitchFamily="18" charset="0"/>
                        <a:ea typeface="Roboto" panose="02000000000000000000" pitchFamily="2" charset="0"/>
                        <a:cs typeface="Roboto" panose="02000000000000000000" pitchFamily="2" charset="0"/>
                      </a:rPr>
                      <m:t>𝑨</m:t>
                    </m:r>
                  </m:oMath>
                </a14:m>
                <a:r>
                  <a:rPr lang="it-IT" sz="2200" b="1" dirty="0">
                    <a:solidFill>
                      <a:schemeClr val="bg2">
                        <a:lumMod val="25000"/>
                      </a:schemeClr>
                    </a:solidFill>
                    <a:latin typeface="Atkinson Hyperlegible" pitchFamily="2" charset="77"/>
                    <a:ea typeface="Roboto" panose="02000000000000000000" pitchFamily="2" charset="0"/>
                    <a:cs typeface="Roboto" panose="02000000000000000000" pitchFamily="2" charset="0"/>
                  </a:rPr>
                  <a:t> e </a:t>
                </a:r>
                <a14:m>
                  <m:oMath xmlns:m="http://schemas.openxmlformats.org/officeDocument/2006/math">
                    <m:r>
                      <a:rPr lang="it-IT" sz="2200" b="1" i="1">
                        <a:solidFill>
                          <a:schemeClr val="bg2">
                            <a:lumMod val="25000"/>
                          </a:schemeClr>
                        </a:solidFill>
                        <a:latin typeface="Cambria Math" panose="02040503050406030204" pitchFamily="18" charset="0"/>
                        <a:ea typeface="Roboto" panose="02000000000000000000" pitchFamily="2" charset="0"/>
                        <a:cs typeface="Roboto" panose="02000000000000000000" pitchFamily="2" charset="0"/>
                      </a:rPr>
                      <m:t>𝑩</m:t>
                    </m:r>
                  </m:oMath>
                </a14:m>
                <a:r>
                  <a:rPr lang="it-IT" sz="2200" b="1" dirty="0">
                    <a:solidFill>
                      <a:schemeClr val="bg2">
                        <a:lumMod val="25000"/>
                      </a:schemeClr>
                    </a:solidFill>
                    <a:latin typeface="Atkinson Hyperlegible" pitchFamily="2" charset="77"/>
                    <a:ea typeface="Roboto" panose="02000000000000000000" pitchFamily="2" charset="0"/>
                    <a:cs typeface="Roboto" panose="02000000000000000000" pitchFamily="2" charset="0"/>
                  </a:rPr>
                  <a:t> del Sistema</a:t>
                </a:r>
                <a:br>
                  <a:rPr lang="it-IT" sz="2200" b="1" dirty="0">
                    <a:solidFill>
                      <a:schemeClr val="bg2">
                        <a:lumMod val="25000"/>
                      </a:schemeClr>
                    </a:solidFill>
                    <a:latin typeface="Atkinson Hyperlegible" pitchFamily="2" charset="77"/>
                    <a:ea typeface="Roboto" panose="02000000000000000000" pitchFamily="2" charset="0"/>
                    <a:cs typeface="Roboto" panose="02000000000000000000" pitchFamily="2" charset="0"/>
                  </a:rPr>
                </a:br>
                <a:r>
                  <a:rPr lang="it-IT" sz="2200" b="1" dirty="0">
                    <a:latin typeface="Atkinson Hyperlegible" pitchFamily="2" charset="77"/>
                    <a:ea typeface="Roboto" panose="02000000000000000000" pitchFamily="2" charset="0"/>
                    <a:cs typeface="Roboto" panose="02000000000000000000" pitchFamily="2" charset="0"/>
                  </a:rPr>
                  <a:t>– Impatto </a:t>
                </a:r>
                <a:r>
                  <a:rPr lang="it-IT" sz="2200" b="1" dirty="0">
                    <a:solidFill>
                      <a:schemeClr val="bg2">
                        <a:lumMod val="25000"/>
                      </a:schemeClr>
                    </a:solidFill>
                    <a:latin typeface="Atkinson Hyperlegible" pitchFamily="2" charset="77"/>
                    <a:ea typeface="Roboto" panose="02000000000000000000" pitchFamily="2" charset="0"/>
                    <a:cs typeface="Roboto" panose="02000000000000000000" pitchFamily="2" charset="0"/>
                  </a:rPr>
                  <a:t>di Disturbi</a:t>
                </a:r>
                <a:endParaRPr lang="it-IT" sz="2200" b="1" noProof="0" dirty="0">
                  <a:solidFill>
                    <a:schemeClr val="bg2">
                      <a:lumMod val="25000"/>
                    </a:schemeClr>
                  </a:solidFill>
                  <a:latin typeface="Atkinson Hyperlegible" pitchFamily="2" charset="77"/>
                  <a:ea typeface="Roboto" panose="02000000000000000000" pitchFamily="2" charset="0"/>
                  <a:cs typeface="Roboto" panose="02000000000000000000" pitchFamily="2" charset="0"/>
                </a:endParaRPr>
              </a:p>
            </p:txBody>
          </p:sp>
        </mc:Choice>
        <mc:Fallback>
          <p:sp>
            <p:nvSpPr>
              <p:cNvPr id="15" name="Rectangle 4">
                <a:extLst>
                  <a:ext uri="{FF2B5EF4-FFF2-40B4-BE49-F238E27FC236}">
                    <a16:creationId xmlns:a16="http://schemas.microsoft.com/office/drawing/2014/main" id="{D7F76D07-EDA2-0D1C-5D8A-4AF8C952E3B8}"/>
                  </a:ext>
                </a:extLst>
              </p:cNvPr>
              <p:cNvSpPr>
                <a:spLocks noRot="1" noChangeAspect="1" noMove="1" noResize="1" noEditPoints="1" noAdjustHandles="1" noChangeArrowheads="1" noChangeShapeType="1" noTextEdit="1"/>
              </p:cNvSpPr>
              <p:nvPr/>
            </p:nvSpPr>
            <p:spPr>
              <a:xfrm>
                <a:off x="695325" y="504708"/>
                <a:ext cx="5510493" cy="769441"/>
              </a:xfrm>
              <a:prstGeom prst="rect">
                <a:avLst/>
              </a:prstGeom>
              <a:blipFill>
                <a:blip r:embed="rId3"/>
                <a:stretch>
                  <a:fillRect l="-1438" t="-5556" b="-15079"/>
                </a:stretch>
              </a:blipFill>
            </p:spPr>
            <p:txBody>
              <a:bodyPr/>
              <a:lstStyle/>
              <a:p>
                <a:r>
                  <a:rPr lang="it-IT">
                    <a:noFill/>
                  </a:rPr>
                  <a:t> </a:t>
                </a:r>
              </a:p>
            </p:txBody>
          </p:sp>
        </mc:Fallback>
      </mc:AlternateContent>
      <p:sp>
        <p:nvSpPr>
          <p:cNvPr id="18" name="Rettangolo 17">
            <a:extLst>
              <a:ext uri="{FF2B5EF4-FFF2-40B4-BE49-F238E27FC236}">
                <a16:creationId xmlns:a16="http://schemas.microsoft.com/office/drawing/2014/main" id="{CCC7C583-4EC5-D027-AA9D-2E51AFFCBA14}"/>
              </a:ext>
            </a:extLst>
          </p:cNvPr>
          <p:cNvSpPr/>
          <p:nvPr/>
        </p:nvSpPr>
        <p:spPr>
          <a:xfrm>
            <a:off x="-61301" y="5934488"/>
            <a:ext cx="12305631" cy="54425"/>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pic>
        <p:nvPicPr>
          <p:cNvPr id="21" name="Immagine 20">
            <a:extLst>
              <a:ext uri="{FF2B5EF4-FFF2-40B4-BE49-F238E27FC236}">
                <a16:creationId xmlns:a16="http://schemas.microsoft.com/office/drawing/2014/main" id="{C73B04A6-891B-E970-2429-1A857C05C06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426078" y="6133296"/>
            <a:ext cx="2283511" cy="566274"/>
          </a:xfrm>
          <a:prstGeom prst="rect">
            <a:avLst/>
          </a:prstGeom>
        </p:spPr>
      </p:pic>
      <p:pic>
        <p:nvPicPr>
          <p:cNvPr id="3" name="Immagine 2">
            <a:extLst>
              <a:ext uri="{FF2B5EF4-FFF2-40B4-BE49-F238E27FC236}">
                <a16:creationId xmlns:a16="http://schemas.microsoft.com/office/drawing/2014/main" id="{7FCF8C57-C55F-49B8-D0B1-E00CEDCC9DFD}"/>
              </a:ext>
            </a:extLst>
          </p:cNvPr>
          <p:cNvPicPr>
            <a:picLocks noChangeAspect="1"/>
          </p:cNvPicPr>
          <p:nvPr/>
        </p:nvPicPr>
        <p:blipFill>
          <a:blip r:embed="rId5"/>
          <a:srcRect/>
          <a:stretch/>
        </p:blipFill>
        <p:spPr>
          <a:xfrm>
            <a:off x="5072866" y="1090523"/>
            <a:ext cx="6754363" cy="2311157"/>
          </a:xfrm>
          <a:prstGeom prst="rect">
            <a:avLst/>
          </a:prstGeom>
        </p:spPr>
      </p:pic>
      <p:sp>
        <p:nvSpPr>
          <p:cNvPr id="28" name="Ovale 27">
            <a:extLst>
              <a:ext uri="{FF2B5EF4-FFF2-40B4-BE49-F238E27FC236}">
                <a16:creationId xmlns:a16="http://schemas.microsoft.com/office/drawing/2014/main" id="{D5D2ED88-83B4-421F-10D1-D7015F47B782}"/>
              </a:ext>
            </a:extLst>
          </p:cNvPr>
          <p:cNvSpPr/>
          <p:nvPr/>
        </p:nvSpPr>
        <p:spPr>
          <a:xfrm>
            <a:off x="9406742" y="2542030"/>
            <a:ext cx="543464" cy="543464"/>
          </a:xfrm>
          <a:prstGeom prst="ellipse">
            <a:avLst/>
          </a:prstGeom>
          <a:noFill/>
          <a:ln w="38100">
            <a:solidFill>
              <a:srgbClr val="1F7E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1" name="TextBox 24">
            <a:extLst>
              <a:ext uri="{FF2B5EF4-FFF2-40B4-BE49-F238E27FC236}">
                <a16:creationId xmlns:a16="http://schemas.microsoft.com/office/drawing/2014/main" id="{E8A8110A-39CB-5587-1218-C88D9904FC75}"/>
              </a:ext>
            </a:extLst>
          </p:cNvPr>
          <p:cNvSpPr txBox="1"/>
          <p:nvPr/>
        </p:nvSpPr>
        <p:spPr>
          <a:xfrm>
            <a:off x="7030528" y="1807569"/>
            <a:ext cx="1561381" cy="505523"/>
          </a:xfrm>
          <a:prstGeom prst="rect">
            <a:avLst/>
          </a:prstGeom>
          <a:solidFill>
            <a:schemeClr val="bg1"/>
          </a:solidFill>
          <a:ln w="28575">
            <a:solidFill>
              <a:srgbClr val="1F7E9C"/>
            </a:solidFill>
          </a:ln>
          <a:effectLst/>
        </p:spPr>
        <p:txBody>
          <a:bodyPr wrap="square" rtlCol="0">
            <a:spAutoFit/>
          </a:bodyPr>
          <a:lstStyle/>
          <a:p>
            <a:pPr>
              <a:lnSpc>
                <a:spcPts val="1600"/>
              </a:lnSpc>
            </a:pPr>
            <a:r>
              <a:rPr lang="it-IT" sz="1400">
                <a:solidFill>
                  <a:schemeClr val="tx1">
                    <a:lumMod val="65000"/>
                    <a:lumOff val="35000"/>
                  </a:schemeClr>
                </a:solidFill>
                <a:latin typeface="Atkinson Hyperlegible" pitchFamily="2" charset="77"/>
                <a:ea typeface="Roboto" panose="02000000000000000000" pitchFamily="2" charset="0"/>
                <a:cs typeface="Roboto" panose="02000000000000000000" pitchFamily="2" charset="0"/>
              </a:rPr>
              <a:t>Fallimento nella stabilizzazione</a:t>
            </a:r>
          </a:p>
        </p:txBody>
      </p:sp>
      <p:cxnSp>
        <p:nvCxnSpPr>
          <p:cNvPr id="34" name="Connettore 2 33">
            <a:extLst>
              <a:ext uri="{FF2B5EF4-FFF2-40B4-BE49-F238E27FC236}">
                <a16:creationId xmlns:a16="http://schemas.microsoft.com/office/drawing/2014/main" id="{7ED0311B-3CB8-DDCE-80FF-04E078F20AA2}"/>
              </a:ext>
            </a:extLst>
          </p:cNvPr>
          <p:cNvCxnSpPr>
            <a:cxnSpLocks/>
            <a:stCxn id="31" idx="3"/>
          </p:cNvCxnSpPr>
          <p:nvPr/>
        </p:nvCxnSpPr>
        <p:spPr>
          <a:xfrm>
            <a:off x="8591909" y="2060331"/>
            <a:ext cx="771167" cy="583360"/>
          </a:xfrm>
          <a:prstGeom prst="straightConnector1">
            <a:avLst/>
          </a:prstGeom>
          <a:ln w="38100">
            <a:solidFill>
              <a:srgbClr val="1F7E9C"/>
            </a:solidFill>
            <a:tailEnd type="triangle"/>
          </a:ln>
        </p:spPr>
        <p:style>
          <a:lnRef idx="1">
            <a:schemeClr val="accent1"/>
          </a:lnRef>
          <a:fillRef idx="0">
            <a:schemeClr val="accent1"/>
          </a:fillRef>
          <a:effectRef idx="0">
            <a:schemeClr val="accent1"/>
          </a:effectRef>
          <a:fontRef idx="minor">
            <a:schemeClr val="tx1"/>
          </a:fontRef>
        </p:style>
      </p:cxnSp>
      <p:grpSp>
        <p:nvGrpSpPr>
          <p:cNvPr id="47" name="Gruppo 46">
            <a:extLst>
              <a:ext uri="{FF2B5EF4-FFF2-40B4-BE49-F238E27FC236}">
                <a16:creationId xmlns:a16="http://schemas.microsoft.com/office/drawing/2014/main" id="{3D6F8297-CB2E-70CF-5C42-ABD5C093F54C}"/>
              </a:ext>
            </a:extLst>
          </p:cNvPr>
          <p:cNvGrpSpPr/>
          <p:nvPr/>
        </p:nvGrpSpPr>
        <p:grpSpPr>
          <a:xfrm>
            <a:off x="838199" y="4168867"/>
            <a:ext cx="2795533" cy="1261492"/>
            <a:chOff x="1519685" y="4158953"/>
            <a:chExt cx="2795533" cy="1261492"/>
          </a:xfrm>
        </p:grpSpPr>
        <p:sp>
          <p:nvSpPr>
            <p:cNvPr id="48" name="TextBox 24">
              <a:extLst>
                <a:ext uri="{FF2B5EF4-FFF2-40B4-BE49-F238E27FC236}">
                  <a16:creationId xmlns:a16="http://schemas.microsoft.com/office/drawing/2014/main" id="{EA0DBA57-3050-2703-F609-9D5A21217497}"/>
                </a:ext>
              </a:extLst>
            </p:cNvPr>
            <p:cNvSpPr txBox="1"/>
            <p:nvPr/>
          </p:nvSpPr>
          <p:spPr>
            <a:xfrm>
              <a:off x="1568602" y="4928386"/>
              <a:ext cx="2533974" cy="492058"/>
            </a:xfrm>
            <a:prstGeom prst="rect">
              <a:avLst/>
            </a:prstGeom>
            <a:noFill/>
            <a:effectLst/>
          </p:spPr>
          <p:txBody>
            <a:bodyPr wrap="square" rtlCol="0">
              <a:spAutoFit/>
            </a:bodyPr>
            <a:lstStyle/>
            <a:p>
              <a:pPr>
                <a:lnSpc>
                  <a:spcPts val="1600"/>
                </a:lnSpc>
              </a:pPr>
              <a:r>
                <a:rPr lang="it-IT" sz="1200">
                  <a:solidFill>
                    <a:schemeClr val="bg2">
                      <a:lumMod val="50000"/>
                    </a:schemeClr>
                  </a:solidFill>
                  <a:latin typeface="Atkinson Hyperlegible" pitchFamily="2" charset="77"/>
                  <a:ea typeface="Roboto" panose="02000000000000000000" pitchFamily="2" charset="0"/>
                  <a:cs typeface="Roboto" panose="02000000000000000000" pitchFamily="2" charset="0"/>
                </a:rPr>
                <a:t>Andamento RMSE medio al variare della probabilità di perdita.</a:t>
              </a:r>
            </a:p>
          </p:txBody>
        </p:sp>
        <p:sp>
          <p:nvSpPr>
            <p:cNvPr id="49" name="Rettangolo 48">
              <a:extLst>
                <a:ext uri="{FF2B5EF4-FFF2-40B4-BE49-F238E27FC236}">
                  <a16:creationId xmlns:a16="http://schemas.microsoft.com/office/drawing/2014/main" id="{E4D59E00-28FE-161D-8A28-E5EA759AC9A4}"/>
                </a:ext>
              </a:extLst>
            </p:cNvPr>
            <p:cNvSpPr/>
            <p:nvPr/>
          </p:nvSpPr>
          <p:spPr>
            <a:xfrm>
              <a:off x="1519685" y="4928386"/>
              <a:ext cx="48917" cy="492059"/>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50" name="TextBox 24">
              <a:extLst>
                <a:ext uri="{FF2B5EF4-FFF2-40B4-BE49-F238E27FC236}">
                  <a16:creationId xmlns:a16="http://schemas.microsoft.com/office/drawing/2014/main" id="{B3638543-1963-3D7D-3104-1556165F27C4}"/>
                </a:ext>
              </a:extLst>
            </p:cNvPr>
            <p:cNvSpPr txBox="1"/>
            <p:nvPr/>
          </p:nvSpPr>
          <p:spPr>
            <a:xfrm>
              <a:off x="1568602" y="4158953"/>
              <a:ext cx="2533974" cy="492058"/>
            </a:xfrm>
            <a:prstGeom prst="rect">
              <a:avLst/>
            </a:prstGeom>
            <a:noFill/>
            <a:effectLst/>
          </p:spPr>
          <p:txBody>
            <a:bodyPr wrap="square" rtlCol="0">
              <a:spAutoFit/>
            </a:bodyPr>
            <a:lstStyle/>
            <a:p>
              <a:pPr>
                <a:lnSpc>
                  <a:spcPts val="1600"/>
                </a:lnSpc>
              </a:pPr>
              <a:r>
                <a:rPr lang="it-IT" sz="1200">
                  <a:solidFill>
                    <a:schemeClr val="bg2">
                      <a:lumMod val="50000"/>
                    </a:schemeClr>
                  </a:solidFill>
                  <a:latin typeface="Atkinson Hyperlegible" pitchFamily="2" charset="77"/>
                  <a:ea typeface="Roboto" panose="02000000000000000000" pitchFamily="2" charset="0"/>
                  <a:cs typeface="Roboto" panose="02000000000000000000" pitchFamily="2" charset="0"/>
                </a:rPr>
                <a:t>Andamento RMSE medio al variare dell’intensità del rumore.</a:t>
              </a:r>
            </a:p>
          </p:txBody>
        </p:sp>
        <p:sp>
          <p:nvSpPr>
            <p:cNvPr id="51" name="Rettangolo 50">
              <a:extLst>
                <a:ext uri="{FF2B5EF4-FFF2-40B4-BE49-F238E27FC236}">
                  <a16:creationId xmlns:a16="http://schemas.microsoft.com/office/drawing/2014/main" id="{95686AD9-8FC0-192B-AD61-978E54308D38}"/>
                </a:ext>
              </a:extLst>
            </p:cNvPr>
            <p:cNvSpPr/>
            <p:nvPr/>
          </p:nvSpPr>
          <p:spPr>
            <a:xfrm>
              <a:off x="1519685" y="4158953"/>
              <a:ext cx="48917" cy="492059"/>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52" name="Triangolo isoscele 51">
              <a:extLst>
                <a:ext uri="{FF2B5EF4-FFF2-40B4-BE49-F238E27FC236}">
                  <a16:creationId xmlns:a16="http://schemas.microsoft.com/office/drawing/2014/main" id="{6019F923-551F-B41B-D49F-07282B39D55B}"/>
                </a:ext>
              </a:extLst>
            </p:cNvPr>
            <p:cNvSpPr/>
            <p:nvPr/>
          </p:nvSpPr>
          <p:spPr>
            <a:xfrm rot="3359609">
              <a:off x="4091215" y="4178026"/>
              <a:ext cx="215016" cy="232991"/>
            </a:xfrm>
            <a:prstGeom prst="triangle">
              <a:avLst/>
            </a:prstGeom>
            <a:solidFill>
              <a:srgbClr val="1F7E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3" name="Triangolo isoscele 52">
              <a:extLst>
                <a:ext uri="{FF2B5EF4-FFF2-40B4-BE49-F238E27FC236}">
                  <a16:creationId xmlns:a16="http://schemas.microsoft.com/office/drawing/2014/main" id="{5BE4A4F9-60D2-8A11-2CF7-4B5883ECF923}"/>
                </a:ext>
              </a:extLst>
            </p:cNvPr>
            <p:cNvSpPr/>
            <p:nvPr/>
          </p:nvSpPr>
          <p:spPr>
            <a:xfrm rot="5400000">
              <a:off x="4050944" y="5099631"/>
              <a:ext cx="201096" cy="220347"/>
            </a:xfrm>
            <a:prstGeom prst="triangle">
              <a:avLst/>
            </a:prstGeom>
            <a:solidFill>
              <a:srgbClr val="1F7E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pic>
        <p:nvPicPr>
          <p:cNvPr id="6" name="Immagine 5">
            <a:extLst>
              <a:ext uri="{FF2B5EF4-FFF2-40B4-BE49-F238E27FC236}">
                <a16:creationId xmlns:a16="http://schemas.microsoft.com/office/drawing/2014/main" id="{FB7D34A0-0D3F-98A2-9F3F-48EA5B92BEA2}"/>
              </a:ext>
            </a:extLst>
          </p:cNvPr>
          <p:cNvPicPr>
            <a:picLocks noChangeAspect="1"/>
          </p:cNvPicPr>
          <p:nvPr/>
        </p:nvPicPr>
        <p:blipFill>
          <a:blip r:embed="rId6"/>
          <a:srcRect t="80562" r="42580" b="11321"/>
          <a:stretch>
            <a:fillRect/>
          </a:stretch>
        </p:blipFill>
        <p:spPr>
          <a:xfrm>
            <a:off x="5173789" y="4071224"/>
            <a:ext cx="6552515" cy="1306598"/>
          </a:xfrm>
          <a:prstGeom prst="rect">
            <a:avLst/>
          </a:prstGeom>
        </p:spPr>
      </p:pic>
      <p:pic>
        <p:nvPicPr>
          <p:cNvPr id="4" name="Immagine 3">
            <a:extLst>
              <a:ext uri="{FF2B5EF4-FFF2-40B4-BE49-F238E27FC236}">
                <a16:creationId xmlns:a16="http://schemas.microsoft.com/office/drawing/2014/main" id="{CD6829D9-F0A9-F30E-4040-72C1C98B860F}"/>
              </a:ext>
            </a:extLst>
          </p:cNvPr>
          <p:cNvPicPr>
            <a:picLocks noChangeAspect="1"/>
          </p:cNvPicPr>
          <p:nvPr/>
        </p:nvPicPr>
        <p:blipFill>
          <a:blip r:embed="rId7"/>
          <a:stretch>
            <a:fillRect/>
          </a:stretch>
        </p:blipFill>
        <p:spPr>
          <a:xfrm>
            <a:off x="4988579" y="3523147"/>
            <a:ext cx="6838650" cy="2404637"/>
          </a:xfrm>
          <a:prstGeom prst="rect">
            <a:avLst/>
          </a:prstGeom>
        </p:spPr>
      </p:pic>
    </p:spTree>
    <p:extLst>
      <p:ext uri="{BB962C8B-B14F-4D97-AF65-F5344CB8AC3E}">
        <p14:creationId xmlns:p14="http://schemas.microsoft.com/office/powerpoint/2010/main" val="6448976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66ECA-2D35-F5E6-AAE2-98C75AED30B3}"/>
            </a:ext>
          </a:extLst>
        </p:cNvPr>
        <p:cNvGrpSpPr/>
        <p:nvPr/>
      </p:nvGrpSpPr>
      <p:grpSpPr>
        <a:xfrm>
          <a:off x="0" y="0"/>
          <a:ext cx="0" cy="0"/>
          <a:chOff x="0" y="0"/>
          <a:chExt cx="0" cy="0"/>
        </a:xfrm>
      </p:grpSpPr>
      <p:sp>
        <p:nvSpPr>
          <p:cNvPr id="58" name="Rettangolo 57">
            <a:extLst>
              <a:ext uri="{FF2B5EF4-FFF2-40B4-BE49-F238E27FC236}">
                <a16:creationId xmlns:a16="http://schemas.microsoft.com/office/drawing/2014/main" id="{F8C884EA-3F44-1BCA-8066-A45062B89C5E}"/>
              </a:ext>
            </a:extLst>
          </p:cNvPr>
          <p:cNvSpPr/>
          <p:nvPr/>
        </p:nvSpPr>
        <p:spPr>
          <a:xfrm>
            <a:off x="-294968" y="-32856"/>
            <a:ext cx="12993277" cy="1139411"/>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23" name="Rectangle 4">
            <a:extLst>
              <a:ext uri="{FF2B5EF4-FFF2-40B4-BE49-F238E27FC236}">
                <a16:creationId xmlns:a16="http://schemas.microsoft.com/office/drawing/2014/main" id="{983860D4-58E7-19A0-D399-64D2D1ECBB59}"/>
              </a:ext>
            </a:extLst>
          </p:cNvPr>
          <p:cNvSpPr/>
          <p:nvPr/>
        </p:nvSpPr>
        <p:spPr>
          <a:xfrm>
            <a:off x="695324" y="621119"/>
            <a:ext cx="8201026" cy="311111"/>
          </a:xfrm>
          <a:prstGeom prst="rect">
            <a:avLst/>
          </a:prstGeom>
        </p:spPr>
        <p:txBody>
          <a:bodyPr wrap="square">
            <a:spAutoFit/>
          </a:bodyPr>
          <a:lstStyle/>
          <a:p>
            <a:pPr>
              <a:lnSpc>
                <a:spcPts val="1500"/>
              </a:lnSpc>
            </a:pPr>
            <a:r>
              <a:rPr lang="it-IT" sz="2200" b="1" noProof="0">
                <a:solidFill>
                  <a:schemeClr val="bg1"/>
                </a:solidFill>
                <a:latin typeface="Atkinson Hyperlegible" pitchFamily="2" charset="77"/>
                <a:ea typeface="Roboto" panose="02000000000000000000" pitchFamily="2" charset="0"/>
                <a:cs typeface="Roboto" panose="02000000000000000000" pitchFamily="2" charset="0"/>
              </a:rPr>
              <a:t>Controllo Ottimo – Cenni su LQR</a:t>
            </a:r>
          </a:p>
        </p:txBody>
      </p:sp>
      <mc:AlternateContent xmlns:mc="http://schemas.openxmlformats.org/markup-compatibility/2006">
        <mc:Choice xmlns:a14="http://schemas.microsoft.com/office/drawing/2010/main" Requires="a14">
          <p:sp>
            <p:nvSpPr>
              <p:cNvPr id="24" name="Rectangle 4">
                <a:extLst>
                  <a:ext uri="{FF2B5EF4-FFF2-40B4-BE49-F238E27FC236}">
                    <a16:creationId xmlns:a16="http://schemas.microsoft.com/office/drawing/2014/main" id="{765EB8C0-DD4E-EEEE-6E9B-C6363875FF80}"/>
                  </a:ext>
                </a:extLst>
              </p:cNvPr>
              <p:cNvSpPr/>
              <p:nvPr/>
            </p:nvSpPr>
            <p:spPr>
              <a:xfrm>
                <a:off x="695323" y="1586205"/>
                <a:ext cx="11097747" cy="4310347"/>
              </a:xfrm>
              <a:prstGeom prst="rect">
                <a:avLst/>
              </a:prstGeom>
            </p:spPr>
            <p:txBody>
              <a:bodyPr wrap="square">
                <a:spAutoFit/>
              </a:bodyPr>
              <a:lstStyle/>
              <a:p>
                <a:pPr marL="285750" indent="-285750">
                  <a:buClr>
                    <a:srgbClr val="1F7E9C"/>
                  </a:buClr>
                  <a:buFont typeface="Wingdings" panose="05000000000000000000" pitchFamily="2" charset="2"/>
                  <a:buChar char="v"/>
                </a:pPr>
                <a:r>
                  <a:rPr lang="it-IT" dirty="0"/>
                  <a:t>Il controllo LQR (</a:t>
                </a:r>
                <a:r>
                  <a:rPr lang="it-IT" i="1" dirty="0"/>
                  <a:t>Linear </a:t>
                </a:r>
                <a:r>
                  <a:rPr lang="it-IT" i="1" dirty="0" err="1"/>
                  <a:t>Quadratic</a:t>
                </a:r>
                <a:r>
                  <a:rPr lang="it-IT" i="1" dirty="0"/>
                  <a:t> </a:t>
                </a:r>
                <a:r>
                  <a:rPr lang="it-IT" i="1" dirty="0" err="1"/>
                  <a:t>Regulator</a:t>
                </a:r>
                <a:r>
                  <a:rPr lang="it-IT" dirty="0"/>
                  <a:t>) è una tecnica di sintesi di controllori ottimi per sistemi lineari tempo-invarianti espressi in forma spazio-stato. Nel caso di sistemi discreti, Il problema consiste nel minimizzare la funzione costo quadratica: </a:t>
                </a:r>
                <a:endParaRPr lang="it-IT" dirty="0">
                  <a:solidFill>
                    <a:schemeClr val="bg2">
                      <a:lumMod val="25000"/>
                    </a:schemeClr>
                  </a:solidFill>
                  <a:latin typeface="Atkinson Hyperlegible" pitchFamily="2" charset="77"/>
                  <a:ea typeface="Roboto" panose="02000000000000000000" pitchFamily="2" charset="0"/>
                  <a:cs typeface="Roboto" panose="02000000000000000000" pitchFamily="2" charset="0"/>
                </a:endParaRPr>
              </a:p>
              <a:p>
                <a:pPr lvl="1">
                  <a:spcAft>
                    <a:spcPts val="1200"/>
                  </a:spcAft>
                </a:pPr>
                <a14:m>
                  <m:oMathPara xmlns:m="http://schemas.openxmlformats.org/officeDocument/2006/math">
                    <m:oMathParaPr>
                      <m:jc m:val="centerGroup"/>
                    </m:oMathParaPr>
                    <m:oMath xmlns:m="http://schemas.openxmlformats.org/officeDocument/2006/math">
                      <m:r>
                        <a:rPr lang="it-IT" i="1">
                          <a:latin typeface="Cambria Math" panose="02040503050406030204" pitchFamily="18" charset="0"/>
                        </a:rPr>
                        <m:t>𝐽</m:t>
                      </m:r>
                      <m:r>
                        <a:rPr lang="it-IT" i="1">
                          <a:latin typeface="Cambria Math" panose="02040503050406030204" pitchFamily="18" charset="0"/>
                        </a:rPr>
                        <m:t>=</m:t>
                      </m:r>
                      <m:nary>
                        <m:naryPr>
                          <m:chr m:val="∑"/>
                          <m:limLoc m:val="undOvr"/>
                          <m:ctrlPr>
                            <a:rPr lang="it-IT" i="1">
                              <a:latin typeface="Cambria Math" panose="02040503050406030204" pitchFamily="18" charset="0"/>
                            </a:rPr>
                          </m:ctrlPr>
                        </m:naryPr>
                        <m:sub>
                          <m:r>
                            <a:rPr lang="it-IT" i="1">
                              <a:latin typeface="Cambria Math" panose="02040503050406030204" pitchFamily="18" charset="0"/>
                            </a:rPr>
                            <m:t>𝑘</m:t>
                          </m:r>
                          <m:r>
                            <a:rPr lang="it-IT" i="1">
                              <a:latin typeface="Cambria Math" panose="02040503050406030204" pitchFamily="18" charset="0"/>
                            </a:rPr>
                            <m:t>=0</m:t>
                          </m:r>
                        </m:sub>
                        <m:sup>
                          <m:r>
                            <a:rPr lang="it-IT" i="1">
                              <a:latin typeface="Cambria Math" panose="02040503050406030204" pitchFamily="18" charset="0"/>
                            </a:rPr>
                            <m:t>∞</m:t>
                          </m:r>
                        </m:sup>
                        <m:e>
                          <m:sSup>
                            <m:sSupPr>
                              <m:ctrlPr>
                                <a:rPr lang="it-IT" b="0" i="1" smtClean="0">
                                  <a:latin typeface="Cambria Math" panose="02040503050406030204" pitchFamily="18" charset="0"/>
                                </a:rPr>
                              </m:ctrlPr>
                            </m:sSupPr>
                            <m:e>
                              <m:r>
                                <a:rPr lang="it-IT" b="0" i="1" smtClean="0">
                                  <a:latin typeface="Cambria Math" panose="02040503050406030204" pitchFamily="18" charset="0"/>
                                </a:rPr>
                                <m:t>𝑥</m:t>
                              </m:r>
                            </m:e>
                            <m:sup>
                              <m:r>
                                <a:rPr lang="it-IT" b="0" i="1" smtClean="0">
                                  <a:latin typeface="Cambria Math" panose="02040503050406030204" pitchFamily="18" charset="0"/>
                                </a:rPr>
                                <m:t>𝑇</m:t>
                              </m:r>
                            </m:sup>
                          </m:sSup>
                          <m:d>
                            <m:dPr>
                              <m:ctrlPr>
                                <a:rPr lang="it-IT" b="0" i="1" smtClean="0">
                                  <a:latin typeface="Cambria Math" panose="02040503050406030204" pitchFamily="18" charset="0"/>
                                </a:rPr>
                              </m:ctrlPr>
                            </m:dPr>
                            <m:e>
                              <m:r>
                                <a:rPr lang="it-IT" b="0" i="1" smtClean="0">
                                  <a:latin typeface="Cambria Math" panose="02040503050406030204" pitchFamily="18" charset="0"/>
                                </a:rPr>
                                <m:t>𝑘</m:t>
                              </m:r>
                            </m:e>
                          </m:d>
                          <m:r>
                            <a:rPr lang="it-IT" i="1">
                              <a:latin typeface="Cambria Math" panose="02040503050406030204" pitchFamily="18" charset="0"/>
                            </a:rPr>
                            <m:t>𝑄</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𝑥</m:t>
                              </m:r>
                            </m:e>
                            <m:sup>
                              <m:r>
                                <a:rPr lang="it-IT" b="0" i="1" smtClean="0">
                                  <a:latin typeface="Cambria Math" panose="02040503050406030204" pitchFamily="18" charset="0"/>
                                </a:rPr>
                                <m:t>𝑇</m:t>
                              </m:r>
                            </m:sup>
                          </m:sSup>
                          <m:d>
                            <m:dPr>
                              <m:ctrlPr>
                                <a:rPr lang="it-IT" b="0" i="1" smtClean="0">
                                  <a:latin typeface="Cambria Math" panose="02040503050406030204" pitchFamily="18" charset="0"/>
                                </a:rPr>
                              </m:ctrlPr>
                            </m:dPr>
                            <m:e>
                              <m:r>
                                <a:rPr lang="it-IT" b="0" i="1" smtClean="0">
                                  <a:latin typeface="Cambria Math" panose="02040503050406030204" pitchFamily="18" charset="0"/>
                                </a:rPr>
                                <m:t>𝑘</m:t>
                              </m:r>
                            </m:e>
                          </m:d>
                          <m:r>
                            <a:rPr lang="it-IT" i="1">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𝑢</m:t>
                              </m:r>
                            </m:e>
                            <m:sup>
                              <m:r>
                                <a:rPr lang="it-IT" b="0" i="1" smtClean="0">
                                  <a:latin typeface="Cambria Math" panose="02040503050406030204" pitchFamily="18" charset="0"/>
                                </a:rPr>
                                <m:t>𝑇</m:t>
                              </m:r>
                            </m:sup>
                          </m:sSup>
                          <m:r>
                            <a:rPr lang="it-IT" b="0" i="1" smtClean="0">
                              <a:latin typeface="Cambria Math" panose="02040503050406030204" pitchFamily="18" charset="0"/>
                            </a:rPr>
                            <m:t>(</m:t>
                          </m:r>
                          <m:r>
                            <a:rPr lang="it-IT" b="0" i="1" smtClean="0">
                              <a:latin typeface="Cambria Math" panose="02040503050406030204" pitchFamily="18" charset="0"/>
                            </a:rPr>
                            <m:t>𝑘</m:t>
                          </m:r>
                          <m:r>
                            <a:rPr lang="it-IT" b="0" i="1" smtClean="0">
                              <a:latin typeface="Cambria Math" panose="02040503050406030204" pitchFamily="18" charset="0"/>
                            </a:rPr>
                            <m:t>)</m:t>
                          </m:r>
                          <m:r>
                            <a:rPr lang="it-IT" i="1">
                              <a:latin typeface="Cambria Math" panose="02040503050406030204" pitchFamily="18" charset="0"/>
                            </a:rPr>
                            <m:t>𝑅</m:t>
                          </m:r>
                          <m:r>
                            <a:rPr lang="it-IT" b="0" i="1" smtClean="0">
                              <a:latin typeface="Cambria Math" panose="02040503050406030204" pitchFamily="18" charset="0"/>
                            </a:rPr>
                            <m:t>𝑢</m:t>
                          </m:r>
                          <m:r>
                            <a:rPr lang="it-IT" b="0" i="1" smtClean="0">
                              <a:latin typeface="Cambria Math" panose="02040503050406030204" pitchFamily="18" charset="0"/>
                            </a:rPr>
                            <m:t>(</m:t>
                          </m:r>
                          <m:r>
                            <a:rPr lang="it-IT" b="0" i="1" smtClean="0">
                              <a:latin typeface="Cambria Math" panose="02040503050406030204" pitchFamily="18" charset="0"/>
                            </a:rPr>
                            <m:t>𝑘</m:t>
                          </m:r>
                          <m:r>
                            <a:rPr lang="it-IT" b="0" i="1" smtClean="0">
                              <a:latin typeface="Cambria Math" panose="02040503050406030204" pitchFamily="18" charset="0"/>
                            </a:rPr>
                            <m:t>)</m:t>
                          </m:r>
                        </m:e>
                      </m:nary>
                    </m:oMath>
                  </m:oMathPara>
                </a14:m>
                <a:endParaRPr lang="it-IT" dirty="0"/>
              </a:p>
              <a:p>
                <a:pPr marL="285750" indent="-285750">
                  <a:spcAft>
                    <a:spcPts val="1200"/>
                  </a:spcAft>
                  <a:buClr>
                    <a:schemeClr val="bg1">
                      <a:lumMod val="95000"/>
                    </a:schemeClr>
                  </a:buClr>
                  <a:buFont typeface="Arial" panose="020B0604020202020204" pitchFamily="34" charset="0"/>
                  <a:buChar char="•"/>
                </a:pPr>
                <a:r>
                  <a:rPr lang="it-IT" dirty="0"/>
                  <a:t>dove </a:t>
                </a:r>
                <a14:m>
                  <m:oMath xmlns:m="http://schemas.openxmlformats.org/officeDocument/2006/math">
                    <m:r>
                      <a:rPr lang="it-IT" i="1">
                        <a:latin typeface="Cambria Math" panose="02040503050406030204" pitchFamily="18" charset="0"/>
                      </a:rPr>
                      <m:t>𝑄</m:t>
                    </m:r>
                    <m:r>
                      <a:rPr lang="it-IT" i="1">
                        <a:latin typeface="Cambria Math" panose="02040503050406030204" pitchFamily="18" charset="0"/>
                      </a:rPr>
                      <m:t>≽0</m:t>
                    </m:r>
                  </m:oMath>
                </a14:m>
                <a:r>
                  <a:rPr lang="it-IT" dirty="0"/>
                  <a:t> e </a:t>
                </a:r>
                <a14:m>
                  <m:oMath xmlns:m="http://schemas.openxmlformats.org/officeDocument/2006/math">
                    <m:r>
                      <a:rPr lang="it-IT" i="1">
                        <a:latin typeface="Cambria Math" panose="02040503050406030204" pitchFamily="18" charset="0"/>
                      </a:rPr>
                      <m:t>𝑅</m:t>
                    </m:r>
                    <m:r>
                      <a:rPr lang="it-IT" i="1">
                        <a:latin typeface="Cambria Math" panose="02040503050406030204" pitchFamily="18" charset="0"/>
                      </a:rPr>
                      <m:t>≻0</m:t>
                    </m:r>
                  </m:oMath>
                </a14:m>
                <a:r>
                  <a:rPr lang="it-IT" dirty="0"/>
                  <a:t> sono le matrici di peso che ponderano rispettivamente il costo dallo scostamento dello stato e il costo energetico dell’input di controllo </a:t>
                </a:r>
                <a14:m>
                  <m:oMath xmlns:m="http://schemas.openxmlformats.org/officeDocument/2006/math">
                    <m:r>
                      <a:rPr lang="it-IT" i="1">
                        <a:latin typeface="Cambria Math" panose="02040503050406030204" pitchFamily="18" charset="0"/>
                      </a:rPr>
                      <m:t>𝑢</m:t>
                    </m:r>
                    <m:r>
                      <a:rPr lang="it-IT" i="1">
                        <a:latin typeface="Cambria Math" panose="02040503050406030204" pitchFamily="18" charset="0"/>
                      </a:rPr>
                      <m:t>(</m:t>
                    </m:r>
                    <m:r>
                      <a:rPr lang="it-IT" b="0" i="1" smtClean="0">
                        <a:latin typeface="Cambria Math" panose="02040503050406030204" pitchFamily="18" charset="0"/>
                      </a:rPr>
                      <m:t>𝑘</m:t>
                    </m:r>
                    <m:r>
                      <a:rPr lang="it-IT" i="1">
                        <a:latin typeface="Cambria Math" panose="02040503050406030204" pitchFamily="18" charset="0"/>
                      </a:rPr>
                      <m:t>)</m:t>
                    </m:r>
                  </m:oMath>
                </a14:m>
                <a:r>
                  <a:rPr lang="it-IT" dirty="0"/>
                  <a:t>.</a:t>
                </a:r>
              </a:p>
              <a:p>
                <a:pPr marL="285750" indent="-285750">
                  <a:spcAft>
                    <a:spcPts val="1200"/>
                  </a:spcAft>
                  <a:buClr>
                    <a:srgbClr val="1F7E9C"/>
                  </a:buClr>
                  <a:buFont typeface="Wingdings" panose="05000000000000000000" pitchFamily="2" charset="2"/>
                  <a:buChar char="v"/>
                </a:pPr>
                <a:r>
                  <a:rPr lang="it-IT" dirty="0">
                    <a:solidFill>
                      <a:schemeClr val="tx1"/>
                    </a:solidFill>
                    <a:latin typeface="Atkinson Hyperlegible" pitchFamily="2" charset="77"/>
                    <a:ea typeface="Roboto" panose="02000000000000000000" pitchFamily="2" charset="0"/>
                    <a:cs typeface="Roboto" panose="02000000000000000000" pitchFamily="2" charset="0"/>
                  </a:rPr>
                  <a:t>Il problema si risolve determinando una legge di controllo lineare del tipo </a:t>
                </a:r>
                <a14:m>
                  <m:oMath xmlns:m="http://schemas.openxmlformats.org/officeDocument/2006/math">
                    <m:r>
                      <a:rPr lang="it-IT" i="1">
                        <a:latin typeface="Cambria Math" panose="02040503050406030204" pitchFamily="18" charset="0"/>
                      </a:rPr>
                      <m:t>𝑢</m:t>
                    </m:r>
                    <m:d>
                      <m:dPr>
                        <m:ctrlPr>
                          <a:rPr lang="it-IT" i="1">
                            <a:latin typeface="Cambria Math" panose="02040503050406030204" pitchFamily="18" charset="0"/>
                          </a:rPr>
                        </m:ctrlPr>
                      </m:dPr>
                      <m:e>
                        <m:r>
                          <a:rPr lang="it-IT" b="0" i="1" smtClean="0">
                            <a:latin typeface="Cambria Math" panose="02040503050406030204" pitchFamily="18" charset="0"/>
                          </a:rPr>
                          <m:t>𝑘</m:t>
                        </m:r>
                      </m:e>
                    </m:d>
                    <m:r>
                      <a:rPr lang="it-IT" b="0" i="1" smtClean="0">
                        <a:latin typeface="Cambria Math" panose="02040503050406030204" pitchFamily="18" charset="0"/>
                      </a:rPr>
                      <m:t>=−</m:t>
                    </m:r>
                    <m:r>
                      <a:rPr lang="it-IT" b="0" i="1" smtClean="0">
                        <a:latin typeface="Cambria Math" panose="02040503050406030204" pitchFamily="18" charset="0"/>
                      </a:rPr>
                      <m:t>𝐾𝑥</m:t>
                    </m:r>
                    <m:r>
                      <a:rPr lang="it-IT" b="0" i="1" smtClean="0">
                        <a:latin typeface="Cambria Math" panose="02040503050406030204" pitchFamily="18" charset="0"/>
                      </a:rPr>
                      <m:t>(</m:t>
                    </m:r>
                    <m:r>
                      <a:rPr lang="it-IT" b="0" i="1" smtClean="0">
                        <a:latin typeface="Cambria Math" panose="02040503050406030204" pitchFamily="18" charset="0"/>
                      </a:rPr>
                      <m:t>𝑘</m:t>
                    </m:r>
                    <m:r>
                      <a:rPr lang="it-IT" b="0" i="1" smtClean="0">
                        <a:latin typeface="Cambria Math" panose="02040503050406030204" pitchFamily="18" charset="0"/>
                      </a:rPr>
                      <m:t>)</m:t>
                    </m:r>
                  </m:oMath>
                </a14:m>
                <a:r>
                  <a:rPr lang="it-IT" dirty="0">
                    <a:solidFill>
                      <a:schemeClr val="tx1"/>
                    </a:solidFill>
                    <a:latin typeface="Atkinson Hyperlegible" pitchFamily="2" charset="77"/>
                    <a:ea typeface="Roboto" panose="02000000000000000000" pitchFamily="2" charset="0"/>
                    <a:cs typeface="Roboto" panose="02000000000000000000" pitchFamily="2" charset="0"/>
                  </a:rPr>
                  <a:t>, dove K è calcolata risolvendo la </a:t>
                </a:r>
                <a:r>
                  <a:rPr lang="it-IT" i="1" dirty="0" err="1">
                    <a:solidFill>
                      <a:schemeClr val="tx1"/>
                    </a:solidFill>
                    <a:latin typeface="Atkinson Hyperlegible" pitchFamily="2" charset="77"/>
                    <a:ea typeface="Roboto" panose="02000000000000000000" pitchFamily="2" charset="0"/>
                    <a:cs typeface="Roboto" panose="02000000000000000000" pitchFamily="2" charset="0"/>
                  </a:rPr>
                  <a:t>Algebraic</a:t>
                </a:r>
                <a:r>
                  <a:rPr lang="it-IT" i="1" dirty="0">
                    <a:solidFill>
                      <a:schemeClr val="tx1"/>
                    </a:solidFill>
                    <a:latin typeface="Atkinson Hyperlegible" pitchFamily="2" charset="77"/>
                    <a:ea typeface="Roboto" panose="02000000000000000000" pitchFamily="2" charset="0"/>
                    <a:cs typeface="Roboto" panose="02000000000000000000" pitchFamily="2" charset="0"/>
                  </a:rPr>
                  <a:t> </a:t>
                </a:r>
                <a:r>
                  <a:rPr lang="it-IT" i="1" dirty="0" err="1">
                    <a:solidFill>
                      <a:schemeClr val="tx1"/>
                    </a:solidFill>
                    <a:latin typeface="Atkinson Hyperlegible" pitchFamily="2" charset="77"/>
                    <a:ea typeface="Roboto" panose="02000000000000000000" pitchFamily="2" charset="0"/>
                    <a:cs typeface="Roboto" panose="02000000000000000000" pitchFamily="2" charset="0"/>
                  </a:rPr>
                  <a:t>Riccati</a:t>
                </a:r>
                <a:r>
                  <a:rPr lang="it-IT" i="1" dirty="0">
                    <a:solidFill>
                      <a:schemeClr val="tx1"/>
                    </a:solidFill>
                    <a:latin typeface="Atkinson Hyperlegible" pitchFamily="2" charset="77"/>
                    <a:ea typeface="Roboto" panose="02000000000000000000" pitchFamily="2" charset="0"/>
                    <a:cs typeface="Roboto" panose="02000000000000000000" pitchFamily="2" charset="0"/>
                  </a:rPr>
                  <a:t> Equation </a:t>
                </a:r>
                <a:r>
                  <a:rPr lang="it-IT" dirty="0">
                    <a:solidFill>
                      <a:schemeClr val="tx1"/>
                    </a:solidFill>
                    <a:latin typeface="Atkinson Hyperlegible" pitchFamily="2" charset="77"/>
                    <a:ea typeface="Roboto" panose="02000000000000000000" pitchFamily="2" charset="0"/>
                    <a:cs typeface="Roboto" panose="02000000000000000000" pitchFamily="2" charset="0"/>
                  </a:rPr>
                  <a:t>(ARE) per sistemi tempo discreti:</a:t>
                </a:r>
              </a:p>
              <a:p>
                <a:pPr>
                  <a:spcBef>
                    <a:spcPts val="1200"/>
                  </a:spcBef>
                  <a:spcAft>
                    <a:spcPts val="1800"/>
                  </a:spcAft>
                </a:pPr>
                <a14:m>
                  <m:oMathPara xmlns:m="http://schemas.openxmlformats.org/officeDocument/2006/math">
                    <m:oMathParaPr>
                      <m:jc m:val="centerGroup"/>
                    </m:oMathParaPr>
                    <m:oMath xmlns:m="http://schemas.openxmlformats.org/officeDocument/2006/math">
                      <m:r>
                        <a:rPr lang="it-IT" i="1">
                          <a:latin typeface="Cambria Math" panose="02040503050406030204" pitchFamily="18" charset="0"/>
                        </a:rPr>
                        <m:t>𝑃</m:t>
                      </m:r>
                      <m:r>
                        <a:rPr lang="it-IT" i="1">
                          <a:latin typeface="Cambria Math" panose="02040503050406030204" pitchFamily="18" charset="0"/>
                        </a:rPr>
                        <m:t>=</m:t>
                      </m:r>
                      <m:sSup>
                        <m:sSupPr>
                          <m:ctrlPr>
                            <a:rPr lang="it-IT" i="1">
                              <a:latin typeface="Cambria Math" panose="02040503050406030204" pitchFamily="18" charset="0"/>
                            </a:rPr>
                          </m:ctrlPr>
                        </m:sSupPr>
                        <m:e>
                          <m:r>
                            <a:rPr lang="it-IT" i="1">
                              <a:latin typeface="Cambria Math" panose="02040503050406030204" pitchFamily="18" charset="0"/>
                            </a:rPr>
                            <m:t>𝐴</m:t>
                          </m:r>
                        </m:e>
                        <m:sup>
                          <m:r>
                            <a:rPr lang="it-IT" i="1">
                              <a:latin typeface="Cambria Math" panose="02040503050406030204" pitchFamily="18" charset="0"/>
                            </a:rPr>
                            <m:t>𝑇</m:t>
                          </m:r>
                        </m:sup>
                      </m:sSup>
                      <m:r>
                        <a:rPr lang="it-IT" i="1">
                          <a:latin typeface="Cambria Math" panose="02040503050406030204" pitchFamily="18" charset="0"/>
                        </a:rPr>
                        <m:t>𝑃𝐴</m:t>
                      </m:r>
                      <m:r>
                        <a:rPr lang="it-IT" i="1">
                          <a:latin typeface="Cambria Math" panose="02040503050406030204" pitchFamily="18" charset="0"/>
                        </a:rPr>
                        <m:t>−</m:t>
                      </m:r>
                      <m:sSup>
                        <m:sSupPr>
                          <m:ctrlPr>
                            <a:rPr lang="it-IT" i="1">
                              <a:latin typeface="Cambria Math" panose="02040503050406030204" pitchFamily="18" charset="0"/>
                            </a:rPr>
                          </m:ctrlPr>
                        </m:sSupPr>
                        <m:e>
                          <m:r>
                            <a:rPr lang="it-IT" i="1">
                              <a:latin typeface="Cambria Math" panose="02040503050406030204" pitchFamily="18" charset="0"/>
                            </a:rPr>
                            <m:t>𝐴</m:t>
                          </m:r>
                        </m:e>
                        <m:sup>
                          <m:r>
                            <a:rPr lang="it-IT" i="1">
                              <a:latin typeface="Cambria Math" panose="02040503050406030204" pitchFamily="18" charset="0"/>
                            </a:rPr>
                            <m:t>𝑇</m:t>
                          </m:r>
                        </m:sup>
                      </m:sSup>
                      <m:r>
                        <a:rPr lang="it-IT" i="1">
                          <a:latin typeface="Cambria Math" panose="02040503050406030204" pitchFamily="18" charset="0"/>
                        </a:rPr>
                        <m:t>𝑃𝐵</m:t>
                      </m:r>
                      <m:sSup>
                        <m:sSupPr>
                          <m:ctrlPr>
                            <a:rPr lang="it-IT" i="1">
                              <a:latin typeface="Cambria Math" panose="02040503050406030204" pitchFamily="18" charset="0"/>
                            </a:rPr>
                          </m:ctrlPr>
                        </m:sSupPr>
                        <m:e>
                          <m:d>
                            <m:dPr>
                              <m:ctrlPr>
                                <a:rPr lang="it-IT" i="1">
                                  <a:latin typeface="Cambria Math" panose="02040503050406030204" pitchFamily="18" charset="0"/>
                                </a:rPr>
                              </m:ctrlPr>
                            </m:dPr>
                            <m:e>
                              <m:r>
                                <a:rPr lang="it-IT" i="1">
                                  <a:latin typeface="Cambria Math" panose="02040503050406030204" pitchFamily="18" charset="0"/>
                                </a:rPr>
                                <m:t>𝑅</m:t>
                              </m:r>
                              <m:r>
                                <a:rPr lang="it-IT" i="1">
                                  <a:latin typeface="Cambria Math" panose="02040503050406030204" pitchFamily="18" charset="0"/>
                                </a:rPr>
                                <m:t>+</m:t>
                              </m:r>
                              <m:sSup>
                                <m:sSupPr>
                                  <m:ctrlPr>
                                    <a:rPr lang="it-IT" i="1">
                                      <a:latin typeface="Cambria Math" panose="02040503050406030204" pitchFamily="18" charset="0"/>
                                    </a:rPr>
                                  </m:ctrlPr>
                                </m:sSupPr>
                                <m:e>
                                  <m:r>
                                    <a:rPr lang="it-IT" i="1">
                                      <a:latin typeface="Cambria Math" panose="02040503050406030204" pitchFamily="18" charset="0"/>
                                    </a:rPr>
                                    <m:t>𝐵</m:t>
                                  </m:r>
                                </m:e>
                                <m:sup>
                                  <m:r>
                                    <a:rPr lang="it-IT" i="1">
                                      <a:latin typeface="Cambria Math" panose="02040503050406030204" pitchFamily="18" charset="0"/>
                                    </a:rPr>
                                    <m:t>𝑇</m:t>
                                  </m:r>
                                </m:sup>
                              </m:sSup>
                              <m:r>
                                <a:rPr lang="it-IT" i="1">
                                  <a:latin typeface="Cambria Math" panose="02040503050406030204" pitchFamily="18" charset="0"/>
                                </a:rPr>
                                <m:t>𝑃𝐵</m:t>
                              </m:r>
                            </m:e>
                          </m:d>
                        </m:e>
                        <m:sup>
                          <m:r>
                            <a:rPr lang="it-IT" i="1">
                              <a:latin typeface="Cambria Math" panose="02040503050406030204" pitchFamily="18" charset="0"/>
                            </a:rPr>
                            <m:t>−1</m:t>
                          </m:r>
                        </m:sup>
                      </m:sSup>
                      <m:sSup>
                        <m:sSupPr>
                          <m:ctrlPr>
                            <a:rPr lang="it-IT" i="1">
                              <a:latin typeface="Cambria Math" panose="02040503050406030204" pitchFamily="18" charset="0"/>
                            </a:rPr>
                          </m:ctrlPr>
                        </m:sSupPr>
                        <m:e>
                          <m:r>
                            <a:rPr lang="it-IT" i="1">
                              <a:latin typeface="Cambria Math" panose="02040503050406030204" pitchFamily="18" charset="0"/>
                            </a:rPr>
                            <m:t>𝐵</m:t>
                          </m:r>
                        </m:e>
                        <m:sup>
                          <m:r>
                            <a:rPr lang="it-IT" i="1">
                              <a:latin typeface="Cambria Math" panose="02040503050406030204" pitchFamily="18" charset="0"/>
                            </a:rPr>
                            <m:t>𝑇</m:t>
                          </m:r>
                        </m:sup>
                      </m:sSup>
                      <m:r>
                        <a:rPr lang="it-IT" i="1">
                          <a:latin typeface="Cambria Math" panose="02040503050406030204" pitchFamily="18" charset="0"/>
                        </a:rPr>
                        <m:t>𝑃𝐴</m:t>
                      </m:r>
                      <m:r>
                        <a:rPr lang="it-IT" i="1">
                          <a:latin typeface="Cambria Math" panose="02040503050406030204" pitchFamily="18" charset="0"/>
                        </a:rPr>
                        <m:t>+</m:t>
                      </m:r>
                      <m:r>
                        <a:rPr lang="it-IT" i="1">
                          <a:latin typeface="Cambria Math" panose="02040503050406030204" pitchFamily="18" charset="0"/>
                        </a:rPr>
                        <m:t>𝑄</m:t>
                      </m:r>
                    </m:oMath>
                  </m:oMathPara>
                </a14:m>
                <a:endParaRPr lang="it-IT" dirty="0">
                  <a:solidFill>
                    <a:schemeClr val="tx1"/>
                  </a:solidFill>
                  <a:latin typeface="Atkinson Hyperlegible" pitchFamily="2" charset="77"/>
                </a:endParaRPr>
              </a:p>
              <a:p>
                <a:pPr marL="285750" indent="-285750">
                  <a:buClr>
                    <a:schemeClr val="accent6"/>
                  </a:buClr>
                  <a:buFont typeface="Courier New" panose="02070309020205020404" pitchFamily="49" charset="0"/>
                  <a:buChar char="o"/>
                </a:pPr>
                <a:r>
                  <a:rPr lang="it-IT" dirty="0">
                    <a:latin typeface="Atkinson Hyperlegible" pitchFamily="2" charset="77"/>
                    <a:ea typeface="Roboto" panose="02000000000000000000" pitchFamily="2" charset="0"/>
                    <a:cs typeface="Roboto" panose="02000000000000000000" pitchFamily="2" charset="0"/>
                  </a:rPr>
                  <a:t>S</a:t>
                </a:r>
                <a:r>
                  <a:rPr lang="it-IT" dirty="0">
                    <a:solidFill>
                      <a:schemeClr val="tx1"/>
                    </a:solidFill>
                    <a:latin typeface="Atkinson Hyperlegible" pitchFamily="2" charset="77"/>
                    <a:ea typeface="Roboto" panose="02000000000000000000" pitchFamily="2" charset="0"/>
                    <a:cs typeface="Roboto" panose="02000000000000000000" pitchFamily="2" charset="0"/>
                  </a:rPr>
                  <a:t>i ottiene che </a:t>
                </a:r>
                <a14:m>
                  <m:oMath xmlns:m="http://schemas.openxmlformats.org/officeDocument/2006/math">
                    <m:r>
                      <a:rPr lang="it-IT" i="1">
                        <a:latin typeface="Cambria Math" panose="02040503050406030204" pitchFamily="18" charset="0"/>
                      </a:rPr>
                      <m:t>𝐾</m:t>
                    </m:r>
                    <m:r>
                      <a:rPr lang="it-IT" i="1">
                        <a:latin typeface="Cambria Math" panose="02040503050406030204" pitchFamily="18" charset="0"/>
                      </a:rPr>
                      <m:t>=</m:t>
                    </m:r>
                    <m:sSup>
                      <m:sSupPr>
                        <m:ctrlPr>
                          <a:rPr lang="it-IT" i="1">
                            <a:latin typeface="Cambria Math" panose="02040503050406030204" pitchFamily="18" charset="0"/>
                          </a:rPr>
                        </m:ctrlPr>
                      </m:sSupPr>
                      <m:e>
                        <m:d>
                          <m:dPr>
                            <m:ctrlPr>
                              <a:rPr lang="it-IT" i="1">
                                <a:latin typeface="Cambria Math" panose="02040503050406030204" pitchFamily="18" charset="0"/>
                              </a:rPr>
                            </m:ctrlPr>
                          </m:dPr>
                          <m:e>
                            <m:r>
                              <a:rPr lang="it-IT" i="1">
                                <a:latin typeface="Cambria Math" panose="02040503050406030204" pitchFamily="18" charset="0"/>
                              </a:rPr>
                              <m:t>𝑅</m:t>
                            </m:r>
                            <m:r>
                              <a:rPr lang="it-IT" i="1">
                                <a:latin typeface="Cambria Math" panose="02040503050406030204" pitchFamily="18" charset="0"/>
                              </a:rPr>
                              <m:t>+</m:t>
                            </m:r>
                            <m:sSup>
                              <m:sSupPr>
                                <m:ctrlPr>
                                  <a:rPr lang="it-IT" i="1">
                                    <a:latin typeface="Cambria Math" panose="02040503050406030204" pitchFamily="18" charset="0"/>
                                  </a:rPr>
                                </m:ctrlPr>
                              </m:sSupPr>
                              <m:e>
                                <m:r>
                                  <a:rPr lang="it-IT" i="1">
                                    <a:latin typeface="Cambria Math" panose="02040503050406030204" pitchFamily="18" charset="0"/>
                                  </a:rPr>
                                  <m:t>𝐵</m:t>
                                </m:r>
                              </m:e>
                              <m:sup>
                                <m:r>
                                  <a:rPr lang="it-IT" i="1">
                                    <a:latin typeface="Cambria Math" panose="02040503050406030204" pitchFamily="18" charset="0"/>
                                  </a:rPr>
                                  <m:t>𝑇</m:t>
                                </m:r>
                              </m:sup>
                            </m:sSup>
                            <m:r>
                              <a:rPr lang="it-IT" i="1">
                                <a:latin typeface="Cambria Math" panose="02040503050406030204" pitchFamily="18" charset="0"/>
                              </a:rPr>
                              <m:t>𝑃𝐵</m:t>
                            </m:r>
                          </m:e>
                        </m:d>
                      </m:e>
                      <m:sup>
                        <m:r>
                          <a:rPr lang="it-IT" i="1">
                            <a:latin typeface="Cambria Math" panose="02040503050406030204" pitchFamily="18" charset="0"/>
                          </a:rPr>
                          <m:t>−1</m:t>
                        </m:r>
                      </m:sup>
                    </m:sSup>
                    <m:sSup>
                      <m:sSupPr>
                        <m:ctrlPr>
                          <a:rPr lang="it-IT" i="1">
                            <a:latin typeface="Cambria Math" panose="02040503050406030204" pitchFamily="18" charset="0"/>
                          </a:rPr>
                        </m:ctrlPr>
                      </m:sSupPr>
                      <m:e>
                        <m:r>
                          <a:rPr lang="it-IT" i="1">
                            <a:latin typeface="Cambria Math" panose="02040503050406030204" pitchFamily="18" charset="0"/>
                          </a:rPr>
                          <m:t>𝐵</m:t>
                        </m:r>
                      </m:e>
                      <m:sup>
                        <m:r>
                          <a:rPr lang="it-IT" i="1">
                            <a:latin typeface="Cambria Math" panose="02040503050406030204" pitchFamily="18" charset="0"/>
                          </a:rPr>
                          <m:t>𝑇</m:t>
                        </m:r>
                      </m:sup>
                    </m:sSup>
                    <m:r>
                      <a:rPr lang="it-IT" i="1">
                        <a:latin typeface="Cambria Math" panose="02040503050406030204" pitchFamily="18" charset="0"/>
                      </a:rPr>
                      <m:t>𝑃𝐴</m:t>
                    </m:r>
                  </m:oMath>
                </a14:m>
                <a:r>
                  <a:rPr lang="it-IT" dirty="0">
                    <a:solidFill>
                      <a:schemeClr val="tx1"/>
                    </a:solidFill>
                    <a:latin typeface="Atkinson Hyperlegible" pitchFamily="2" charset="77"/>
                    <a:ea typeface="Roboto" panose="02000000000000000000" pitchFamily="2" charset="0"/>
                    <a:cs typeface="Roboto" panose="02000000000000000000" pitchFamily="2" charset="0"/>
                  </a:rPr>
                  <a:t>.</a:t>
                </a:r>
              </a:p>
              <a:p>
                <a:endParaRPr lang="it-IT" dirty="0">
                  <a:solidFill>
                    <a:schemeClr val="bg2">
                      <a:lumMod val="25000"/>
                    </a:schemeClr>
                  </a:solidFill>
                  <a:latin typeface="Atkinson Hyperlegible" pitchFamily="2" charset="77"/>
                  <a:ea typeface="Roboto" panose="02000000000000000000" pitchFamily="2" charset="0"/>
                  <a:cs typeface="Roboto" panose="02000000000000000000" pitchFamily="2" charset="0"/>
                </a:endParaRPr>
              </a:p>
            </p:txBody>
          </p:sp>
        </mc:Choice>
        <mc:Fallback>
          <p:sp>
            <p:nvSpPr>
              <p:cNvPr id="24" name="Rectangle 4">
                <a:extLst>
                  <a:ext uri="{FF2B5EF4-FFF2-40B4-BE49-F238E27FC236}">
                    <a16:creationId xmlns:a16="http://schemas.microsoft.com/office/drawing/2014/main" id="{765EB8C0-DD4E-EEEE-6E9B-C6363875FF80}"/>
                  </a:ext>
                </a:extLst>
              </p:cNvPr>
              <p:cNvSpPr>
                <a:spLocks noRot="1" noChangeAspect="1" noMove="1" noResize="1" noEditPoints="1" noAdjustHandles="1" noChangeArrowheads="1" noChangeShapeType="1" noTextEdit="1"/>
              </p:cNvSpPr>
              <p:nvPr/>
            </p:nvSpPr>
            <p:spPr>
              <a:xfrm>
                <a:off x="695323" y="1586205"/>
                <a:ext cx="11097747" cy="4310347"/>
              </a:xfrm>
              <a:prstGeom prst="rect">
                <a:avLst/>
              </a:prstGeom>
              <a:blipFill>
                <a:blip r:embed="rId3"/>
                <a:stretch>
                  <a:fillRect l="-384" t="-707"/>
                </a:stretch>
              </a:blipFill>
            </p:spPr>
            <p:txBody>
              <a:bodyPr/>
              <a:lstStyle/>
              <a:p>
                <a:r>
                  <a:rPr lang="it-IT">
                    <a:noFill/>
                  </a:rPr>
                  <a:t> </a:t>
                </a:r>
              </a:p>
            </p:txBody>
          </p:sp>
        </mc:Fallback>
      </mc:AlternateContent>
      <p:sp>
        <p:nvSpPr>
          <p:cNvPr id="15" name="Rettangolo 14">
            <a:extLst>
              <a:ext uri="{FF2B5EF4-FFF2-40B4-BE49-F238E27FC236}">
                <a16:creationId xmlns:a16="http://schemas.microsoft.com/office/drawing/2014/main" id="{9E4CA2D8-AEA1-A2FE-875F-19E4CB820208}"/>
              </a:ext>
            </a:extLst>
          </p:cNvPr>
          <p:cNvSpPr/>
          <p:nvPr/>
        </p:nvSpPr>
        <p:spPr>
          <a:xfrm>
            <a:off x="-195210" y="5943602"/>
            <a:ext cx="12387209" cy="977153"/>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16" name="Rettangolo 15">
            <a:extLst>
              <a:ext uri="{FF2B5EF4-FFF2-40B4-BE49-F238E27FC236}">
                <a16:creationId xmlns:a16="http://schemas.microsoft.com/office/drawing/2014/main" id="{80863CAF-93D5-8E1C-6836-3C939F8D5A2A}"/>
              </a:ext>
            </a:extLst>
          </p:cNvPr>
          <p:cNvSpPr/>
          <p:nvPr/>
        </p:nvSpPr>
        <p:spPr>
          <a:xfrm>
            <a:off x="-61301" y="5934488"/>
            <a:ext cx="12305631" cy="54425"/>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pic>
        <p:nvPicPr>
          <p:cNvPr id="10" name="Immagine 9">
            <a:extLst>
              <a:ext uri="{FF2B5EF4-FFF2-40B4-BE49-F238E27FC236}">
                <a16:creationId xmlns:a16="http://schemas.microsoft.com/office/drawing/2014/main" id="{BD7C6D2D-8D00-8220-0EC9-EFD4B42DBC6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426078" y="6133296"/>
            <a:ext cx="2283511" cy="566274"/>
          </a:xfrm>
          <a:prstGeom prst="rect">
            <a:avLst/>
          </a:prstGeom>
        </p:spPr>
      </p:pic>
    </p:spTree>
    <p:extLst>
      <p:ext uri="{BB962C8B-B14F-4D97-AF65-F5344CB8AC3E}">
        <p14:creationId xmlns:p14="http://schemas.microsoft.com/office/powerpoint/2010/main" val="34534786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F26B7-22C0-57DB-A85E-6C5D48BDF3D3}"/>
            </a:ext>
          </a:extLst>
        </p:cNvPr>
        <p:cNvGrpSpPr/>
        <p:nvPr/>
      </p:nvGrpSpPr>
      <p:grpSpPr>
        <a:xfrm>
          <a:off x="0" y="0"/>
          <a:ext cx="0" cy="0"/>
          <a:chOff x="0" y="0"/>
          <a:chExt cx="0" cy="0"/>
        </a:xfrm>
      </p:grpSpPr>
      <p:sp>
        <p:nvSpPr>
          <p:cNvPr id="11" name="Rettangolo 10">
            <a:extLst>
              <a:ext uri="{FF2B5EF4-FFF2-40B4-BE49-F238E27FC236}">
                <a16:creationId xmlns:a16="http://schemas.microsoft.com/office/drawing/2014/main" id="{26516F09-6C89-8642-2356-4C32F98632C8}"/>
              </a:ext>
            </a:extLst>
          </p:cNvPr>
          <p:cNvSpPr/>
          <p:nvPr/>
        </p:nvSpPr>
        <p:spPr>
          <a:xfrm>
            <a:off x="-195210" y="5943602"/>
            <a:ext cx="12387209" cy="977153"/>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15" name="Rectangle 4">
            <a:extLst>
              <a:ext uri="{FF2B5EF4-FFF2-40B4-BE49-F238E27FC236}">
                <a16:creationId xmlns:a16="http://schemas.microsoft.com/office/drawing/2014/main" id="{6B82ADCE-0853-EC6E-C539-89DA9DCC718B}"/>
              </a:ext>
            </a:extLst>
          </p:cNvPr>
          <p:cNvSpPr/>
          <p:nvPr/>
        </p:nvSpPr>
        <p:spPr>
          <a:xfrm>
            <a:off x="695325" y="504708"/>
            <a:ext cx="9746316" cy="769441"/>
          </a:xfrm>
          <a:prstGeom prst="rect">
            <a:avLst/>
          </a:prstGeom>
        </p:spPr>
        <p:txBody>
          <a:bodyPr wrap="square">
            <a:spAutoFit/>
          </a:bodyPr>
          <a:lstStyle/>
          <a:p>
            <a:r>
              <a:rPr lang="it-IT" sz="2200" b="1" noProof="0" dirty="0">
                <a:solidFill>
                  <a:schemeClr val="bg2">
                    <a:lumMod val="25000"/>
                  </a:schemeClr>
                </a:solidFill>
                <a:latin typeface="Atkinson Hyperlegible" pitchFamily="2" charset="77"/>
                <a:ea typeface="Roboto" panose="02000000000000000000" pitchFamily="2" charset="0"/>
                <a:cs typeface="Roboto" panose="02000000000000000000" pitchFamily="2" charset="0"/>
              </a:rPr>
              <a:t>Controllo Ottimo</a:t>
            </a:r>
          </a:p>
          <a:p>
            <a:r>
              <a:rPr lang="it-IT" sz="2200" b="1" dirty="0">
                <a:latin typeface="Atkinson Hyperlegible" pitchFamily="2" charset="77"/>
                <a:ea typeface="Roboto" panose="02000000000000000000" pitchFamily="2" charset="0"/>
                <a:cs typeface="Roboto" panose="02000000000000000000" pitchFamily="2" charset="0"/>
              </a:rPr>
              <a:t>–</a:t>
            </a:r>
            <a:r>
              <a:rPr lang="it-IT" sz="2200" b="1" dirty="0">
                <a:solidFill>
                  <a:schemeClr val="bg2">
                    <a:lumMod val="25000"/>
                  </a:schemeClr>
                </a:solidFill>
                <a:latin typeface="Atkinson Hyperlegible" pitchFamily="2" charset="77"/>
                <a:ea typeface="Roboto" panose="02000000000000000000" pitchFamily="2" charset="0"/>
                <a:cs typeface="Roboto" panose="02000000000000000000" pitchFamily="2" charset="0"/>
              </a:rPr>
              <a:t> </a:t>
            </a:r>
            <a:r>
              <a:rPr lang="it-IT" sz="2200" b="1" noProof="0" dirty="0">
                <a:solidFill>
                  <a:schemeClr val="bg2">
                    <a:lumMod val="25000"/>
                  </a:schemeClr>
                </a:solidFill>
                <a:latin typeface="Atkinson Hyperlegible" pitchFamily="2" charset="77"/>
                <a:ea typeface="Roboto" panose="02000000000000000000" pitchFamily="2" charset="0"/>
                <a:cs typeface="Roboto" panose="02000000000000000000" pitchFamily="2" charset="0"/>
              </a:rPr>
              <a:t>Tracciamento di un Riferimento a </a:t>
            </a:r>
            <a:r>
              <a:rPr lang="it-IT" sz="2200" b="1" noProof="0" dirty="0" err="1">
                <a:solidFill>
                  <a:schemeClr val="bg2">
                    <a:lumMod val="25000"/>
                  </a:schemeClr>
                </a:solidFill>
                <a:latin typeface="Atkinson Hyperlegible" pitchFamily="2" charset="77"/>
                <a:ea typeface="Roboto" panose="02000000000000000000" pitchFamily="2" charset="0"/>
                <a:cs typeface="Roboto" panose="02000000000000000000" pitchFamily="2" charset="0"/>
              </a:rPr>
              <a:t>Gradin</a:t>
            </a:r>
            <a:r>
              <a:rPr lang="it-IT" sz="2200" b="1" dirty="0">
                <a:solidFill>
                  <a:schemeClr val="bg2">
                    <a:lumMod val="25000"/>
                  </a:schemeClr>
                </a:solidFill>
                <a:latin typeface="Atkinson Hyperlegible" pitchFamily="2" charset="77"/>
                <a:ea typeface="Roboto" panose="02000000000000000000" pitchFamily="2" charset="0"/>
                <a:cs typeface="Roboto" panose="02000000000000000000" pitchFamily="2" charset="0"/>
              </a:rPr>
              <a:t>o con </a:t>
            </a:r>
            <a:r>
              <a:rPr lang="it-IT" sz="2200" b="1" i="1" dirty="0" err="1">
                <a:solidFill>
                  <a:schemeClr val="bg2">
                    <a:lumMod val="25000"/>
                  </a:schemeClr>
                </a:solidFill>
                <a:latin typeface="Atkinson Hyperlegible" pitchFamily="2" charset="77"/>
                <a:ea typeface="Roboto" panose="02000000000000000000" pitchFamily="2" charset="0"/>
                <a:cs typeface="Roboto" panose="02000000000000000000" pitchFamily="2" charset="0"/>
              </a:rPr>
              <a:t>Internal</a:t>
            </a:r>
            <a:r>
              <a:rPr lang="it-IT" sz="2200" b="1" i="1" dirty="0">
                <a:solidFill>
                  <a:schemeClr val="bg2">
                    <a:lumMod val="25000"/>
                  </a:schemeClr>
                </a:solidFill>
                <a:latin typeface="Atkinson Hyperlegible" pitchFamily="2" charset="77"/>
                <a:ea typeface="Roboto" panose="02000000000000000000" pitchFamily="2" charset="0"/>
                <a:cs typeface="Roboto" panose="02000000000000000000" pitchFamily="2" charset="0"/>
              </a:rPr>
              <a:t>-Model-Design</a:t>
            </a:r>
            <a:endParaRPr lang="it-IT" sz="2200" b="1" i="1" noProof="0" dirty="0">
              <a:solidFill>
                <a:schemeClr val="bg2">
                  <a:lumMod val="25000"/>
                </a:schemeClr>
              </a:solidFill>
              <a:latin typeface="Atkinson Hyperlegible" pitchFamily="2" charset="77"/>
              <a:ea typeface="Roboto" panose="02000000000000000000" pitchFamily="2" charset="0"/>
              <a:cs typeface="Roboto" panose="02000000000000000000" pitchFamily="2" charset="0"/>
            </a:endParaRPr>
          </a:p>
        </p:txBody>
      </p:sp>
      <p:sp>
        <p:nvSpPr>
          <p:cNvPr id="18" name="Rettangolo 17">
            <a:extLst>
              <a:ext uri="{FF2B5EF4-FFF2-40B4-BE49-F238E27FC236}">
                <a16:creationId xmlns:a16="http://schemas.microsoft.com/office/drawing/2014/main" id="{7F5C295D-8D9A-B584-2418-1C8EC3A272DB}"/>
              </a:ext>
            </a:extLst>
          </p:cNvPr>
          <p:cNvSpPr/>
          <p:nvPr/>
        </p:nvSpPr>
        <p:spPr>
          <a:xfrm>
            <a:off x="-61301" y="5934488"/>
            <a:ext cx="12305631" cy="54425"/>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pic>
        <p:nvPicPr>
          <p:cNvPr id="21" name="Immagine 20">
            <a:extLst>
              <a:ext uri="{FF2B5EF4-FFF2-40B4-BE49-F238E27FC236}">
                <a16:creationId xmlns:a16="http://schemas.microsoft.com/office/drawing/2014/main" id="{8003E325-95FD-0D17-538A-C455A4CC22F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426078" y="6133296"/>
            <a:ext cx="2283511" cy="566274"/>
          </a:xfrm>
          <a:prstGeom prst="rect">
            <a:avLst/>
          </a:prstGeom>
        </p:spPr>
      </p:pic>
      <p:pic>
        <p:nvPicPr>
          <p:cNvPr id="63" name="Elemento grafico 62">
            <a:extLst>
              <a:ext uri="{FF2B5EF4-FFF2-40B4-BE49-F238E27FC236}">
                <a16:creationId xmlns:a16="http://schemas.microsoft.com/office/drawing/2014/main" id="{7A0B2126-5EC6-81A6-7C95-186BA460E9F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38111" y="3133381"/>
            <a:ext cx="8852606" cy="2389514"/>
          </a:xfrm>
          <a:prstGeom prst="rect">
            <a:avLst/>
          </a:prstGeom>
        </p:spPr>
      </p:pic>
      <p:grpSp>
        <p:nvGrpSpPr>
          <p:cNvPr id="66" name="Gruppo 65">
            <a:extLst>
              <a:ext uri="{FF2B5EF4-FFF2-40B4-BE49-F238E27FC236}">
                <a16:creationId xmlns:a16="http://schemas.microsoft.com/office/drawing/2014/main" id="{FA8C05E2-5032-425B-F2DB-9CE9E5F8C0F8}"/>
              </a:ext>
            </a:extLst>
          </p:cNvPr>
          <p:cNvGrpSpPr/>
          <p:nvPr/>
        </p:nvGrpSpPr>
        <p:grpSpPr>
          <a:xfrm>
            <a:off x="823255" y="4510587"/>
            <a:ext cx="2852154" cy="492059"/>
            <a:chOff x="820945" y="4964353"/>
            <a:chExt cx="2852154" cy="492059"/>
          </a:xfrm>
        </p:grpSpPr>
        <p:sp>
          <p:nvSpPr>
            <p:cNvPr id="5" name="TextBox 24">
              <a:extLst>
                <a:ext uri="{FF2B5EF4-FFF2-40B4-BE49-F238E27FC236}">
                  <a16:creationId xmlns:a16="http://schemas.microsoft.com/office/drawing/2014/main" id="{93752048-7743-3AA4-5389-63C6D3AEE015}"/>
                </a:ext>
              </a:extLst>
            </p:cNvPr>
            <p:cNvSpPr txBox="1"/>
            <p:nvPr/>
          </p:nvSpPr>
          <p:spPr>
            <a:xfrm>
              <a:off x="869862" y="4964353"/>
              <a:ext cx="2533974" cy="492058"/>
            </a:xfrm>
            <a:prstGeom prst="rect">
              <a:avLst/>
            </a:prstGeom>
            <a:noFill/>
            <a:effectLst/>
          </p:spPr>
          <p:txBody>
            <a:bodyPr wrap="square" rtlCol="0">
              <a:spAutoFit/>
            </a:bodyPr>
            <a:lstStyle/>
            <a:p>
              <a:pPr>
                <a:lnSpc>
                  <a:spcPts val="1600"/>
                </a:lnSpc>
              </a:pPr>
              <a:r>
                <a:rPr lang="it-IT" sz="1200">
                  <a:solidFill>
                    <a:schemeClr val="bg2">
                      <a:lumMod val="50000"/>
                    </a:schemeClr>
                  </a:solidFill>
                  <a:latin typeface="Atkinson Hyperlegible" pitchFamily="2" charset="77"/>
                  <a:ea typeface="Roboto" panose="02000000000000000000" pitchFamily="2" charset="0"/>
                  <a:cs typeface="Roboto" panose="02000000000000000000" pitchFamily="2" charset="0"/>
                </a:rPr>
                <a:t>Diagramma a blocchi del controllore esteso con integratore.</a:t>
              </a:r>
            </a:p>
          </p:txBody>
        </p:sp>
        <p:sp>
          <p:nvSpPr>
            <p:cNvPr id="6" name="Rettangolo 5">
              <a:extLst>
                <a:ext uri="{FF2B5EF4-FFF2-40B4-BE49-F238E27FC236}">
                  <a16:creationId xmlns:a16="http://schemas.microsoft.com/office/drawing/2014/main" id="{81AFB56B-A01E-42F1-F078-7CACFB061CB1}"/>
                </a:ext>
              </a:extLst>
            </p:cNvPr>
            <p:cNvSpPr/>
            <p:nvPr/>
          </p:nvSpPr>
          <p:spPr>
            <a:xfrm>
              <a:off x="820945" y="4964353"/>
              <a:ext cx="48917" cy="492059"/>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64" name="Triangolo isoscele 63">
              <a:extLst>
                <a:ext uri="{FF2B5EF4-FFF2-40B4-BE49-F238E27FC236}">
                  <a16:creationId xmlns:a16="http://schemas.microsoft.com/office/drawing/2014/main" id="{A74C5C92-64DA-C805-87C7-19BE61275CFB}"/>
                </a:ext>
              </a:extLst>
            </p:cNvPr>
            <p:cNvSpPr/>
            <p:nvPr/>
          </p:nvSpPr>
          <p:spPr>
            <a:xfrm rot="5400000">
              <a:off x="3462378" y="5100209"/>
              <a:ext cx="201096" cy="220347"/>
            </a:xfrm>
            <a:prstGeom prst="triangle">
              <a:avLst/>
            </a:prstGeom>
            <a:solidFill>
              <a:srgbClr val="1F7E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mc:AlternateContent xmlns:mc="http://schemas.openxmlformats.org/markup-compatibility/2006" xmlns:a14="http://schemas.microsoft.com/office/drawing/2010/main">
        <mc:Choice Requires="a14">
          <p:sp>
            <p:nvSpPr>
              <p:cNvPr id="65" name="Rectangle 4">
                <a:extLst>
                  <a:ext uri="{FF2B5EF4-FFF2-40B4-BE49-F238E27FC236}">
                    <a16:creationId xmlns:a16="http://schemas.microsoft.com/office/drawing/2014/main" id="{F0E3FAEC-4D06-4D2A-893F-2518EFBA84E0}"/>
                  </a:ext>
                </a:extLst>
              </p:cNvPr>
              <p:cNvSpPr/>
              <p:nvPr/>
            </p:nvSpPr>
            <p:spPr>
              <a:xfrm>
                <a:off x="695325" y="1701459"/>
                <a:ext cx="11138087" cy="1365438"/>
              </a:xfrm>
              <a:prstGeom prst="rect">
                <a:avLst/>
              </a:prstGeom>
            </p:spPr>
            <p:txBody>
              <a:bodyPr wrap="square" numCol="1">
                <a:spAutoFit/>
              </a:bodyPr>
              <a:lstStyle/>
              <a:p>
                <a:pPr marL="349248" indent="-285750">
                  <a:spcBef>
                    <a:spcPts val="600"/>
                  </a:spcBef>
                  <a:buClr>
                    <a:srgbClr val="1F7E9C"/>
                  </a:buClr>
                  <a:buFont typeface="Wingdings" panose="05000000000000000000" pitchFamily="2" charset="2"/>
                  <a:buChar char="v"/>
                </a:pPr>
                <a:r>
                  <a:rPr lang="it-IT" dirty="0">
                    <a:latin typeface="Atkinson Hyperlegible"/>
                    <a:ea typeface="Open Sans Condensed Light"/>
                    <a:cs typeface="Open Sans Condensed Light"/>
                  </a:rPr>
                  <a:t>Estensione del controllore con capacità di tracciamento di un riferimento a gradino in linea con il principio dell’</a:t>
                </a:r>
                <a:r>
                  <a:rPr lang="it-IT" i="1" dirty="0">
                    <a:latin typeface="Atkinson Hyperlegible"/>
                    <a:ea typeface="Open Sans Condensed Light"/>
                    <a:cs typeface="Open Sans Condensed Light"/>
                  </a:rPr>
                  <a:t>Internal Model Design </a:t>
                </a:r>
                <a:r>
                  <a:rPr lang="it-IT" dirty="0"/>
                  <a:t>(Francis &amp; Wonham, 1976)</a:t>
                </a:r>
                <a:r>
                  <a:rPr lang="it-IT" i="1" dirty="0">
                    <a:latin typeface="Atkinson Hyperlegible"/>
                    <a:ea typeface="Open Sans Condensed Light"/>
                    <a:cs typeface="Open Sans Condensed Light"/>
                  </a:rPr>
                  <a:t>;</a:t>
                </a:r>
                <a:endParaRPr lang="it-IT" dirty="0">
                  <a:latin typeface="Atkinson Hyperlegible"/>
                  <a:ea typeface="Open Sans Condensed Light"/>
                  <a:cs typeface="Open Sans Condensed Light"/>
                </a:endParaRPr>
              </a:p>
              <a:p>
                <a:pPr marL="349248" indent="-285750">
                  <a:spcBef>
                    <a:spcPts val="600"/>
                  </a:spcBef>
                  <a:buClr>
                    <a:srgbClr val="1F7E9C"/>
                  </a:buClr>
                  <a:buFont typeface="Wingdings" panose="05000000000000000000" pitchFamily="2" charset="2"/>
                  <a:buChar char="v"/>
                </a:pPr>
                <a:r>
                  <a:rPr lang="it-IT" dirty="0">
                    <a:latin typeface="Atkinson Hyperlegible"/>
                    <a:ea typeface="Open Sans Condensed Light"/>
                    <a:cs typeface="Open Sans Condensed Light"/>
                  </a:rPr>
                  <a:t>Valutazione dell’efficacia del tracciamento attraverso la funzione di costo </a:t>
                </a:r>
                <a14:m>
                  <m:oMath xmlns:m="http://schemas.openxmlformats.org/officeDocument/2006/math">
                    <m:r>
                      <a:rPr lang="it-IT" i="1" smtClean="0">
                        <a:latin typeface="Cambria Math" panose="02040503050406030204" pitchFamily="18" charset="0"/>
                        <a:ea typeface="Cambria Math" panose="02040503050406030204" pitchFamily="18" charset="0"/>
                      </a:rPr>
                      <m:t>⇒</m:t>
                    </m:r>
                    <m:r>
                      <a:rPr lang="it-IT" i="1">
                        <a:latin typeface="Cambria Math" panose="02040503050406030204" pitchFamily="18" charset="0"/>
                      </a:rPr>
                      <m:t>𝑐𝑜𝑠𝑡</m:t>
                    </m:r>
                    <m:r>
                      <a:rPr lang="it-IT" i="1">
                        <a:latin typeface="Cambria Math" panose="02040503050406030204" pitchFamily="18" charset="0"/>
                      </a:rPr>
                      <m:t>=</m:t>
                    </m:r>
                    <m:nary>
                      <m:naryPr>
                        <m:chr m:val="∑"/>
                        <m:limLoc m:val="undOvr"/>
                        <m:ctrlPr>
                          <a:rPr lang="it-IT" i="1">
                            <a:latin typeface="Cambria Math" panose="02040503050406030204" pitchFamily="18" charset="0"/>
                          </a:rPr>
                        </m:ctrlPr>
                      </m:naryPr>
                      <m:sub>
                        <m:r>
                          <a:rPr lang="it-IT" i="1">
                            <a:latin typeface="Cambria Math" panose="02040503050406030204" pitchFamily="18" charset="0"/>
                          </a:rPr>
                          <m:t>𝑘</m:t>
                        </m:r>
                        <m:r>
                          <a:rPr lang="it-IT" i="1">
                            <a:latin typeface="Cambria Math" panose="02040503050406030204" pitchFamily="18" charset="0"/>
                          </a:rPr>
                          <m:t>=1</m:t>
                        </m:r>
                      </m:sub>
                      <m:sup>
                        <m:r>
                          <a:rPr lang="it-IT" i="1">
                            <a:latin typeface="Cambria Math" panose="02040503050406030204" pitchFamily="18" charset="0"/>
                          </a:rPr>
                          <m:t>𝑁</m:t>
                        </m:r>
                      </m:sup>
                      <m:e>
                        <m:d>
                          <m:dPr>
                            <m:begChr m:val="|"/>
                            <m:endChr m:val="|"/>
                            <m:ctrlPr>
                              <a:rPr lang="it-IT" i="1">
                                <a:latin typeface="Cambria Math" panose="02040503050406030204" pitchFamily="18" charset="0"/>
                              </a:rPr>
                            </m:ctrlPr>
                          </m:dPr>
                          <m:e>
                            <m:r>
                              <a:rPr lang="it-IT" i="1">
                                <a:latin typeface="Cambria Math" panose="02040503050406030204" pitchFamily="18" charset="0"/>
                              </a:rPr>
                              <m:t>𝑥</m:t>
                            </m:r>
                            <m:d>
                              <m:dPr>
                                <m:ctrlPr>
                                  <a:rPr lang="it-IT" i="1">
                                    <a:latin typeface="Cambria Math" panose="02040503050406030204" pitchFamily="18" charset="0"/>
                                  </a:rPr>
                                </m:ctrlPr>
                              </m:dPr>
                              <m:e>
                                <m:r>
                                  <a:rPr lang="it-IT" i="1">
                                    <a:latin typeface="Cambria Math" panose="02040503050406030204" pitchFamily="18" charset="0"/>
                                  </a:rPr>
                                  <m:t>𝑘</m:t>
                                </m:r>
                              </m:e>
                            </m:d>
                            <m:r>
                              <a:rPr lang="it-IT" i="1">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𝑟𝑒𝑓</m:t>
                                </m:r>
                              </m:sub>
                            </m:sSub>
                            <m:r>
                              <a:rPr lang="it-IT" i="1">
                                <a:latin typeface="Cambria Math" panose="02040503050406030204" pitchFamily="18" charset="0"/>
                              </a:rPr>
                              <m:t>(</m:t>
                            </m:r>
                            <m:r>
                              <a:rPr lang="it-IT" i="1">
                                <a:latin typeface="Cambria Math" panose="02040503050406030204" pitchFamily="18" charset="0"/>
                              </a:rPr>
                              <m:t>𝑘</m:t>
                            </m:r>
                            <m:r>
                              <a:rPr lang="it-IT" i="1">
                                <a:latin typeface="Cambria Math" panose="02040503050406030204" pitchFamily="18" charset="0"/>
                              </a:rPr>
                              <m:t>)</m:t>
                            </m:r>
                          </m:e>
                        </m:d>
                      </m:e>
                    </m:nary>
                    <m:r>
                      <a:rPr lang="it-IT" b="0" i="1" smtClean="0">
                        <a:latin typeface="Cambria Math" panose="02040503050406030204" pitchFamily="18" charset="0"/>
                      </a:rPr>
                      <m:t>.</m:t>
                    </m:r>
                  </m:oMath>
                </a14:m>
                <a:endParaRPr lang="it-IT" noProof="0" dirty="0">
                  <a:latin typeface="Atkinson Hyperlegible"/>
                  <a:ea typeface="Open Sans Condensed Light"/>
                  <a:cs typeface="Open Sans Condensed Light"/>
                </a:endParaRPr>
              </a:p>
              <a:p>
                <a:pPr marL="63498">
                  <a:spcBef>
                    <a:spcPts val="600"/>
                  </a:spcBef>
                </a:pPr>
                <a:endParaRPr lang="it-IT" sz="1600" noProof="0" dirty="0">
                  <a:latin typeface="Atkinson Hyperlegible"/>
                </a:endParaRPr>
              </a:p>
            </p:txBody>
          </p:sp>
        </mc:Choice>
        <mc:Fallback xmlns="">
          <p:sp>
            <p:nvSpPr>
              <p:cNvPr id="65" name="Rectangle 4">
                <a:extLst>
                  <a:ext uri="{FF2B5EF4-FFF2-40B4-BE49-F238E27FC236}">
                    <a16:creationId xmlns:a16="http://schemas.microsoft.com/office/drawing/2014/main" id="{F0E3FAEC-4D06-4D2A-893F-2518EFBA84E0}"/>
                  </a:ext>
                </a:extLst>
              </p:cNvPr>
              <p:cNvSpPr>
                <a:spLocks noRot="1" noChangeAspect="1" noMove="1" noResize="1" noEditPoints="1" noAdjustHandles="1" noChangeArrowheads="1" noChangeShapeType="1" noTextEdit="1"/>
              </p:cNvSpPr>
              <p:nvPr/>
            </p:nvSpPr>
            <p:spPr>
              <a:xfrm>
                <a:off x="695325" y="1701459"/>
                <a:ext cx="11138087" cy="1365438"/>
              </a:xfrm>
              <a:prstGeom prst="rect">
                <a:avLst/>
              </a:prstGeom>
              <a:blipFill>
                <a:blip r:embed="rId6"/>
                <a:stretch>
                  <a:fillRect t="-2232" b="-24554"/>
                </a:stretch>
              </a:blipFill>
            </p:spPr>
            <p:txBody>
              <a:bodyPr/>
              <a:lstStyle/>
              <a:p>
                <a:r>
                  <a:rPr lang="it-IT">
                    <a:noFill/>
                  </a:rPr>
                  <a:t> </a:t>
                </a:r>
              </a:p>
            </p:txBody>
          </p:sp>
        </mc:Fallback>
      </mc:AlternateContent>
    </p:spTree>
    <p:extLst>
      <p:ext uri="{BB962C8B-B14F-4D97-AF65-F5344CB8AC3E}">
        <p14:creationId xmlns:p14="http://schemas.microsoft.com/office/powerpoint/2010/main" val="21645676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3AB64-48A2-F112-9877-61126470498D}"/>
            </a:ext>
          </a:extLst>
        </p:cNvPr>
        <p:cNvGrpSpPr/>
        <p:nvPr/>
      </p:nvGrpSpPr>
      <p:grpSpPr>
        <a:xfrm>
          <a:off x="0" y="0"/>
          <a:ext cx="0" cy="0"/>
          <a:chOff x="0" y="0"/>
          <a:chExt cx="0" cy="0"/>
        </a:xfrm>
      </p:grpSpPr>
      <p:sp>
        <p:nvSpPr>
          <p:cNvPr id="58" name="Rettangolo 57">
            <a:extLst>
              <a:ext uri="{FF2B5EF4-FFF2-40B4-BE49-F238E27FC236}">
                <a16:creationId xmlns:a16="http://schemas.microsoft.com/office/drawing/2014/main" id="{E1BF1B6A-28FD-3DB6-48F8-FCC7E1589CD3}"/>
              </a:ext>
            </a:extLst>
          </p:cNvPr>
          <p:cNvSpPr/>
          <p:nvPr/>
        </p:nvSpPr>
        <p:spPr>
          <a:xfrm>
            <a:off x="-294968" y="-32856"/>
            <a:ext cx="12993277" cy="1139411"/>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23" name="Rectangle 4">
            <a:extLst>
              <a:ext uri="{FF2B5EF4-FFF2-40B4-BE49-F238E27FC236}">
                <a16:creationId xmlns:a16="http://schemas.microsoft.com/office/drawing/2014/main" id="{2424BDE7-A78E-24D7-813C-CEFBDAAB963B}"/>
              </a:ext>
            </a:extLst>
          </p:cNvPr>
          <p:cNvSpPr/>
          <p:nvPr/>
        </p:nvSpPr>
        <p:spPr>
          <a:xfrm>
            <a:off x="695324" y="621119"/>
            <a:ext cx="8201026" cy="311111"/>
          </a:xfrm>
          <a:prstGeom prst="rect">
            <a:avLst/>
          </a:prstGeom>
        </p:spPr>
        <p:txBody>
          <a:bodyPr wrap="square">
            <a:spAutoFit/>
          </a:bodyPr>
          <a:lstStyle/>
          <a:p>
            <a:pPr>
              <a:lnSpc>
                <a:spcPts val="1500"/>
              </a:lnSpc>
            </a:pPr>
            <a:r>
              <a:rPr lang="it-IT" sz="2200" b="1" noProof="0">
                <a:solidFill>
                  <a:schemeClr val="bg1"/>
                </a:solidFill>
                <a:latin typeface="Atkinson Hyperlegible" pitchFamily="2" charset="77"/>
                <a:ea typeface="Roboto" panose="02000000000000000000" pitchFamily="2" charset="0"/>
                <a:cs typeface="Roboto" panose="02000000000000000000" pitchFamily="2" charset="0"/>
              </a:rPr>
              <a:t>Perdite di Pacchetti di Attuazione – Risultati Preliminari</a:t>
            </a:r>
          </a:p>
        </p:txBody>
      </p:sp>
      <mc:AlternateContent xmlns:mc="http://schemas.openxmlformats.org/markup-compatibility/2006" xmlns:a14="http://schemas.microsoft.com/office/drawing/2010/main">
        <mc:Choice Requires="a14">
          <p:sp>
            <p:nvSpPr>
              <p:cNvPr id="24" name="Rectangle 4">
                <a:extLst>
                  <a:ext uri="{FF2B5EF4-FFF2-40B4-BE49-F238E27FC236}">
                    <a16:creationId xmlns:a16="http://schemas.microsoft.com/office/drawing/2014/main" id="{FDF05F4B-E3C5-ADBB-F55C-6A4A0894400B}"/>
                  </a:ext>
                </a:extLst>
              </p:cNvPr>
              <p:cNvSpPr/>
              <p:nvPr/>
            </p:nvSpPr>
            <p:spPr>
              <a:xfrm>
                <a:off x="728489" y="1352714"/>
                <a:ext cx="10726050" cy="723275"/>
              </a:xfrm>
              <a:prstGeom prst="rect">
                <a:avLst/>
              </a:prstGeom>
            </p:spPr>
            <p:txBody>
              <a:bodyPr wrap="square">
                <a:spAutoFit/>
              </a:bodyPr>
              <a:lstStyle/>
              <a:p>
                <a:pPr marL="285750" indent="-285750">
                  <a:spcAft>
                    <a:spcPts val="600"/>
                  </a:spcAft>
                  <a:buClr>
                    <a:srgbClr val="1F7E9C"/>
                  </a:buClr>
                  <a:buFont typeface="Wingdings" panose="05000000000000000000" pitchFamily="2" charset="2"/>
                  <a:buChar char="v"/>
                </a:pPr>
                <a:r>
                  <a:rPr lang="it-IT"/>
                  <a:t>L’ingresso di controllo con perdite diventa </a:t>
                </a:r>
                <a14:m>
                  <m:oMath xmlns:m="http://schemas.openxmlformats.org/officeDocument/2006/math">
                    <m:r>
                      <a:rPr lang="it-IT" i="1">
                        <a:latin typeface="Cambria Math" panose="02040503050406030204" pitchFamily="18" charset="0"/>
                      </a:rPr>
                      <m:t>𝑢</m:t>
                    </m:r>
                    <m:d>
                      <m:dPr>
                        <m:ctrlPr>
                          <a:rPr lang="it-IT" i="1">
                            <a:solidFill>
                              <a:srgbClr val="836967"/>
                            </a:solidFill>
                            <a:latin typeface="Cambria Math" panose="02040503050406030204" pitchFamily="18" charset="0"/>
                          </a:rPr>
                        </m:ctrlPr>
                      </m:dPr>
                      <m:e>
                        <m:r>
                          <a:rPr lang="it-IT" i="1">
                            <a:latin typeface="Cambria Math" panose="02040503050406030204" pitchFamily="18" charset="0"/>
                          </a:rPr>
                          <m:t>𝑘</m:t>
                        </m:r>
                      </m:e>
                    </m:d>
                    <m:r>
                      <a:rPr lang="it-IT">
                        <a:latin typeface="Cambria Math" panose="02040503050406030204" pitchFamily="18" charset="0"/>
                      </a:rPr>
                      <m:t>=</m:t>
                    </m:r>
                    <m:sSub>
                      <m:sSubPr>
                        <m:ctrlPr>
                          <a:rPr lang="it-IT" i="1">
                            <a:solidFill>
                              <a:srgbClr val="836967"/>
                            </a:solidFill>
                            <a:latin typeface="Cambria Math" panose="02040503050406030204" pitchFamily="18" charset="0"/>
                          </a:rPr>
                        </m:ctrlPr>
                      </m:sSubPr>
                      <m:e>
                        <m:r>
                          <a:rPr lang="it-IT" i="1">
                            <a:latin typeface="Cambria Math" panose="02040503050406030204" pitchFamily="18" charset="0"/>
                          </a:rPr>
                          <m:t>𝛾</m:t>
                        </m:r>
                      </m:e>
                      <m:sub>
                        <m:r>
                          <a:rPr lang="it-IT" i="1">
                            <a:latin typeface="Cambria Math" panose="02040503050406030204" pitchFamily="18" charset="0"/>
                          </a:rPr>
                          <m:t>𝑘</m:t>
                        </m:r>
                      </m:sub>
                    </m:sSub>
                    <m:r>
                      <a:rPr lang="it-IT">
                        <a:latin typeface="Cambria Math" panose="02040503050406030204" pitchFamily="18" charset="0"/>
                      </a:rPr>
                      <m:t>⋅</m:t>
                    </m:r>
                    <m:sSub>
                      <m:sSubPr>
                        <m:ctrlPr>
                          <a:rPr lang="it-IT" i="1">
                            <a:solidFill>
                              <a:srgbClr val="836967"/>
                            </a:solidFill>
                            <a:latin typeface="Cambria Math" panose="02040503050406030204" pitchFamily="18" charset="0"/>
                          </a:rPr>
                        </m:ctrlPr>
                      </m:sSubPr>
                      <m:e>
                        <m:r>
                          <a:rPr lang="it-IT" i="1">
                            <a:latin typeface="Cambria Math" panose="02040503050406030204" pitchFamily="18" charset="0"/>
                          </a:rPr>
                          <m:t>𝑢</m:t>
                        </m:r>
                      </m:e>
                      <m:sub>
                        <m:r>
                          <a:rPr lang="it-IT" i="1">
                            <a:latin typeface="Cambria Math" panose="02040503050406030204" pitchFamily="18" charset="0"/>
                          </a:rPr>
                          <m:t>𝑐</m:t>
                        </m:r>
                      </m:sub>
                    </m:sSub>
                    <m:d>
                      <m:dPr>
                        <m:ctrlPr>
                          <a:rPr lang="it-IT" i="1">
                            <a:latin typeface="Cambria Math" panose="02040503050406030204" pitchFamily="18" charset="0"/>
                          </a:rPr>
                        </m:ctrlPr>
                      </m:dPr>
                      <m:e>
                        <m:r>
                          <a:rPr lang="it-IT" i="1">
                            <a:latin typeface="Cambria Math" panose="02040503050406030204" pitchFamily="18" charset="0"/>
                          </a:rPr>
                          <m:t>𝑘</m:t>
                        </m:r>
                      </m:e>
                    </m:d>
                    <m:r>
                      <a:rPr lang="it-IT">
                        <a:latin typeface="Cambria Math" panose="02040503050406030204" pitchFamily="18" charset="0"/>
                      </a:rPr>
                      <m:t>, </m:t>
                    </m:r>
                  </m:oMath>
                </a14:m>
                <a:r>
                  <a:rPr lang="it-IT"/>
                  <a:t>con </a:t>
                </a:r>
                <a14:m>
                  <m:oMath xmlns:m="http://schemas.openxmlformats.org/officeDocument/2006/math">
                    <m:sSub>
                      <m:sSubPr>
                        <m:ctrlPr>
                          <a:rPr lang="it-IT" i="1">
                            <a:latin typeface="Cambria Math" panose="02040503050406030204" pitchFamily="18" charset="0"/>
                          </a:rPr>
                        </m:ctrlPr>
                      </m:sSubPr>
                      <m:e>
                        <m:r>
                          <a:rPr lang="it-IT" i="1">
                            <a:latin typeface="Cambria Math" panose="02040503050406030204" pitchFamily="18" charset="0"/>
                          </a:rPr>
                          <m:t>𝛾</m:t>
                        </m:r>
                      </m:e>
                      <m:sub>
                        <m:r>
                          <a:rPr lang="it-IT" i="1">
                            <a:latin typeface="Cambria Math" panose="02040503050406030204" pitchFamily="18" charset="0"/>
                          </a:rPr>
                          <m:t>𝑘</m:t>
                        </m:r>
                      </m:sub>
                    </m:sSub>
                    <m:r>
                      <a:rPr lang="it-IT" i="1">
                        <a:latin typeface="Cambria Math" panose="02040503050406030204" pitchFamily="18" charset="0"/>
                        <a:ea typeface="Cambria Math" panose="02040503050406030204" pitchFamily="18" charset="0"/>
                      </a:rPr>
                      <m:t>~</m:t>
                    </m:r>
                    <m:r>
                      <m:rPr>
                        <m:sty m:val="p"/>
                      </m:rPr>
                      <a:rPr lang="it-IT">
                        <a:latin typeface="Cambria Math" panose="02040503050406030204" pitchFamily="18" charset="0"/>
                        <a:ea typeface="Cambria Math" panose="02040503050406030204" pitchFamily="18" charset="0"/>
                      </a:rPr>
                      <m:t>Bern</m:t>
                    </m:r>
                    <m:r>
                      <a:rPr lang="it-IT">
                        <a:latin typeface="Cambria Math" panose="02040503050406030204" pitchFamily="18" charset="0"/>
                        <a:ea typeface="Cambria Math" panose="02040503050406030204" pitchFamily="18" charset="0"/>
                      </a:rPr>
                      <m:t>(</m:t>
                    </m:r>
                    <m:r>
                      <a:rPr lang="it-IT" i="1">
                        <a:latin typeface="Cambria Math" panose="02040503050406030204" pitchFamily="18" charset="0"/>
                        <a:ea typeface="Cambria Math" panose="02040503050406030204" pitchFamily="18" charset="0"/>
                      </a:rPr>
                      <m:t>1−</m:t>
                    </m:r>
                    <m:sSub>
                      <m:sSubPr>
                        <m:ctrlPr>
                          <a:rPr lang="it-IT" i="1">
                            <a:latin typeface="Cambria Math" panose="02040503050406030204" pitchFamily="18" charset="0"/>
                            <a:ea typeface="Cambria Math" panose="02040503050406030204" pitchFamily="18" charset="0"/>
                          </a:rPr>
                        </m:ctrlPr>
                      </m:sSubPr>
                      <m:e>
                        <m:r>
                          <a:rPr lang="it-IT" i="1">
                            <a:latin typeface="Cambria Math" panose="02040503050406030204" pitchFamily="18" charset="0"/>
                            <a:ea typeface="Cambria Math" panose="02040503050406030204" pitchFamily="18" charset="0"/>
                          </a:rPr>
                          <m:t>𝑝</m:t>
                        </m:r>
                      </m:e>
                      <m:sub>
                        <m:r>
                          <a:rPr lang="it-IT" i="1">
                            <a:latin typeface="Cambria Math" panose="02040503050406030204" pitchFamily="18" charset="0"/>
                            <a:ea typeface="Cambria Math" panose="02040503050406030204" pitchFamily="18" charset="0"/>
                          </a:rPr>
                          <m:t>𝑙𝑜𝑠𝑠</m:t>
                        </m:r>
                      </m:sub>
                    </m:sSub>
                    <m:r>
                      <a:rPr lang="it-IT">
                        <a:latin typeface="Cambria Math" panose="02040503050406030204" pitchFamily="18" charset="0"/>
                        <a:ea typeface="Cambria Math" panose="02040503050406030204" pitchFamily="18" charset="0"/>
                      </a:rPr>
                      <m:t>)</m:t>
                    </m:r>
                  </m:oMath>
                </a14:m>
                <a:endParaRPr lang="it-IT"/>
              </a:p>
              <a:p>
                <a:endParaRPr lang="it-IT">
                  <a:solidFill>
                    <a:schemeClr val="bg2">
                      <a:lumMod val="25000"/>
                    </a:schemeClr>
                  </a:solidFill>
                  <a:latin typeface="Atkinson Hyperlegible" pitchFamily="2" charset="77"/>
                  <a:ea typeface="Roboto" panose="02000000000000000000" pitchFamily="2" charset="0"/>
                  <a:cs typeface="Roboto" panose="02000000000000000000" pitchFamily="2" charset="0"/>
                </a:endParaRPr>
              </a:p>
            </p:txBody>
          </p:sp>
        </mc:Choice>
        <mc:Fallback xmlns="">
          <p:sp>
            <p:nvSpPr>
              <p:cNvPr id="24" name="Rectangle 4">
                <a:extLst>
                  <a:ext uri="{FF2B5EF4-FFF2-40B4-BE49-F238E27FC236}">
                    <a16:creationId xmlns:a16="http://schemas.microsoft.com/office/drawing/2014/main" id="{FDF05F4B-E3C5-ADBB-F55C-6A4A0894400B}"/>
                  </a:ext>
                </a:extLst>
              </p:cNvPr>
              <p:cNvSpPr>
                <a:spLocks noRot="1" noChangeAspect="1" noMove="1" noResize="1" noEditPoints="1" noAdjustHandles="1" noChangeArrowheads="1" noChangeShapeType="1" noTextEdit="1"/>
              </p:cNvSpPr>
              <p:nvPr/>
            </p:nvSpPr>
            <p:spPr>
              <a:xfrm>
                <a:off x="728489" y="1352714"/>
                <a:ext cx="10726050" cy="723275"/>
              </a:xfrm>
              <a:prstGeom prst="rect">
                <a:avLst/>
              </a:prstGeom>
              <a:blipFill>
                <a:blip r:embed="rId3"/>
                <a:stretch>
                  <a:fillRect l="-398" t="-5042"/>
                </a:stretch>
              </a:blipFill>
            </p:spPr>
            <p:txBody>
              <a:bodyPr/>
              <a:lstStyle/>
              <a:p>
                <a:r>
                  <a:rPr lang="en-US">
                    <a:noFill/>
                  </a:rPr>
                  <a:t> </a:t>
                </a:r>
              </a:p>
            </p:txBody>
          </p:sp>
        </mc:Fallback>
      </mc:AlternateContent>
      <p:sp>
        <p:nvSpPr>
          <p:cNvPr id="15" name="Rettangolo 14">
            <a:extLst>
              <a:ext uri="{FF2B5EF4-FFF2-40B4-BE49-F238E27FC236}">
                <a16:creationId xmlns:a16="http://schemas.microsoft.com/office/drawing/2014/main" id="{E04FC465-CA57-C8CB-F634-D8AD9E1BF397}"/>
              </a:ext>
            </a:extLst>
          </p:cNvPr>
          <p:cNvSpPr/>
          <p:nvPr/>
        </p:nvSpPr>
        <p:spPr>
          <a:xfrm>
            <a:off x="-195210" y="5943602"/>
            <a:ext cx="12387209" cy="977153"/>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16" name="Rettangolo 15">
            <a:extLst>
              <a:ext uri="{FF2B5EF4-FFF2-40B4-BE49-F238E27FC236}">
                <a16:creationId xmlns:a16="http://schemas.microsoft.com/office/drawing/2014/main" id="{D84EEC46-B10C-A9E6-6818-2806BA8235B0}"/>
              </a:ext>
            </a:extLst>
          </p:cNvPr>
          <p:cNvSpPr/>
          <p:nvPr/>
        </p:nvSpPr>
        <p:spPr>
          <a:xfrm>
            <a:off x="-61301" y="5934488"/>
            <a:ext cx="12305631" cy="54425"/>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pic>
        <p:nvPicPr>
          <p:cNvPr id="10" name="Immagine 9">
            <a:extLst>
              <a:ext uri="{FF2B5EF4-FFF2-40B4-BE49-F238E27FC236}">
                <a16:creationId xmlns:a16="http://schemas.microsoft.com/office/drawing/2014/main" id="{3B738FF6-6402-278E-B9EC-83939C17956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426078" y="6133296"/>
            <a:ext cx="2283511" cy="566274"/>
          </a:xfrm>
          <a:prstGeom prst="rect">
            <a:avLst/>
          </a:prstGeom>
        </p:spPr>
      </p:pic>
      <p:pic>
        <p:nvPicPr>
          <p:cNvPr id="4" name="Immagine 3" descr="Immagine che contiene testo, Diagramma, diagramma, linea&#10;&#10;Il contenuto generato dall'IA potrebbe non essere corretto.">
            <a:extLst>
              <a:ext uri="{FF2B5EF4-FFF2-40B4-BE49-F238E27FC236}">
                <a16:creationId xmlns:a16="http://schemas.microsoft.com/office/drawing/2014/main" id="{6F01F5D8-21B0-9F3F-F067-1450C4DEA3EE}"/>
              </a:ext>
            </a:extLst>
          </p:cNvPr>
          <p:cNvPicPr>
            <a:picLocks noChangeAspect="1"/>
          </p:cNvPicPr>
          <p:nvPr/>
        </p:nvPicPr>
        <p:blipFill>
          <a:blip r:embed="rId5"/>
          <a:stretch>
            <a:fillRect/>
          </a:stretch>
        </p:blipFill>
        <p:spPr>
          <a:xfrm>
            <a:off x="5313102" y="1920910"/>
            <a:ext cx="6577776" cy="3436109"/>
          </a:xfrm>
          <a:prstGeom prst="rect">
            <a:avLst/>
          </a:prstGeom>
        </p:spPr>
      </p:pic>
      <p:pic>
        <p:nvPicPr>
          <p:cNvPr id="5" name="Immagine 4">
            <a:extLst>
              <a:ext uri="{FF2B5EF4-FFF2-40B4-BE49-F238E27FC236}">
                <a16:creationId xmlns:a16="http://schemas.microsoft.com/office/drawing/2014/main" id="{8F8ED8C7-8D4C-7C6D-D0ED-EAC17F1ABAE0}"/>
              </a:ext>
            </a:extLst>
          </p:cNvPr>
          <p:cNvPicPr>
            <a:picLocks noChangeAspect="1"/>
          </p:cNvPicPr>
          <p:nvPr/>
        </p:nvPicPr>
        <p:blipFill>
          <a:blip r:embed="rId6"/>
          <a:stretch>
            <a:fillRect/>
          </a:stretch>
        </p:blipFill>
        <p:spPr>
          <a:xfrm>
            <a:off x="636391" y="1858735"/>
            <a:ext cx="4049872" cy="3454050"/>
          </a:xfrm>
          <a:prstGeom prst="rect">
            <a:avLst/>
          </a:prstGeom>
        </p:spPr>
      </p:pic>
      <p:sp>
        <p:nvSpPr>
          <p:cNvPr id="6" name="TextBox 24">
            <a:extLst>
              <a:ext uri="{FF2B5EF4-FFF2-40B4-BE49-F238E27FC236}">
                <a16:creationId xmlns:a16="http://schemas.microsoft.com/office/drawing/2014/main" id="{BCCB5F8A-8263-D559-8321-CDF27AABE939}"/>
              </a:ext>
            </a:extLst>
          </p:cNvPr>
          <p:cNvSpPr txBox="1"/>
          <p:nvPr/>
        </p:nvSpPr>
        <p:spPr>
          <a:xfrm>
            <a:off x="5601706" y="5390770"/>
            <a:ext cx="5404712" cy="297517"/>
          </a:xfrm>
          <a:prstGeom prst="rect">
            <a:avLst/>
          </a:prstGeom>
          <a:noFill/>
          <a:effectLst/>
        </p:spPr>
        <p:txBody>
          <a:bodyPr wrap="square" rtlCol="0">
            <a:spAutoFit/>
          </a:bodyPr>
          <a:lstStyle/>
          <a:p>
            <a:pPr>
              <a:lnSpc>
                <a:spcPts val="1600"/>
              </a:lnSpc>
            </a:pPr>
            <a:r>
              <a:rPr lang="it-IT" sz="1200" i="1" dirty="0" err="1">
                <a:solidFill>
                  <a:schemeClr val="bg2">
                    <a:lumMod val="50000"/>
                  </a:schemeClr>
                </a:solidFill>
                <a:latin typeface="Atkinson Hyperlegible" pitchFamily="2" charset="77"/>
                <a:ea typeface="Roboto" panose="02000000000000000000" pitchFamily="2" charset="0"/>
                <a:cs typeface="Roboto" panose="02000000000000000000" pitchFamily="2" charset="0"/>
              </a:rPr>
              <a:t>Boxplot</a:t>
            </a:r>
            <a:r>
              <a:rPr lang="it-IT" sz="1200" dirty="0">
                <a:solidFill>
                  <a:schemeClr val="bg2">
                    <a:lumMod val="50000"/>
                  </a:schemeClr>
                </a:solidFill>
                <a:latin typeface="Atkinson Hyperlegible" pitchFamily="2" charset="77"/>
                <a:ea typeface="Roboto" panose="02000000000000000000" pitchFamily="2" charset="0"/>
                <a:cs typeface="Roboto" panose="02000000000000000000" pitchFamily="2" charset="0"/>
              </a:rPr>
              <a:t> del costo di tracking </a:t>
            </a:r>
            <a:r>
              <a:rPr lang="it-IT" sz="1200" i="1" dirty="0">
                <a:solidFill>
                  <a:schemeClr val="bg2">
                    <a:lumMod val="50000"/>
                  </a:schemeClr>
                </a:solidFill>
                <a:latin typeface="Atkinson Hyperlegible" pitchFamily="2" charset="77"/>
                <a:ea typeface="Roboto" panose="02000000000000000000" pitchFamily="2" charset="0"/>
                <a:cs typeface="Roboto" panose="02000000000000000000" pitchFamily="2" charset="0"/>
              </a:rPr>
              <a:t>vs</a:t>
            </a:r>
            <a:r>
              <a:rPr lang="it-IT" sz="1200" dirty="0">
                <a:solidFill>
                  <a:schemeClr val="bg2">
                    <a:lumMod val="50000"/>
                  </a:schemeClr>
                </a:solidFill>
                <a:latin typeface="Atkinson Hyperlegible" pitchFamily="2" charset="77"/>
                <a:ea typeface="Roboto" panose="02000000000000000000" pitchFamily="2" charset="0"/>
                <a:cs typeface="Roboto" panose="02000000000000000000" pitchFamily="2" charset="0"/>
              </a:rPr>
              <a:t> probabilità di perdita del pacchetto (%).</a:t>
            </a:r>
          </a:p>
        </p:txBody>
      </p:sp>
      <p:sp>
        <p:nvSpPr>
          <p:cNvPr id="9" name="TextBox 24">
            <a:extLst>
              <a:ext uri="{FF2B5EF4-FFF2-40B4-BE49-F238E27FC236}">
                <a16:creationId xmlns:a16="http://schemas.microsoft.com/office/drawing/2014/main" id="{27E73D92-CE52-7C7E-17BB-5BEA2A0DDEC6}"/>
              </a:ext>
            </a:extLst>
          </p:cNvPr>
          <p:cNvSpPr txBox="1"/>
          <p:nvPr/>
        </p:nvSpPr>
        <p:spPr>
          <a:xfrm>
            <a:off x="741044" y="5373209"/>
            <a:ext cx="4532742" cy="502702"/>
          </a:xfrm>
          <a:prstGeom prst="rect">
            <a:avLst/>
          </a:prstGeom>
          <a:noFill/>
          <a:effectLst/>
        </p:spPr>
        <p:txBody>
          <a:bodyPr wrap="square" rtlCol="0">
            <a:spAutoFit/>
          </a:bodyPr>
          <a:lstStyle/>
          <a:p>
            <a:pPr>
              <a:lnSpc>
                <a:spcPts val="1600"/>
              </a:lnSpc>
            </a:pPr>
            <a:r>
              <a:rPr lang="it-IT" sz="1200" dirty="0">
                <a:solidFill>
                  <a:schemeClr val="bg2">
                    <a:lumMod val="50000"/>
                  </a:schemeClr>
                </a:solidFill>
                <a:latin typeface="Atkinson Hyperlegible" pitchFamily="2" charset="77"/>
                <a:ea typeface="Roboto" panose="02000000000000000000" pitchFamily="2" charset="0"/>
                <a:cs typeface="Roboto" panose="02000000000000000000" pitchFamily="2" charset="0"/>
              </a:rPr>
              <a:t>Tasso di successo medio nella stabilizzazione </a:t>
            </a:r>
            <a:r>
              <a:rPr lang="it-IT" sz="1200" i="1" dirty="0">
                <a:solidFill>
                  <a:schemeClr val="bg2">
                    <a:lumMod val="50000"/>
                  </a:schemeClr>
                </a:solidFill>
                <a:latin typeface="Atkinson Hyperlegible" pitchFamily="2" charset="77"/>
                <a:ea typeface="Roboto" panose="02000000000000000000" pitchFamily="2" charset="0"/>
                <a:cs typeface="Roboto" panose="02000000000000000000" pitchFamily="2" charset="0"/>
              </a:rPr>
              <a:t>vs </a:t>
            </a:r>
            <a:r>
              <a:rPr lang="it-IT" sz="1200" dirty="0">
                <a:solidFill>
                  <a:schemeClr val="bg2">
                    <a:lumMod val="50000"/>
                  </a:schemeClr>
                </a:solidFill>
                <a:latin typeface="Atkinson Hyperlegible" pitchFamily="2" charset="77"/>
                <a:ea typeface="Roboto" panose="02000000000000000000" pitchFamily="2" charset="0"/>
                <a:cs typeface="Roboto" panose="02000000000000000000" pitchFamily="2" charset="0"/>
              </a:rPr>
              <a:t>probabilità di perdita del pacchetto (%).</a:t>
            </a:r>
          </a:p>
        </p:txBody>
      </p:sp>
      <p:sp>
        <p:nvSpPr>
          <p:cNvPr id="12" name="Rettangolo 11">
            <a:extLst>
              <a:ext uri="{FF2B5EF4-FFF2-40B4-BE49-F238E27FC236}">
                <a16:creationId xmlns:a16="http://schemas.microsoft.com/office/drawing/2014/main" id="{DFAD8CEE-5C35-5CFD-1FDD-421FCCBD791D}"/>
              </a:ext>
            </a:extLst>
          </p:cNvPr>
          <p:cNvSpPr/>
          <p:nvPr/>
        </p:nvSpPr>
        <p:spPr>
          <a:xfrm>
            <a:off x="695324" y="5373209"/>
            <a:ext cx="45719" cy="286872"/>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13" name="Rettangolo 12">
            <a:extLst>
              <a:ext uri="{FF2B5EF4-FFF2-40B4-BE49-F238E27FC236}">
                <a16:creationId xmlns:a16="http://schemas.microsoft.com/office/drawing/2014/main" id="{36FCBC8D-B7FA-1C95-087A-394B6E10FDDA}"/>
              </a:ext>
            </a:extLst>
          </p:cNvPr>
          <p:cNvSpPr/>
          <p:nvPr/>
        </p:nvSpPr>
        <p:spPr>
          <a:xfrm>
            <a:off x="5555987" y="5373209"/>
            <a:ext cx="45719" cy="298908"/>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Tree>
    <p:extLst>
      <p:ext uri="{BB962C8B-B14F-4D97-AF65-F5344CB8AC3E}">
        <p14:creationId xmlns:p14="http://schemas.microsoft.com/office/powerpoint/2010/main" val="3806949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4A592-9470-DB4C-601D-C21171045434}"/>
            </a:ext>
          </a:extLst>
        </p:cNvPr>
        <p:cNvGrpSpPr/>
        <p:nvPr/>
      </p:nvGrpSpPr>
      <p:grpSpPr>
        <a:xfrm>
          <a:off x="0" y="0"/>
          <a:ext cx="0" cy="0"/>
          <a:chOff x="0" y="0"/>
          <a:chExt cx="0" cy="0"/>
        </a:xfrm>
      </p:grpSpPr>
      <p:sp>
        <p:nvSpPr>
          <p:cNvPr id="11" name="Rettangolo 10">
            <a:extLst>
              <a:ext uri="{FF2B5EF4-FFF2-40B4-BE49-F238E27FC236}">
                <a16:creationId xmlns:a16="http://schemas.microsoft.com/office/drawing/2014/main" id="{F4CDF220-1BF7-D847-39F6-D5E5C33A8621}"/>
              </a:ext>
            </a:extLst>
          </p:cNvPr>
          <p:cNvSpPr/>
          <p:nvPr/>
        </p:nvSpPr>
        <p:spPr>
          <a:xfrm>
            <a:off x="-195210" y="5943602"/>
            <a:ext cx="12387209" cy="977153"/>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15" name="Rectangle 4">
            <a:extLst>
              <a:ext uri="{FF2B5EF4-FFF2-40B4-BE49-F238E27FC236}">
                <a16:creationId xmlns:a16="http://schemas.microsoft.com/office/drawing/2014/main" id="{FE5295CA-425D-3134-0E55-C3F63265D566}"/>
              </a:ext>
            </a:extLst>
          </p:cNvPr>
          <p:cNvSpPr/>
          <p:nvPr/>
        </p:nvSpPr>
        <p:spPr>
          <a:xfrm>
            <a:off x="695324" y="621119"/>
            <a:ext cx="10199837" cy="430887"/>
          </a:xfrm>
          <a:prstGeom prst="rect">
            <a:avLst/>
          </a:prstGeom>
        </p:spPr>
        <p:txBody>
          <a:bodyPr wrap="square">
            <a:spAutoFit/>
          </a:bodyPr>
          <a:lstStyle/>
          <a:p>
            <a:pPr>
              <a:spcAft>
                <a:spcPts val="600"/>
              </a:spcAft>
            </a:pPr>
            <a:r>
              <a:rPr lang="it-IT" sz="2200" b="1" noProof="0" dirty="0">
                <a:solidFill>
                  <a:srgbClr val="424242"/>
                </a:solidFill>
                <a:latin typeface="Atkinson Hyperlegible" pitchFamily="2" charset="77"/>
                <a:ea typeface="Roboto" panose="02000000000000000000" pitchFamily="2" charset="0"/>
                <a:cs typeface="Roboto" panose="02000000000000000000" pitchFamily="2" charset="0"/>
              </a:rPr>
              <a:t>Policy di Compensazione Temporale – </a:t>
            </a:r>
            <a:r>
              <a:rPr lang="it-IT" sz="2200" b="1" i="1" noProof="0" dirty="0" err="1">
                <a:solidFill>
                  <a:srgbClr val="424242"/>
                </a:solidFill>
                <a:latin typeface="Atkinson Hyperlegible" pitchFamily="2" charset="77"/>
                <a:ea typeface="Roboto" panose="02000000000000000000" pitchFamily="2" charset="0"/>
                <a:cs typeface="Roboto" panose="02000000000000000000" pitchFamily="2" charset="0"/>
              </a:rPr>
              <a:t>Hold</a:t>
            </a:r>
            <a:r>
              <a:rPr lang="it-IT" sz="2200" b="1" noProof="0" dirty="0">
                <a:solidFill>
                  <a:srgbClr val="424242"/>
                </a:solidFill>
                <a:latin typeface="Atkinson Hyperlegible" pitchFamily="2" charset="77"/>
                <a:ea typeface="Roboto" panose="02000000000000000000" pitchFamily="2" charset="0"/>
                <a:cs typeface="Roboto" panose="02000000000000000000" pitchFamily="2" charset="0"/>
              </a:rPr>
              <a:t> con Decadimento</a:t>
            </a:r>
          </a:p>
        </p:txBody>
      </p:sp>
      <p:sp>
        <p:nvSpPr>
          <p:cNvPr id="18" name="Rettangolo 17">
            <a:extLst>
              <a:ext uri="{FF2B5EF4-FFF2-40B4-BE49-F238E27FC236}">
                <a16:creationId xmlns:a16="http://schemas.microsoft.com/office/drawing/2014/main" id="{B239C9DE-13E2-5AB3-E2BF-D66264BBBAAE}"/>
              </a:ext>
            </a:extLst>
          </p:cNvPr>
          <p:cNvSpPr/>
          <p:nvPr/>
        </p:nvSpPr>
        <p:spPr>
          <a:xfrm>
            <a:off x="-61301" y="5934488"/>
            <a:ext cx="12305631" cy="54425"/>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pic>
        <p:nvPicPr>
          <p:cNvPr id="21" name="Immagine 20">
            <a:extLst>
              <a:ext uri="{FF2B5EF4-FFF2-40B4-BE49-F238E27FC236}">
                <a16:creationId xmlns:a16="http://schemas.microsoft.com/office/drawing/2014/main" id="{05CE19C0-A128-FED2-B2E0-DA334F6FE3E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426078" y="6133296"/>
            <a:ext cx="2283511" cy="566274"/>
          </a:xfrm>
          <a:prstGeom prst="rect">
            <a:avLst/>
          </a:prstGeom>
        </p:spPr>
      </p:pic>
      <p:pic>
        <p:nvPicPr>
          <p:cNvPr id="3" name="Immagine 2">
            <a:extLst>
              <a:ext uri="{FF2B5EF4-FFF2-40B4-BE49-F238E27FC236}">
                <a16:creationId xmlns:a16="http://schemas.microsoft.com/office/drawing/2014/main" id="{832D639B-38D6-32D8-8EEF-18FDE6615FEF}"/>
              </a:ext>
            </a:extLst>
          </p:cNvPr>
          <p:cNvPicPr>
            <a:picLocks noChangeAspect="1"/>
          </p:cNvPicPr>
          <p:nvPr/>
        </p:nvPicPr>
        <p:blipFill>
          <a:blip r:embed="rId4"/>
          <a:stretch>
            <a:fillRect/>
          </a:stretch>
        </p:blipFill>
        <p:spPr>
          <a:xfrm>
            <a:off x="464557" y="1747849"/>
            <a:ext cx="4514144" cy="3874801"/>
          </a:xfrm>
          <a:prstGeom prst="rect">
            <a:avLst/>
          </a:prstGeom>
        </p:spPr>
      </p:pic>
      <p:pic>
        <p:nvPicPr>
          <p:cNvPr id="4" name="Immagine 3">
            <a:extLst>
              <a:ext uri="{FF2B5EF4-FFF2-40B4-BE49-F238E27FC236}">
                <a16:creationId xmlns:a16="http://schemas.microsoft.com/office/drawing/2014/main" id="{293018A3-DBE2-0A3F-6542-E54CBF6CA599}"/>
              </a:ext>
            </a:extLst>
          </p:cNvPr>
          <p:cNvPicPr>
            <a:picLocks noChangeAspect="1"/>
          </p:cNvPicPr>
          <p:nvPr/>
        </p:nvPicPr>
        <p:blipFill>
          <a:blip r:embed="rId5"/>
          <a:stretch>
            <a:fillRect/>
          </a:stretch>
        </p:blipFill>
        <p:spPr>
          <a:xfrm>
            <a:off x="6829419" y="1713736"/>
            <a:ext cx="4901484" cy="3999567"/>
          </a:xfrm>
          <a:prstGeom prst="rect">
            <a:avLst/>
          </a:prstGeom>
        </p:spPr>
      </p:pic>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35FE629-4D5D-C0A1-881B-8804D88234BA}"/>
                  </a:ext>
                </a:extLst>
              </p:cNvPr>
              <p:cNvSpPr/>
              <p:nvPr/>
            </p:nvSpPr>
            <p:spPr>
              <a:xfrm>
                <a:off x="728489" y="1226413"/>
                <a:ext cx="10726050" cy="1077218"/>
              </a:xfrm>
              <a:prstGeom prst="rect">
                <a:avLst/>
              </a:prstGeom>
            </p:spPr>
            <p:txBody>
              <a:bodyPr wrap="square">
                <a:spAutoFit/>
              </a:bodyPr>
              <a:lstStyle/>
              <a:p>
                <a:pPr marL="285750" indent="-285750">
                  <a:spcAft>
                    <a:spcPts val="600"/>
                  </a:spcAft>
                  <a:buClr>
                    <a:srgbClr val="1F7E9C"/>
                  </a:buClr>
                  <a:buFont typeface="Wingdings" panose="05000000000000000000" pitchFamily="2" charset="2"/>
                  <a:buChar char="v"/>
                </a:pPr>
                <a:r>
                  <a:rPr lang="it-IT" dirty="0"/>
                  <a:t>Nuova </a:t>
                </a:r>
                <a:r>
                  <a:rPr lang="it-IT" i="1" dirty="0"/>
                  <a:t>policy </a:t>
                </a:r>
                <a:r>
                  <a:rPr lang="it-IT" dirty="0"/>
                  <a:t>di controllo </a:t>
                </a:r>
                <a14:m>
                  <m:oMath xmlns:m="http://schemas.openxmlformats.org/officeDocument/2006/math">
                    <m:r>
                      <a:rPr lang="it-IT" i="1">
                        <a:latin typeface="Cambria Math" panose="02040503050406030204" pitchFamily="18" charset="0"/>
                      </a:rPr>
                      <m:t>𝑢</m:t>
                    </m:r>
                    <m:d>
                      <m:dPr>
                        <m:ctrlPr>
                          <a:rPr lang="it-IT" i="1">
                            <a:solidFill>
                              <a:srgbClr val="836967"/>
                            </a:solidFill>
                            <a:latin typeface="Cambria Math" panose="02040503050406030204" pitchFamily="18" charset="0"/>
                          </a:rPr>
                        </m:ctrlPr>
                      </m:dPr>
                      <m:e>
                        <m:r>
                          <a:rPr lang="it-IT" i="1">
                            <a:latin typeface="Cambria Math" panose="02040503050406030204" pitchFamily="18" charset="0"/>
                          </a:rPr>
                          <m:t>𝑘</m:t>
                        </m:r>
                      </m:e>
                    </m:d>
                    <m:r>
                      <a:rPr lang="it-IT">
                        <a:latin typeface="Cambria Math" panose="02040503050406030204" pitchFamily="18" charset="0"/>
                      </a:rPr>
                      <m:t>=</m:t>
                    </m:r>
                    <m:sSub>
                      <m:sSubPr>
                        <m:ctrlPr>
                          <a:rPr lang="it-IT" i="1">
                            <a:solidFill>
                              <a:srgbClr val="836967"/>
                            </a:solidFill>
                            <a:latin typeface="Cambria Math" panose="02040503050406030204" pitchFamily="18" charset="0"/>
                          </a:rPr>
                        </m:ctrlPr>
                      </m:sSubPr>
                      <m:e>
                        <m:r>
                          <a:rPr lang="it-IT" i="1">
                            <a:latin typeface="Cambria Math" panose="02040503050406030204" pitchFamily="18" charset="0"/>
                          </a:rPr>
                          <m:t>𝛾</m:t>
                        </m:r>
                      </m:e>
                      <m:sub>
                        <m:r>
                          <a:rPr lang="it-IT" i="1">
                            <a:latin typeface="Cambria Math" panose="02040503050406030204" pitchFamily="18" charset="0"/>
                          </a:rPr>
                          <m:t>𝑘</m:t>
                        </m:r>
                      </m:sub>
                    </m:sSub>
                    <m:sSub>
                      <m:sSubPr>
                        <m:ctrlPr>
                          <a:rPr lang="it-IT" i="1">
                            <a:solidFill>
                              <a:srgbClr val="836967"/>
                            </a:solidFill>
                            <a:latin typeface="Cambria Math" panose="02040503050406030204" pitchFamily="18" charset="0"/>
                          </a:rPr>
                        </m:ctrlPr>
                      </m:sSubPr>
                      <m:e>
                        <m:r>
                          <a:rPr lang="it-IT" i="1">
                            <a:latin typeface="Cambria Math" panose="02040503050406030204" pitchFamily="18" charset="0"/>
                          </a:rPr>
                          <m:t>𝑢</m:t>
                        </m:r>
                      </m:e>
                      <m:sub>
                        <m:r>
                          <a:rPr lang="it-IT" i="1">
                            <a:latin typeface="Cambria Math" panose="02040503050406030204" pitchFamily="18" charset="0"/>
                          </a:rPr>
                          <m:t>𝑐</m:t>
                        </m:r>
                      </m:sub>
                    </m:sSub>
                    <m:d>
                      <m:dPr>
                        <m:ctrlPr>
                          <a:rPr lang="it-IT" i="1">
                            <a:solidFill>
                              <a:srgbClr val="836967"/>
                            </a:solidFill>
                            <a:latin typeface="Cambria Math" panose="02040503050406030204" pitchFamily="18" charset="0"/>
                          </a:rPr>
                        </m:ctrlPr>
                      </m:dPr>
                      <m:e>
                        <m:r>
                          <a:rPr lang="it-IT" i="1">
                            <a:latin typeface="Cambria Math" panose="02040503050406030204" pitchFamily="18" charset="0"/>
                          </a:rPr>
                          <m:t>𝑘</m:t>
                        </m:r>
                      </m:e>
                    </m:d>
                    <m:r>
                      <a:rPr lang="it-IT">
                        <a:latin typeface="Cambria Math" panose="02040503050406030204" pitchFamily="18" charset="0"/>
                      </a:rPr>
                      <m:t>+</m:t>
                    </m:r>
                    <m:r>
                      <a:rPr lang="it-IT" i="1">
                        <a:latin typeface="Cambria Math" panose="02040503050406030204" pitchFamily="18" charset="0"/>
                      </a:rPr>
                      <m:t>𝛼</m:t>
                    </m:r>
                    <m:d>
                      <m:dPr>
                        <m:ctrlPr>
                          <a:rPr lang="it-IT" i="1">
                            <a:solidFill>
                              <a:srgbClr val="836967"/>
                            </a:solidFill>
                            <a:latin typeface="Cambria Math" panose="02040503050406030204" pitchFamily="18" charset="0"/>
                          </a:rPr>
                        </m:ctrlPr>
                      </m:dPr>
                      <m:e>
                        <m:r>
                          <a:rPr lang="it-IT">
                            <a:latin typeface="Cambria Math" panose="02040503050406030204" pitchFamily="18" charset="0"/>
                          </a:rPr>
                          <m:t>1−</m:t>
                        </m:r>
                        <m:sSub>
                          <m:sSubPr>
                            <m:ctrlPr>
                              <a:rPr lang="it-IT" i="1">
                                <a:solidFill>
                                  <a:srgbClr val="836967"/>
                                </a:solidFill>
                                <a:latin typeface="Cambria Math" panose="02040503050406030204" pitchFamily="18" charset="0"/>
                              </a:rPr>
                            </m:ctrlPr>
                          </m:sSubPr>
                          <m:e>
                            <m:r>
                              <a:rPr lang="it-IT" i="1">
                                <a:latin typeface="Cambria Math" panose="02040503050406030204" pitchFamily="18" charset="0"/>
                              </a:rPr>
                              <m:t>𝛾</m:t>
                            </m:r>
                          </m:e>
                          <m:sub>
                            <m:r>
                              <a:rPr lang="it-IT" i="1">
                                <a:latin typeface="Cambria Math" panose="02040503050406030204" pitchFamily="18" charset="0"/>
                              </a:rPr>
                              <m:t>𝑘</m:t>
                            </m:r>
                          </m:sub>
                        </m:sSub>
                      </m:e>
                    </m:d>
                    <m:r>
                      <a:rPr lang="it-IT" i="1">
                        <a:latin typeface="Cambria Math" panose="02040503050406030204" pitchFamily="18" charset="0"/>
                      </a:rPr>
                      <m:t>𝑢</m:t>
                    </m:r>
                    <m:d>
                      <m:dPr>
                        <m:ctrlPr>
                          <a:rPr lang="it-IT" i="1">
                            <a:solidFill>
                              <a:srgbClr val="836967"/>
                            </a:solidFill>
                            <a:latin typeface="Cambria Math" panose="02040503050406030204" pitchFamily="18" charset="0"/>
                          </a:rPr>
                        </m:ctrlPr>
                      </m:dPr>
                      <m:e>
                        <m:r>
                          <a:rPr lang="it-IT" i="1">
                            <a:latin typeface="Cambria Math" panose="02040503050406030204" pitchFamily="18" charset="0"/>
                          </a:rPr>
                          <m:t>𝑘</m:t>
                        </m:r>
                        <m:r>
                          <a:rPr lang="it-IT">
                            <a:latin typeface="Cambria Math" panose="02040503050406030204" pitchFamily="18" charset="0"/>
                          </a:rPr>
                          <m:t>−1</m:t>
                        </m:r>
                      </m:e>
                    </m:d>
                    <m:r>
                      <a:rPr lang="it-IT">
                        <a:latin typeface="Cambria Math" panose="02040503050406030204" pitchFamily="18" charset="0"/>
                      </a:rPr>
                      <m:t>.</m:t>
                    </m:r>
                  </m:oMath>
                </a14:m>
                <a:endParaRPr lang="it-IT" dirty="0"/>
              </a:p>
              <a:p>
                <a:pPr marL="285750" indent="-285750">
                  <a:spcAft>
                    <a:spcPts val="600"/>
                  </a:spcAft>
                  <a:buClr>
                    <a:srgbClr val="1F7E9C"/>
                  </a:buClr>
                  <a:buFont typeface="Wingdings" panose="05000000000000000000" pitchFamily="2" charset="2"/>
                  <a:buChar char="v"/>
                </a:pPr>
                <a:endParaRPr lang="it-IT" dirty="0"/>
              </a:p>
              <a:p>
                <a:endParaRPr lang="it-IT" dirty="0">
                  <a:solidFill>
                    <a:schemeClr val="bg2">
                      <a:lumMod val="25000"/>
                    </a:schemeClr>
                  </a:solidFill>
                  <a:latin typeface="Atkinson Hyperlegible" pitchFamily="2" charset="77"/>
                  <a:ea typeface="Roboto" panose="02000000000000000000" pitchFamily="2" charset="0"/>
                  <a:cs typeface="Roboto" panose="02000000000000000000" pitchFamily="2" charset="0"/>
                </a:endParaRPr>
              </a:p>
            </p:txBody>
          </p:sp>
        </mc:Choice>
        <mc:Fallback xmlns="">
          <p:sp>
            <p:nvSpPr>
              <p:cNvPr id="5" name="Rectangle 4">
                <a:extLst>
                  <a:ext uri="{FF2B5EF4-FFF2-40B4-BE49-F238E27FC236}">
                    <a16:creationId xmlns:a16="http://schemas.microsoft.com/office/drawing/2014/main" id="{735FE629-4D5D-C0A1-881B-8804D88234BA}"/>
                  </a:ext>
                </a:extLst>
              </p:cNvPr>
              <p:cNvSpPr>
                <a:spLocks noRot="1" noChangeAspect="1" noMove="1" noResize="1" noEditPoints="1" noAdjustHandles="1" noChangeArrowheads="1" noChangeShapeType="1" noTextEdit="1"/>
              </p:cNvSpPr>
              <p:nvPr/>
            </p:nvSpPr>
            <p:spPr>
              <a:xfrm>
                <a:off x="728489" y="1226413"/>
                <a:ext cx="10726050" cy="1077218"/>
              </a:xfrm>
              <a:prstGeom prst="rect">
                <a:avLst/>
              </a:prstGeom>
              <a:blipFill>
                <a:blip r:embed="rId6"/>
                <a:stretch>
                  <a:fillRect l="-398" t="-2825"/>
                </a:stretch>
              </a:blipFill>
            </p:spPr>
            <p:txBody>
              <a:bodyPr/>
              <a:lstStyle/>
              <a:p>
                <a:r>
                  <a:rPr lang="en-US">
                    <a:noFill/>
                  </a:rPr>
                  <a:t> </a:t>
                </a:r>
              </a:p>
            </p:txBody>
          </p:sp>
        </mc:Fallback>
      </mc:AlternateContent>
      <p:grpSp>
        <p:nvGrpSpPr>
          <p:cNvPr id="6" name="Gruppo 5">
            <a:extLst>
              <a:ext uri="{FF2B5EF4-FFF2-40B4-BE49-F238E27FC236}">
                <a16:creationId xmlns:a16="http://schemas.microsoft.com/office/drawing/2014/main" id="{A1264BAB-BF2A-8E71-EADA-28E66A6FC4F7}"/>
              </a:ext>
            </a:extLst>
          </p:cNvPr>
          <p:cNvGrpSpPr/>
          <p:nvPr/>
        </p:nvGrpSpPr>
        <p:grpSpPr>
          <a:xfrm>
            <a:off x="5354797" y="3605989"/>
            <a:ext cx="1344205" cy="1722650"/>
            <a:chOff x="820944" y="4964353"/>
            <a:chExt cx="1992913" cy="786884"/>
          </a:xfrm>
        </p:grpSpPr>
        <mc:AlternateContent xmlns:mc="http://schemas.openxmlformats.org/markup-compatibility/2006" xmlns:a14="http://schemas.microsoft.com/office/drawing/2010/main">
          <mc:Choice Requires="a14">
            <p:sp>
              <p:nvSpPr>
                <p:cNvPr id="7" name="TextBox 24">
                  <a:extLst>
                    <a:ext uri="{FF2B5EF4-FFF2-40B4-BE49-F238E27FC236}">
                      <a16:creationId xmlns:a16="http://schemas.microsoft.com/office/drawing/2014/main" id="{EB274829-C416-DC79-5D4B-CF19F1C0909B}"/>
                    </a:ext>
                  </a:extLst>
                </p:cNvPr>
                <p:cNvSpPr txBox="1"/>
                <p:nvPr/>
              </p:nvSpPr>
              <p:spPr>
                <a:xfrm>
                  <a:off x="869862" y="4964353"/>
                  <a:ext cx="1763050" cy="786884"/>
                </a:xfrm>
                <a:prstGeom prst="rect">
                  <a:avLst/>
                </a:prstGeom>
                <a:noFill/>
                <a:effectLst/>
              </p:spPr>
              <p:txBody>
                <a:bodyPr wrap="square" rtlCol="0">
                  <a:spAutoFit/>
                </a:bodyPr>
                <a:lstStyle/>
                <a:p>
                  <a:pPr>
                    <a:lnSpc>
                      <a:spcPts val="1600"/>
                    </a:lnSpc>
                  </a:pPr>
                  <a:r>
                    <a:rPr lang="it-IT" sz="1200" dirty="0">
                      <a:solidFill>
                        <a:schemeClr val="bg2">
                          <a:lumMod val="50000"/>
                        </a:schemeClr>
                      </a:solidFill>
                      <a:latin typeface="Atkinson Hyperlegible" pitchFamily="2" charset="77"/>
                      <a:ea typeface="Roboto" panose="02000000000000000000" pitchFamily="2" charset="0"/>
                      <a:cs typeface="Roboto" panose="02000000000000000000" pitchFamily="2" charset="0"/>
                    </a:rPr>
                    <a:t>Andamento della soglia di probabilità di successo completo (100% delle simulazioni) al variare di </a:t>
                  </a:r>
                  <a14:m>
                    <m:oMath xmlns:m="http://schemas.openxmlformats.org/officeDocument/2006/math">
                      <m:r>
                        <a:rPr lang="it-IT" sz="1200" b="0" i="1" smtClean="0">
                          <a:solidFill>
                            <a:schemeClr val="bg2">
                              <a:lumMod val="50000"/>
                            </a:schemeClr>
                          </a:solidFill>
                          <a:latin typeface="Cambria Math" panose="02040503050406030204" pitchFamily="18" charset="0"/>
                          <a:ea typeface="Roboto" panose="02000000000000000000" pitchFamily="2" charset="0"/>
                          <a:cs typeface="Roboto" panose="02000000000000000000" pitchFamily="2" charset="0"/>
                        </a:rPr>
                        <m:t>𝛼</m:t>
                      </m:r>
                    </m:oMath>
                  </a14:m>
                  <a:r>
                    <a:rPr lang="it-IT" sz="1200" dirty="0">
                      <a:solidFill>
                        <a:schemeClr val="bg2">
                          <a:lumMod val="50000"/>
                        </a:schemeClr>
                      </a:solidFill>
                      <a:latin typeface="Atkinson Hyperlegible" pitchFamily="2" charset="77"/>
                      <a:ea typeface="Roboto" panose="02000000000000000000" pitchFamily="2" charset="0"/>
                      <a:cs typeface="Roboto" panose="02000000000000000000" pitchFamily="2" charset="0"/>
                    </a:rPr>
                    <a:t>.</a:t>
                  </a:r>
                </a:p>
              </p:txBody>
            </p:sp>
          </mc:Choice>
          <mc:Fallback xmlns="">
            <p:sp>
              <p:nvSpPr>
                <p:cNvPr id="7" name="TextBox 24">
                  <a:extLst>
                    <a:ext uri="{FF2B5EF4-FFF2-40B4-BE49-F238E27FC236}">
                      <a16:creationId xmlns:a16="http://schemas.microsoft.com/office/drawing/2014/main" id="{EB274829-C416-DC79-5D4B-CF19F1C0909B}"/>
                    </a:ext>
                  </a:extLst>
                </p:cNvPr>
                <p:cNvSpPr txBox="1">
                  <a:spLocks noRot="1" noChangeAspect="1" noMove="1" noResize="1" noEditPoints="1" noAdjustHandles="1" noChangeArrowheads="1" noChangeShapeType="1" noTextEdit="1"/>
                </p:cNvSpPr>
                <p:nvPr/>
              </p:nvSpPr>
              <p:spPr>
                <a:xfrm>
                  <a:off x="869862" y="4964353"/>
                  <a:ext cx="1763050" cy="786884"/>
                </a:xfrm>
                <a:prstGeom prst="rect">
                  <a:avLst/>
                </a:prstGeom>
                <a:blipFill>
                  <a:blip r:embed="rId7"/>
                  <a:stretch>
                    <a:fillRect r="-1064" b="-2206"/>
                  </a:stretch>
                </a:blipFill>
                <a:effectLst/>
              </p:spPr>
              <p:txBody>
                <a:bodyPr/>
                <a:lstStyle/>
                <a:p>
                  <a:r>
                    <a:rPr lang="en-US">
                      <a:noFill/>
                    </a:rPr>
                    <a:t> </a:t>
                  </a:r>
                </a:p>
              </p:txBody>
            </p:sp>
          </mc:Fallback>
        </mc:AlternateContent>
        <p:sp>
          <p:nvSpPr>
            <p:cNvPr id="8" name="Rettangolo 7">
              <a:extLst>
                <a:ext uri="{FF2B5EF4-FFF2-40B4-BE49-F238E27FC236}">
                  <a16:creationId xmlns:a16="http://schemas.microsoft.com/office/drawing/2014/main" id="{EC2D0889-AEA8-2C22-F787-8AC4B2D6D0DE}"/>
                </a:ext>
              </a:extLst>
            </p:cNvPr>
            <p:cNvSpPr/>
            <p:nvPr/>
          </p:nvSpPr>
          <p:spPr>
            <a:xfrm>
              <a:off x="820944" y="4964353"/>
              <a:ext cx="67783" cy="751928"/>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9" name="Triangolo isoscele 8">
              <a:extLst>
                <a:ext uri="{FF2B5EF4-FFF2-40B4-BE49-F238E27FC236}">
                  <a16:creationId xmlns:a16="http://schemas.microsoft.com/office/drawing/2014/main" id="{5E6201F6-B41C-81B1-CA49-755BF60DD965}"/>
                </a:ext>
              </a:extLst>
            </p:cNvPr>
            <p:cNvSpPr/>
            <p:nvPr/>
          </p:nvSpPr>
          <p:spPr>
            <a:xfrm rot="5400000">
              <a:off x="2603136" y="5204734"/>
              <a:ext cx="201096" cy="220346"/>
            </a:xfrm>
            <a:prstGeom prst="triangle">
              <a:avLst/>
            </a:prstGeom>
            <a:solidFill>
              <a:srgbClr val="1F7E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grpSp>
        <p:nvGrpSpPr>
          <p:cNvPr id="10" name="Gruppo 9">
            <a:extLst>
              <a:ext uri="{FF2B5EF4-FFF2-40B4-BE49-F238E27FC236}">
                <a16:creationId xmlns:a16="http://schemas.microsoft.com/office/drawing/2014/main" id="{FE76115A-0D8C-77FA-0393-960C1AEF7C49}"/>
              </a:ext>
            </a:extLst>
          </p:cNvPr>
          <p:cNvGrpSpPr/>
          <p:nvPr/>
        </p:nvGrpSpPr>
        <p:grpSpPr>
          <a:xfrm>
            <a:off x="5032671" y="1976509"/>
            <a:ext cx="1544285" cy="1393530"/>
            <a:chOff x="349624" y="4892750"/>
            <a:chExt cx="2201231" cy="603649"/>
          </a:xfrm>
        </p:grpSpPr>
        <mc:AlternateContent xmlns:mc="http://schemas.openxmlformats.org/markup-compatibility/2006" xmlns:a14="http://schemas.microsoft.com/office/drawing/2010/main">
          <mc:Choice Requires="a14">
            <p:sp>
              <p:nvSpPr>
                <p:cNvPr id="12" name="TextBox 24">
                  <a:extLst>
                    <a:ext uri="{FF2B5EF4-FFF2-40B4-BE49-F238E27FC236}">
                      <a16:creationId xmlns:a16="http://schemas.microsoft.com/office/drawing/2014/main" id="{459B6733-AAD8-F6C5-8A6E-E8DF452F70E7}"/>
                    </a:ext>
                  </a:extLst>
                </p:cNvPr>
                <p:cNvSpPr txBox="1"/>
                <p:nvPr/>
              </p:nvSpPr>
              <p:spPr>
                <a:xfrm>
                  <a:off x="820946" y="4923169"/>
                  <a:ext cx="1729909" cy="568454"/>
                </a:xfrm>
                <a:prstGeom prst="rect">
                  <a:avLst/>
                </a:prstGeom>
                <a:noFill/>
                <a:effectLst/>
              </p:spPr>
              <p:txBody>
                <a:bodyPr wrap="square" rtlCol="0" anchor="ctr">
                  <a:spAutoFit/>
                </a:bodyPr>
                <a:lstStyle/>
                <a:p>
                  <a:pPr algn="r">
                    <a:lnSpc>
                      <a:spcPts val="1600"/>
                    </a:lnSpc>
                  </a:pPr>
                  <a:r>
                    <a:rPr lang="it-IT" sz="1200" dirty="0">
                      <a:solidFill>
                        <a:schemeClr val="bg2">
                          <a:lumMod val="50000"/>
                        </a:schemeClr>
                      </a:solidFill>
                      <a:latin typeface="Atkinson Hyperlegible" pitchFamily="2" charset="77"/>
                      <a:ea typeface="Roboto" panose="02000000000000000000" pitchFamily="2" charset="0"/>
                      <a:cs typeface="Roboto" panose="02000000000000000000" pitchFamily="2" charset="0"/>
                    </a:rPr>
                    <a:t>Tasso di successo nella stabilizzazione vs probabilità di perdita per varie </a:t>
                  </a:r>
                  <a14:m>
                    <m:oMath xmlns:m="http://schemas.openxmlformats.org/officeDocument/2006/math">
                      <m:r>
                        <a:rPr lang="it-IT" sz="1200" b="0" i="1" smtClean="0">
                          <a:solidFill>
                            <a:schemeClr val="bg2">
                              <a:lumMod val="50000"/>
                            </a:schemeClr>
                          </a:solidFill>
                          <a:latin typeface="Cambria Math" panose="02040503050406030204" pitchFamily="18" charset="0"/>
                          <a:ea typeface="Roboto" panose="02000000000000000000" pitchFamily="2" charset="0"/>
                          <a:cs typeface="Roboto" panose="02000000000000000000" pitchFamily="2" charset="0"/>
                        </a:rPr>
                        <m:t>𝛼</m:t>
                      </m:r>
                      <m:r>
                        <a:rPr lang="it-IT" sz="1200" b="0" i="1" smtClean="0">
                          <a:solidFill>
                            <a:schemeClr val="bg2">
                              <a:lumMod val="50000"/>
                            </a:schemeClr>
                          </a:solidFill>
                          <a:latin typeface="Cambria Math" panose="02040503050406030204" pitchFamily="18" charset="0"/>
                          <a:ea typeface="Roboto" panose="02000000000000000000" pitchFamily="2" charset="0"/>
                          <a:cs typeface="Roboto" panose="02000000000000000000" pitchFamily="2" charset="0"/>
                        </a:rPr>
                        <m:t>.</m:t>
                      </m:r>
                    </m:oMath>
                  </a14:m>
                  <a:endParaRPr lang="it-IT" sz="1200" dirty="0">
                    <a:solidFill>
                      <a:schemeClr val="bg2">
                        <a:lumMod val="50000"/>
                      </a:schemeClr>
                    </a:solidFill>
                    <a:latin typeface="Atkinson Hyperlegible" pitchFamily="2" charset="77"/>
                    <a:ea typeface="Roboto" panose="02000000000000000000" pitchFamily="2" charset="0"/>
                    <a:cs typeface="Roboto" panose="02000000000000000000" pitchFamily="2" charset="0"/>
                  </a:endParaRPr>
                </a:p>
              </p:txBody>
            </p:sp>
          </mc:Choice>
          <mc:Fallback xmlns="">
            <p:sp>
              <p:nvSpPr>
                <p:cNvPr id="12" name="TextBox 24">
                  <a:extLst>
                    <a:ext uri="{FF2B5EF4-FFF2-40B4-BE49-F238E27FC236}">
                      <a16:creationId xmlns:a16="http://schemas.microsoft.com/office/drawing/2014/main" id="{459B6733-AAD8-F6C5-8A6E-E8DF452F70E7}"/>
                    </a:ext>
                  </a:extLst>
                </p:cNvPr>
                <p:cNvSpPr txBox="1">
                  <a:spLocks noRot="1" noChangeAspect="1" noMove="1" noResize="1" noEditPoints="1" noAdjustHandles="1" noChangeArrowheads="1" noChangeShapeType="1" noTextEdit="1"/>
                </p:cNvSpPr>
                <p:nvPr/>
              </p:nvSpPr>
              <p:spPr>
                <a:xfrm>
                  <a:off x="820946" y="4923169"/>
                  <a:ext cx="1729909" cy="568454"/>
                </a:xfrm>
                <a:prstGeom prst="rect">
                  <a:avLst/>
                </a:prstGeom>
                <a:blipFill>
                  <a:blip r:embed="rId8"/>
                  <a:stretch>
                    <a:fillRect l="-524" r="-3141" b="-3721"/>
                  </a:stretch>
                </a:blipFill>
                <a:effectLst/>
              </p:spPr>
              <p:txBody>
                <a:bodyPr/>
                <a:lstStyle/>
                <a:p>
                  <a:r>
                    <a:rPr lang="en-US">
                      <a:noFill/>
                    </a:rPr>
                    <a:t> </a:t>
                  </a:r>
                </a:p>
              </p:txBody>
            </p:sp>
          </mc:Fallback>
        </mc:AlternateContent>
        <p:sp>
          <p:nvSpPr>
            <p:cNvPr id="13" name="Rettangolo 12">
              <a:extLst>
                <a:ext uri="{FF2B5EF4-FFF2-40B4-BE49-F238E27FC236}">
                  <a16:creationId xmlns:a16="http://schemas.microsoft.com/office/drawing/2014/main" id="{63337345-A04C-3444-4E40-1944A2DB78E5}"/>
                </a:ext>
              </a:extLst>
            </p:cNvPr>
            <p:cNvSpPr/>
            <p:nvPr/>
          </p:nvSpPr>
          <p:spPr>
            <a:xfrm>
              <a:off x="820944" y="4892750"/>
              <a:ext cx="67783" cy="603649"/>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14" name="Triangolo isoscele 13">
              <a:extLst>
                <a:ext uri="{FF2B5EF4-FFF2-40B4-BE49-F238E27FC236}">
                  <a16:creationId xmlns:a16="http://schemas.microsoft.com/office/drawing/2014/main" id="{9FF3061B-A1ED-1A2B-5215-46309CE07278}"/>
                </a:ext>
              </a:extLst>
            </p:cNvPr>
            <p:cNvSpPr/>
            <p:nvPr/>
          </p:nvSpPr>
          <p:spPr>
            <a:xfrm rot="16200000">
              <a:off x="359249" y="5105809"/>
              <a:ext cx="201096" cy="220346"/>
            </a:xfrm>
            <a:prstGeom prst="triangle">
              <a:avLst/>
            </a:prstGeom>
            <a:solidFill>
              <a:srgbClr val="1F7E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spTree>
    <p:extLst>
      <p:ext uri="{BB962C8B-B14F-4D97-AF65-F5344CB8AC3E}">
        <p14:creationId xmlns:p14="http://schemas.microsoft.com/office/powerpoint/2010/main" val="929546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ttangolo 20">
            <a:extLst>
              <a:ext uri="{FF2B5EF4-FFF2-40B4-BE49-F238E27FC236}">
                <a16:creationId xmlns:a16="http://schemas.microsoft.com/office/drawing/2014/main" id="{4E8076F9-0D29-BF2D-27F4-FE61A2749289}"/>
              </a:ext>
            </a:extLst>
          </p:cNvPr>
          <p:cNvSpPr/>
          <p:nvPr/>
        </p:nvSpPr>
        <p:spPr>
          <a:xfrm>
            <a:off x="-81023" y="-249391"/>
            <a:ext cx="12371345" cy="6314589"/>
          </a:xfrm>
          <a:prstGeom prst="rect">
            <a:avLst/>
          </a:prstGeom>
          <a:solidFill>
            <a:srgbClr val="1F7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pic>
        <p:nvPicPr>
          <p:cNvPr id="16" name="Immagine 15">
            <a:extLst>
              <a:ext uri="{FF2B5EF4-FFF2-40B4-BE49-F238E27FC236}">
                <a16:creationId xmlns:a16="http://schemas.microsoft.com/office/drawing/2014/main" id="{DA9A831D-1B89-6BE4-659B-2B08F1AC68E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805216" y="272795"/>
            <a:ext cx="4149052" cy="4682315"/>
          </a:xfrm>
          <a:prstGeom prst="rect">
            <a:avLst/>
          </a:prstGeom>
        </p:spPr>
      </p:pic>
      <p:sp>
        <p:nvSpPr>
          <p:cNvPr id="9" name="Rettangolo 8">
            <a:extLst>
              <a:ext uri="{FF2B5EF4-FFF2-40B4-BE49-F238E27FC236}">
                <a16:creationId xmlns:a16="http://schemas.microsoft.com/office/drawing/2014/main" id="{5CF18E0F-0441-0287-C163-2A5BF9643A0D}"/>
              </a:ext>
            </a:extLst>
          </p:cNvPr>
          <p:cNvSpPr/>
          <p:nvPr/>
        </p:nvSpPr>
        <p:spPr>
          <a:xfrm>
            <a:off x="-297951" y="5943602"/>
            <a:ext cx="12489951" cy="977153"/>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12" name="Rectangle 4">
            <a:extLst>
              <a:ext uri="{FF2B5EF4-FFF2-40B4-BE49-F238E27FC236}">
                <a16:creationId xmlns:a16="http://schemas.microsoft.com/office/drawing/2014/main" id="{944FF0C0-94CE-F78F-ADF1-CFC6322F52FE}"/>
              </a:ext>
            </a:extLst>
          </p:cNvPr>
          <p:cNvSpPr/>
          <p:nvPr/>
        </p:nvSpPr>
        <p:spPr>
          <a:xfrm>
            <a:off x="695325" y="621119"/>
            <a:ext cx="4233022" cy="321242"/>
          </a:xfrm>
          <a:prstGeom prst="rect">
            <a:avLst/>
          </a:prstGeom>
        </p:spPr>
        <p:txBody>
          <a:bodyPr wrap="square">
            <a:spAutoFit/>
          </a:bodyPr>
          <a:lstStyle/>
          <a:p>
            <a:pPr>
              <a:lnSpc>
                <a:spcPts val="1500"/>
              </a:lnSpc>
            </a:pPr>
            <a:r>
              <a:rPr lang="it-IT" sz="2200" b="1" noProof="0" dirty="0">
                <a:solidFill>
                  <a:schemeClr val="bg1"/>
                </a:solidFill>
                <a:latin typeface="Atkinson Hyperlegible" pitchFamily="2" charset="77"/>
                <a:ea typeface="Roboto" panose="02000000000000000000" pitchFamily="2" charset="0"/>
                <a:cs typeface="Roboto" panose="02000000000000000000" pitchFamily="2" charset="0"/>
              </a:rPr>
              <a:t>Conclusioni &amp; Sviluppi Futuri</a:t>
            </a:r>
          </a:p>
        </p:txBody>
      </p:sp>
      <mc:AlternateContent xmlns:mc="http://schemas.openxmlformats.org/markup-compatibility/2006" xmlns:a14="http://schemas.microsoft.com/office/drawing/2010/main">
        <mc:Choice Requires="a14">
          <p:sp>
            <p:nvSpPr>
              <p:cNvPr id="13" name="Rectangle 4">
                <a:extLst>
                  <a:ext uri="{FF2B5EF4-FFF2-40B4-BE49-F238E27FC236}">
                    <a16:creationId xmlns:a16="http://schemas.microsoft.com/office/drawing/2014/main" id="{DC1F28BB-FD6C-C1B1-FCFD-EBF4CFB0A1C8}"/>
                  </a:ext>
                </a:extLst>
              </p:cNvPr>
              <p:cNvSpPr/>
              <p:nvPr/>
            </p:nvSpPr>
            <p:spPr>
              <a:xfrm>
                <a:off x="711454" y="1008364"/>
                <a:ext cx="6953370" cy="2616101"/>
              </a:xfrm>
              <a:prstGeom prst="rect">
                <a:avLst/>
              </a:prstGeom>
            </p:spPr>
            <p:txBody>
              <a:bodyPr wrap="square">
                <a:spAutoFit/>
              </a:bodyPr>
              <a:lstStyle/>
              <a:p>
                <a:pPr marL="333375" indent="-285750">
                  <a:spcAft>
                    <a:spcPts val="1200"/>
                  </a:spcAft>
                  <a:buFont typeface="Wingdings" panose="05000000000000000000" pitchFamily="2" charset="2"/>
                  <a:buChar char="ü"/>
                </a:pPr>
                <a:r>
                  <a:rPr lang="it-IT" dirty="0">
                    <a:solidFill>
                      <a:schemeClr val="bg1">
                        <a:lumMod val="95000"/>
                      </a:schemeClr>
                    </a:solidFill>
                    <a:latin typeface="Atkinson Hyperlegible" pitchFamily="2" charset="77"/>
                    <a:ea typeface="Open Sans Condensed" panose="020B0604020202020204" charset="0"/>
                    <a:cs typeface="Open Sans Condensed" panose="020B0604020202020204" charset="0"/>
                  </a:rPr>
                  <a:t>Sono stati validati con simulazioni vari approcci al problema </a:t>
                </a:r>
                <a:r>
                  <a:rPr lang="it-IT" b="1" dirty="0">
                    <a:solidFill>
                      <a:schemeClr val="bg1">
                        <a:lumMod val="95000"/>
                      </a:schemeClr>
                    </a:solidFill>
                    <a:latin typeface="Atkinson Hyperlegible" pitchFamily="2" charset="77"/>
                    <a:ea typeface="Open Sans Condensed" panose="020B0604020202020204" charset="0"/>
                    <a:cs typeface="Open Sans Condensed" panose="020B0604020202020204" charset="0"/>
                  </a:rPr>
                  <a:t>dell’identificazione</a:t>
                </a:r>
                <a:r>
                  <a:rPr lang="it-IT" dirty="0">
                    <a:solidFill>
                      <a:schemeClr val="bg1">
                        <a:lumMod val="95000"/>
                      </a:schemeClr>
                    </a:solidFill>
                    <a:latin typeface="Atkinson Hyperlegible" pitchFamily="2" charset="77"/>
                    <a:ea typeface="Open Sans Condensed" panose="020B0604020202020204" charset="0"/>
                    <a:cs typeface="Open Sans Condensed" panose="020B0604020202020204" charset="0"/>
                  </a:rPr>
                  <a:t> e </a:t>
                </a:r>
                <a:r>
                  <a:rPr lang="it-IT" b="1" dirty="0">
                    <a:solidFill>
                      <a:schemeClr val="bg1">
                        <a:lumMod val="95000"/>
                      </a:schemeClr>
                    </a:solidFill>
                    <a:latin typeface="Atkinson Hyperlegible" pitchFamily="2" charset="77"/>
                    <a:ea typeface="Open Sans Condensed" panose="020B0604020202020204" charset="0"/>
                    <a:cs typeface="Open Sans Condensed" panose="020B0604020202020204" charset="0"/>
                  </a:rPr>
                  <a:t>controllo</a:t>
                </a:r>
                <a:r>
                  <a:rPr lang="it-IT" dirty="0">
                    <a:solidFill>
                      <a:schemeClr val="bg1">
                        <a:lumMod val="95000"/>
                      </a:schemeClr>
                    </a:solidFill>
                    <a:latin typeface="Atkinson Hyperlegible" pitchFamily="2" charset="77"/>
                    <a:ea typeface="Open Sans Condensed" panose="020B0604020202020204" charset="0"/>
                    <a:cs typeface="Open Sans Condensed" panose="020B0604020202020204" charset="0"/>
                  </a:rPr>
                  <a:t> del pendolo inverso, considerando l’impatto di </a:t>
                </a:r>
                <a:r>
                  <a:rPr lang="it-IT" b="1" dirty="0">
                    <a:solidFill>
                      <a:schemeClr val="bg1">
                        <a:lumMod val="95000"/>
                      </a:schemeClr>
                    </a:solidFill>
                    <a:latin typeface="Atkinson Hyperlegible" pitchFamily="2" charset="77"/>
                    <a:ea typeface="Open Sans Condensed" panose="020B0604020202020204" charset="0"/>
                    <a:cs typeface="Open Sans Condensed" panose="020B0604020202020204" charset="0"/>
                  </a:rPr>
                  <a:t>disturbi</a:t>
                </a:r>
                <a:r>
                  <a:rPr lang="it-IT" dirty="0">
                    <a:solidFill>
                      <a:schemeClr val="bg1">
                        <a:lumMod val="95000"/>
                      </a:schemeClr>
                    </a:solidFill>
                    <a:latin typeface="Atkinson Hyperlegible" pitchFamily="2" charset="77"/>
                    <a:ea typeface="Open Sans Condensed" panose="020B0604020202020204" charset="0"/>
                    <a:cs typeface="Open Sans Condensed" panose="020B0604020202020204" charset="0"/>
                  </a:rPr>
                  <a:t>:</a:t>
                </a:r>
              </a:p>
              <a:p>
                <a:pPr marL="742950" lvl="1" indent="-285750" algn="just">
                  <a:spcAft>
                    <a:spcPts val="1200"/>
                  </a:spcAft>
                  <a:buFont typeface="Arial" panose="020B0604020202020204" pitchFamily="34" charset="0"/>
                  <a:buChar char="•"/>
                </a:pPr>
                <a:r>
                  <a:rPr lang="it-IT" dirty="0">
                    <a:solidFill>
                      <a:schemeClr val="bg1">
                        <a:lumMod val="95000"/>
                      </a:schemeClr>
                    </a:solidFill>
                    <a:latin typeface="Atkinson Hyperlegible" pitchFamily="2" charset="77"/>
                  </a:rPr>
                  <a:t>Impiego con successo delle matrici spazio-stato </a:t>
                </a:r>
                <a:r>
                  <a:rPr lang="it-IT" b="1" dirty="0">
                    <a:solidFill>
                      <a:schemeClr val="bg1">
                        <a:lumMod val="95000"/>
                      </a:schemeClr>
                    </a:solidFill>
                    <a:latin typeface="Atkinson Hyperlegible" pitchFamily="2" charset="77"/>
                  </a:rPr>
                  <a:t>A</a:t>
                </a:r>
                <a:r>
                  <a:rPr lang="it-IT" dirty="0">
                    <a:solidFill>
                      <a:schemeClr val="bg1">
                        <a:lumMod val="95000"/>
                      </a:schemeClr>
                    </a:solidFill>
                    <a:latin typeface="Atkinson Hyperlegible" pitchFamily="2" charset="77"/>
                  </a:rPr>
                  <a:t> e</a:t>
                </a:r>
                <a:r>
                  <a:rPr lang="it-IT" b="1" dirty="0">
                    <a:solidFill>
                      <a:schemeClr val="bg1">
                        <a:lumMod val="95000"/>
                      </a:schemeClr>
                    </a:solidFill>
                    <a:latin typeface="Atkinson Hyperlegible" pitchFamily="2" charset="77"/>
                  </a:rPr>
                  <a:t> B</a:t>
                </a:r>
                <a:r>
                  <a:rPr lang="it-IT" dirty="0">
                    <a:solidFill>
                      <a:schemeClr val="bg1">
                        <a:lumMod val="95000"/>
                      </a:schemeClr>
                    </a:solidFill>
                    <a:latin typeface="Atkinson Hyperlegible" pitchFamily="2" charset="77"/>
                  </a:rPr>
                  <a:t> nella sintesi di controllori ottimi (</a:t>
                </a:r>
                <a:r>
                  <a:rPr lang="it-IT" b="1" dirty="0">
                    <a:solidFill>
                      <a:schemeClr val="bg1">
                        <a:lumMod val="95000"/>
                      </a:schemeClr>
                    </a:solidFill>
                    <a:latin typeface="Atkinson Hyperlegible" pitchFamily="2" charset="77"/>
                  </a:rPr>
                  <a:t>LQR</a:t>
                </a:r>
                <a:r>
                  <a:rPr lang="it-IT" dirty="0">
                    <a:solidFill>
                      <a:schemeClr val="bg1">
                        <a:lumMod val="95000"/>
                      </a:schemeClr>
                    </a:solidFill>
                    <a:latin typeface="Atkinson Hyperlegible" pitchFamily="2" charset="77"/>
                  </a:rPr>
                  <a:t>);</a:t>
                </a:r>
              </a:p>
              <a:p>
                <a:pPr marL="742950" lvl="1" indent="-285750" algn="just">
                  <a:spcAft>
                    <a:spcPts val="1200"/>
                  </a:spcAft>
                  <a:buFont typeface="Arial" panose="020B0604020202020204" pitchFamily="34" charset="0"/>
                  <a:buChar char="•"/>
                </a:pPr>
                <a:r>
                  <a:rPr lang="it-IT" dirty="0">
                    <a:solidFill>
                      <a:schemeClr val="bg1">
                        <a:lumMod val="95000"/>
                      </a:schemeClr>
                    </a:solidFill>
                    <a:latin typeface="Atkinson Hyperlegible" pitchFamily="2" charset="77"/>
                  </a:rPr>
                  <a:t>Impiego con successo di una </a:t>
                </a:r>
                <a:r>
                  <a:rPr lang="it-IT" i="1" dirty="0">
                    <a:solidFill>
                      <a:schemeClr val="bg1">
                        <a:lumMod val="95000"/>
                      </a:schemeClr>
                    </a:solidFill>
                    <a:latin typeface="Atkinson Hyperlegible" pitchFamily="2" charset="77"/>
                  </a:rPr>
                  <a:t>policy </a:t>
                </a:r>
                <a:r>
                  <a:rPr lang="it-IT" dirty="0">
                    <a:solidFill>
                      <a:schemeClr val="bg1">
                        <a:lumMod val="95000"/>
                      </a:schemeClr>
                    </a:solidFill>
                    <a:latin typeface="Atkinson Hyperlegible" pitchFamily="2" charset="77"/>
                  </a:rPr>
                  <a:t>di </a:t>
                </a:r>
                <a:r>
                  <a:rPr lang="it-IT" i="1" dirty="0" err="1">
                    <a:solidFill>
                      <a:schemeClr val="bg1">
                        <a:lumMod val="95000"/>
                      </a:schemeClr>
                    </a:solidFill>
                    <a:latin typeface="Atkinson Hyperlegible" pitchFamily="2" charset="77"/>
                  </a:rPr>
                  <a:t>hold</a:t>
                </a:r>
                <a:r>
                  <a:rPr lang="it-IT" i="1" dirty="0">
                    <a:solidFill>
                      <a:schemeClr val="bg1">
                        <a:lumMod val="95000"/>
                      </a:schemeClr>
                    </a:solidFill>
                    <a:latin typeface="Atkinson Hyperlegible" pitchFamily="2" charset="77"/>
                  </a:rPr>
                  <a:t> </a:t>
                </a:r>
                <a:r>
                  <a:rPr lang="it-IT" dirty="0">
                    <a:solidFill>
                      <a:schemeClr val="bg1">
                        <a:lumMod val="95000"/>
                      </a:schemeClr>
                    </a:solidFill>
                    <a:latin typeface="Atkinson Hyperlegible" pitchFamily="2" charset="77"/>
                  </a:rPr>
                  <a:t>dell’ingresso con decadimento, e studio delle performance al variare di </a:t>
                </a:r>
                <a14:m>
                  <m:oMath xmlns:m="http://schemas.openxmlformats.org/officeDocument/2006/math">
                    <m:r>
                      <a:rPr lang="it-IT" i="1">
                        <a:solidFill>
                          <a:schemeClr val="bg1">
                            <a:lumMod val="95000"/>
                          </a:schemeClr>
                        </a:solidFill>
                        <a:latin typeface="Cambria Math" panose="02040503050406030204" pitchFamily="18" charset="0"/>
                      </a:rPr>
                      <m:t>𝛼</m:t>
                    </m:r>
                  </m:oMath>
                </a14:m>
                <a:r>
                  <a:rPr lang="it-IT" dirty="0">
                    <a:solidFill>
                      <a:schemeClr val="bg1">
                        <a:lumMod val="95000"/>
                      </a:schemeClr>
                    </a:solidFill>
                    <a:latin typeface="Atkinson Hyperlegible" pitchFamily="2" charset="77"/>
                  </a:rPr>
                  <a:t> (picco trovato per </a:t>
                </a:r>
                <a14:m>
                  <m:oMath xmlns:m="http://schemas.openxmlformats.org/officeDocument/2006/math">
                    <m:r>
                      <a:rPr lang="it-IT" b="1" i="1">
                        <a:solidFill>
                          <a:schemeClr val="bg1">
                            <a:lumMod val="95000"/>
                          </a:schemeClr>
                        </a:solidFill>
                        <a:latin typeface="Cambria Math" panose="02040503050406030204" pitchFamily="18" charset="0"/>
                      </a:rPr>
                      <m:t>𝜶</m:t>
                    </m:r>
                    <m:r>
                      <a:rPr lang="it-IT" i="1">
                        <a:solidFill>
                          <a:schemeClr val="bg1">
                            <a:lumMod val="95000"/>
                          </a:schemeClr>
                        </a:solidFill>
                        <a:latin typeface="Cambria Math" panose="02040503050406030204" pitchFamily="18" charset="0"/>
                        <a:ea typeface="Cambria Math" panose="02040503050406030204" pitchFamily="18" charset="0"/>
                      </a:rPr>
                      <m:t>≃</m:t>
                    </m:r>
                    <m:r>
                      <a:rPr lang="it-IT" b="0" i="1" smtClean="0">
                        <a:solidFill>
                          <a:schemeClr val="bg1">
                            <a:lumMod val="95000"/>
                          </a:schemeClr>
                        </a:solidFill>
                        <a:latin typeface="Cambria Math" panose="02040503050406030204" pitchFamily="18" charset="0"/>
                        <a:ea typeface="Cambria Math" panose="02040503050406030204" pitchFamily="18" charset="0"/>
                      </a:rPr>
                      <m:t>0,95</m:t>
                    </m:r>
                  </m:oMath>
                </a14:m>
                <a:r>
                  <a:rPr lang="it-IT" dirty="0">
                    <a:solidFill>
                      <a:schemeClr val="bg1">
                        <a:lumMod val="95000"/>
                      </a:schemeClr>
                    </a:solidFill>
                    <a:latin typeface="Atkinson Hyperlegible" pitchFamily="2" charset="77"/>
                  </a:rPr>
                  <a:t>).</a:t>
                </a:r>
              </a:p>
            </p:txBody>
          </p:sp>
        </mc:Choice>
        <mc:Fallback xmlns="">
          <p:sp>
            <p:nvSpPr>
              <p:cNvPr id="13" name="Rectangle 4">
                <a:extLst>
                  <a:ext uri="{FF2B5EF4-FFF2-40B4-BE49-F238E27FC236}">
                    <a16:creationId xmlns:a16="http://schemas.microsoft.com/office/drawing/2014/main" id="{DC1F28BB-FD6C-C1B1-FCFD-EBF4CFB0A1C8}"/>
                  </a:ext>
                </a:extLst>
              </p:cNvPr>
              <p:cNvSpPr>
                <a:spLocks noRot="1" noChangeAspect="1" noMove="1" noResize="1" noEditPoints="1" noAdjustHandles="1" noChangeArrowheads="1" noChangeShapeType="1" noTextEdit="1"/>
              </p:cNvSpPr>
              <p:nvPr/>
            </p:nvSpPr>
            <p:spPr>
              <a:xfrm>
                <a:off x="711454" y="1008364"/>
                <a:ext cx="6953370" cy="2616101"/>
              </a:xfrm>
              <a:prstGeom prst="rect">
                <a:avLst/>
              </a:prstGeom>
              <a:blipFill>
                <a:blip r:embed="rId4"/>
                <a:stretch>
                  <a:fillRect t="-1163" r="-702" b="-2558"/>
                </a:stretch>
              </a:blipFill>
            </p:spPr>
            <p:txBody>
              <a:bodyPr/>
              <a:lstStyle/>
              <a:p>
                <a:r>
                  <a:rPr lang="it-IT">
                    <a:noFill/>
                  </a:rPr>
                  <a:t> </a:t>
                </a:r>
              </a:p>
            </p:txBody>
          </p:sp>
        </mc:Fallback>
      </mc:AlternateContent>
      <p:pic>
        <p:nvPicPr>
          <p:cNvPr id="18" name="Immagine 17">
            <a:extLst>
              <a:ext uri="{FF2B5EF4-FFF2-40B4-BE49-F238E27FC236}">
                <a16:creationId xmlns:a16="http://schemas.microsoft.com/office/drawing/2014/main" id="{2A919CD5-9B1F-0484-92D0-C93A1BE9944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426078" y="6133296"/>
            <a:ext cx="2283511" cy="566274"/>
          </a:xfrm>
          <a:prstGeom prst="rect">
            <a:avLst/>
          </a:prstGeom>
        </p:spPr>
      </p:pic>
      <p:sp>
        <p:nvSpPr>
          <p:cNvPr id="3" name="CasellaDiTesto 2">
            <a:extLst>
              <a:ext uri="{FF2B5EF4-FFF2-40B4-BE49-F238E27FC236}">
                <a16:creationId xmlns:a16="http://schemas.microsoft.com/office/drawing/2014/main" id="{B5DF4F8D-49F4-F096-0F52-26FAB4AFFC3B}"/>
              </a:ext>
            </a:extLst>
          </p:cNvPr>
          <p:cNvSpPr txBox="1"/>
          <p:nvPr/>
        </p:nvSpPr>
        <p:spPr>
          <a:xfrm>
            <a:off x="711454" y="3749507"/>
            <a:ext cx="8297588" cy="1892826"/>
          </a:xfrm>
          <a:prstGeom prst="rect">
            <a:avLst/>
          </a:prstGeom>
          <a:noFill/>
        </p:spPr>
        <p:txBody>
          <a:bodyPr wrap="square">
            <a:spAutoFit/>
          </a:bodyPr>
          <a:lstStyle/>
          <a:p>
            <a:pPr marL="47625" indent="0">
              <a:spcAft>
                <a:spcPts val="1200"/>
              </a:spcAft>
              <a:buNone/>
            </a:pPr>
            <a:r>
              <a:rPr lang="it-IT" sz="2000" b="1" dirty="0">
                <a:solidFill>
                  <a:schemeClr val="bg1">
                    <a:lumMod val="95000"/>
                  </a:schemeClr>
                </a:solidFill>
              </a:rPr>
              <a:t>Sviluppi Futuri…</a:t>
            </a:r>
            <a:endParaRPr lang="it-IT" sz="2000" dirty="0">
              <a:solidFill>
                <a:schemeClr val="bg1">
                  <a:lumMod val="95000"/>
                </a:schemeClr>
              </a:solidFill>
            </a:endParaRPr>
          </a:p>
          <a:p>
            <a:pPr marL="742950" lvl="1" indent="-285750">
              <a:spcAft>
                <a:spcPts val="600"/>
              </a:spcAft>
              <a:buFont typeface="Arial" panose="020B0604020202020204" pitchFamily="34" charset="0"/>
              <a:buChar char="•"/>
            </a:pPr>
            <a:r>
              <a:rPr lang="it-IT" dirty="0">
                <a:solidFill>
                  <a:schemeClr val="bg1">
                    <a:lumMod val="95000"/>
                  </a:schemeClr>
                </a:solidFill>
              </a:rPr>
              <a:t>Validazione su un modello </a:t>
            </a:r>
            <a:r>
              <a:rPr lang="it-IT" b="1" i="1" dirty="0">
                <a:solidFill>
                  <a:schemeClr val="bg1">
                    <a:lumMod val="95000"/>
                  </a:schemeClr>
                </a:solidFill>
              </a:rPr>
              <a:t>hardware</a:t>
            </a:r>
            <a:r>
              <a:rPr lang="it-IT" i="1" dirty="0">
                <a:solidFill>
                  <a:schemeClr val="bg1">
                    <a:lumMod val="95000"/>
                  </a:schemeClr>
                </a:solidFill>
              </a:rPr>
              <a:t> </a:t>
            </a:r>
            <a:r>
              <a:rPr lang="it-IT" dirty="0">
                <a:solidFill>
                  <a:schemeClr val="bg1">
                    <a:lumMod val="95000"/>
                  </a:schemeClr>
                </a:solidFill>
              </a:rPr>
              <a:t>reale;</a:t>
            </a:r>
          </a:p>
          <a:p>
            <a:pPr marL="742950" lvl="1" indent="-285750">
              <a:spcAft>
                <a:spcPts val="600"/>
              </a:spcAft>
              <a:buFont typeface="Arial" panose="020B0604020202020204" pitchFamily="34" charset="0"/>
              <a:buChar char="•"/>
            </a:pPr>
            <a:r>
              <a:rPr lang="it-IT" dirty="0">
                <a:solidFill>
                  <a:schemeClr val="bg1">
                    <a:lumMod val="95000"/>
                  </a:schemeClr>
                </a:solidFill>
              </a:rPr>
              <a:t>Modelli di </a:t>
            </a:r>
            <a:r>
              <a:rPr lang="it-IT" b="1" dirty="0">
                <a:solidFill>
                  <a:schemeClr val="bg1">
                    <a:lumMod val="95000"/>
                  </a:schemeClr>
                </a:solidFill>
                <a:ea typeface="Open Sans Condensed" panose="020B0604020202020204" charset="0"/>
                <a:cs typeface="Open Sans Condensed" panose="020B0604020202020204" charset="0"/>
              </a:rPr>
              <a:t>disturbi</a:t>
            </a:r>
            <a:r>
              <a:rPr lang="it-IT" dirty="0">
                <a:solidFill>
                  <a:schemeClr val="bg1">
                    <a:lumMod val="95000"/>
                  </a:schemeClr>
                </a:solidFill>
                <a:ea typeface="Open Sans Condensed" panose="020B0604020202020204" charset="0"/>
                <a:cs typeface="Open Sans Condensed" panose="020B0604020202020204" charset="0"/>
              </a:rPr>
              <a:t> pi</a:t>
            </a:r>
            <a:r>
              <a:rPr lang="it-IT" dirty="0">
                <a:solidFill>
                  <a:schemeClr val="bg1">
                    <a:lumMod val="95000"/>
                  </a:schemeClr>
                </a:solidFill>
              </a:rPr>
              <a:t>ù </a:t>
            </a:r>
            <a:r>
              <a:rPr lang="it-IT" dirty="0">
                <a:solidFill>
                  <a:schemeClr val="bg1">
                    <a:lumMod val="95000"/>
                  </a:schemeClr>
                </a:solidFill>
                <a:ea typeface="Open Sans Condensed" panose="020B0604020202020204" charset="0"/>
                <a:cs typeface="Open Sans Condensed" panose="020B0604020202020204" charset="0"/>
              </a:rPr>
              <a:t>complessi </a:t>
            </a:r>
            <a:r>
              <a:rPr lang="it-IT" dirty="0">
                <a:solidFill>
                  <a:schemeClr val="bg1">
                    <a:lumMod val="95000"/>
                  </a:schemeClr>
                </a:solidFill>
              </a:rPr>
              <a:t>(ritardi, </a:t>
            </a:r>
            <a:r>
              <a:rPr lang="it-IT" i="1" dirty="0">
                <a:solidFill>
                  <a:schemeClr val="bg1">
                    <a:lumMod val="95000"/>
                  </a:schemeClr>
                </a:solidFill>
              </a:rPr>
              <a:t>burst, </a:t>
            </a:r>
            <a:r>
              <a:rPr lang="it-IT" dirty="0">
                <a:solidFill>
                  <a:schemeClr val="bg1">
                    <a:lumMod val="95000"/>
                  </a:schemeClr>
                </a:solidFill>
              </a:rPr>
              <a:t>…);</a:t>
            </a:r>
          </a:p>
          <a:p>
            <a:pPr marL="742950" lvl="1" indent="-285750">
              <a:spcAft>
                <a:spcPts val="600"/>
              </a:spcAft>
              <a:buFont typeface="Arial" panose="020B0604020202020204" pitchFamily="34" charset="0"/>
              <a:buChar char="•"/>
            </a:pPr>
            <a:r>
              <a:rPr lang="it-IT" dirty="0">
                <a:solidFill>
                  <a:schemeClr val="bg1">
                    <a:lumMod val="95000"/>
                  </a:schemeClr>
                </a:solidFill>
              </a:rPr>
              <a:t>Identificazione e controllo con </a:t>
            </a:r>
            <a:r>
              <a:rPr lang="it-IT" b="1" i="1" dirty="0">
                <a:solidFill>
                  <a:schemeClr val="bg1">
                    <a:lumMod val="95000"/>
                  </a:schemeClr>
                </a:solidFill>
              </a:rPr>
              <a:t>machine</a:t>
            </a:r>
            <a:r>
              <a:rPr lang="it-IT" i="1" dirty="0">
                <a:solidFill>
                  <a:schemeClr val="bg1">
                    <a:lumMod val="95000"/>
                  </a:schemeClr>
                </a:solidFill>
              </a:rPr>
              <a:t> </a:t>
            </a:r>
            <a:r>
              <a:rPr lang="it-IT" b="1" i="1" dirty="0">
                <a:solidFill>
                  <a:schemeClr val="bg1">
                    <a:lumMod val="95000"/>
                  </a:schemeClr>
                </a:solidFill>
              </a:rPr>
              <a:t>learning</a:t>
            </a:r>
            <a:r>
              <a:rPr lang="it-IT" i="1" dirty="0">
                <a:solidFill>
                  <a:schemeClr val="bg1">
                    <a:lumMod val="95000"/>
                  </a:schemeClr>
                </a:solidFill>
              </a:rPr>
              <a:t>;</a:t>
            </a:r>
          </a:p>
          <a:p>
            <a:pPr marL="742950" lvl="1" indent="-285750">
              <a:spcAft>
                <a:spcPts val="600"/>
              </a:spcAft>
              <a:buFont typeface="Arial" panose="020B0604020202020204" pitchFamily="34" charset="0"/>
              <a:buChar char="•"/>
            </a:pPr>
            <a:r>
              <a:rPr lang="it-IT" dirty="0">
                <a:solidFill>
                  <a:schemeClr val="bg1">
                    <a:lumMod val="95000"/>
                  </a:schemeClr>
                </a:solidFill>
              </a:rPr>
              <a:t>Approccio </a:t>
            </a:r>
            <a:r>
              <a:rPr lang="it-IT" b="1" dirty="0">
                <a:solidFill>
                  <a:schemeClr val="bg1">
                    <a:lumMod val="95000"/>
                  </a:schemeClr>
                </a:solidFill>
              </a:rPr>
              <a:t>stocastico</a:t>
            </a:r>
            <a:r>
              <a:rPr lang="it-IT" dirty="0">
                <a:solidFill>
                  <a:schemeClr val="bg1">
                    <a:lumMod val="95000"/>
                  </a:schemeClr>
                </a:solidFill>
              </a:rPr>
              <a:t> all’analisi della </a:t>
            </a:r>
            <a:r>
              <a:rPr lang="it-IT" b="1" dirty="0">
                <a:solidFill>
                  <a:schemeClr val="bg1">
                    <a:lumMod val="95000"/>
                  </a:schemeClr>
                </a:solidFill>
              </a:rPr>
              <a:t>stabilità</a:t>
            </a:r>
            <a:r>
              <a:rPr lang="it-IT" dirty="0">
                <a:solidFill>
                  <a:schemeClr val="bg1">
                    <a:lumMod val="95000"/>
                  </a:schemeClr>
                </a:solidFill>
              </a:rPr>
              <a:t>.</a:t>
            </a:r>
          </a:p>
        </p:txBody>
      </p:sp>
    </p:spTree>
    <p:extLst>
      <p:ext uri="{BB962C8B-B14F-4D97-AF65-F5344CB8AC3E}">
        <p14:creationId xmlns:p14="http://schemas.microsoft.com/office/powerpoint/2010/main" val="1800500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0AFE0103-846C-FBA5-DC5A-4423106F0B6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098046" y="601202"/>
            <a:ext cx="8432386" cy="9516172"/>
          </a:xfrm>
          <a:prstGeom prst="rect">
            <a:avLst/>
          </a:prstGeom>
        </p:spPr>
      </p:pic>
      <p:sp>
        <p:nvSpPr>
          <p:cNvPr id="15" name="Rettangolo 14">
            <a:extLst>
              <a:ext uri="{FF2B5EF4-FFF2-40B4-BE49-F238E27FC236}">
                <a16:creationId xmlns:a16="http://schemas.microsoft.com/office/drawing/2014/main" id="{FE2B4440-8059-B4E3-ED38-1F15C717BFB1}"/>
              </a:ext>
            </a:extLst>
          </p:cNvPr>
          <p:cNvSpPr/>
          <p:nvPr/>
        </p:nvSpPr>
        <p:spPr>
          <a:xfrm>
            <a:off x="0" y="5943602"/>
            <a:ext cx="12192000" cy="977153"/>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noProof="0"/>
          </a:p>
        </p:txBody>
      </p:sp>
      <p:sp>
        <p:nvSpPr>
          <p:cNvPr id="21" name="Rectangle 4">
            <a:extLst>
              <a:ext uri="{FF2B5EF4-FFF2-40B4-BE49-F238E27FC236}">
                <a16:creationId xmlns:a16="http://schemas.microsoft.com/office/drawing/2014/main" id="{508FC3AB-A64C-8A4B-0E15-0D4F7C93428D}"/>
              </a:ext>
            </a:extLst>
          </p:cNvPr>
          <p:cNvSpPr/>
          <p:nvPr/>
        </p:nvSpPr>
        <p:spPr>
          <a:xfrm>
            <a:off x="695325" y="970112"/>
            <a:ext cx="3932924" cy="326564"/>
          </a:xfrm>
          <a:prstGeom prst="rect">
            <a:avLst/>
          </a:prstGeom>
        </p:spPr>
        <p:txBody>
          <a:bodyPr wrap="square">
            <a:spAutoFit/>
          </a:bodyPr>
          <a:lstStyle/>
          <a:p>
            <a:pPr>
              <a:lnSpc>
                <a:spcPts val="1500"/>
              </a:lnSpc>
            </a:pPr>
            <a:r>
              <a:rPr lang="it-IT" sz="2500" b="1" noProof="0">
                <a:solidFill>
                  <a:srgbClr val="424242"/>
                </a:solidFill>
                <a:latin typeface="Atkinson Hyperlegible" pitchFamily="2" charset="77"/>
                <a:ea typeface="Roboto" panose="02000000000000000000" pitchFamily="2" charset="0"/>
                <a:cs typeface="Roboto" panose="02000000000000000000" pitchFamily="2" charset="0"/>
              </a:rPr>
              <a:t>Riferimenti Bibliografici</a:t>
            </a:r>
          </a:p>
        </p:txBody>
      </p:sp>
      <p:sp>
        <p:nvSpPr>
          <p:cNvPr id="22" name="Rectangle 4">
            <a:extLst>
              <a:ext uri="{FF2B5EF4-FFF2-40B4-BE49-F238E27FC236}">
                <a16:creationId xmlns:a16="http://schemas.microsoft.com/office/drawing/2014/main" id="{ED342509-A3AE-0C11-66DD-726D510EC007}"/>
              </a:ext>
            </a:extLst>
          </p:cNvPr>
          <p:cNvSpPr/>
          <p:nvPr/>
        </p:nvSpPr>
        <p:spPr>
          <a:xfrm>
            <a:off x="695324" y="1368644"/>
            <a:ext cx="5864502" cy="277255"/>
          </a:xfrm>
          <a:prstGeom prst="rect">
            <a:avLst/>
          </a:prstGeom>
        </p:spPr>
        <p:txBody>
          <a:bodyPr wrap="square">
            <a:spAutoFit/>
          </a:bodyPr>
          <a:lstStyle/>
          <a:p>
            <a:pPr>
              <a:lnSpc>
                <a:spcPts val="1500"/>
              </a:lnSpc>
            </a:pPr>
            <a:endParaRPr lang="it-IT" sz="1200" noProof="0">
              <a:solidFill>
                <a:srgbClr val="424242"/>
              </a:solidFill>
              <a:latin typeface="Atkinson Hyperlegible" pitchFamily="2" charset="77"/>
              <a:ea typeface="Roboto" panose="02000000000000000000" pitchFamily="2" charset="0"/>
              <a:cs typeface="Roboto" panose="02000000000000000000" pitchFamily="2" charset="0"/>
            </a:endParaRPr>
          </a:p>
        </p:txBody>
      </p:sp>
      <p:pic>
        <p:nvPicPr>
          <p:cNvPr id="28" name="Immagine 27">
            <a:extLst>
              <a:ext uri="{FF2B5EF4-FFF2-40B4-BE49-F238E27FC236}">
                <a16:creationId xmlns:a16="http://schemas.microsoft.com/office/drawing/2014/main" id="{1ED790A8-792E-FA49-2A56-98DFA5955EA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426078" y="6133296"/>
            <a:ext cx="2283511" cy="566274"/>
          </a:xfrm>
          <a:prstGeom prst="rect">
            <a:avLst/>
          </a:prstGeom>
        </p:spPr>
      </p:pic>
      <p:sp>
        <p:nvSpPr>
          <p:cNvPr id="10" name="CasellaDiTesto 9">
            <a:extLst>
              <a:ext uri="{FF2B5EF4-FFF2-40B4-BE49-F238E27FC236}">
                <a16:creationId xmlns:a16="http://schemas.microsoft.com/office/drawing/2014/main" id="{B92534FF-492C-1A34-990F-A57EA805CAE3}"/>
              </a:ext>
            </a:extLst>
          </p:cNvPr>
          <p:cNvSpPr txBox="1"/>
          <p:nvPr/>
        </p:nvSpPr>
        <p:spPr>
          <a:xfrm>
            <a:off x="695323" y="1555676"/>
            <a:ext cx="5001389" cy="4231928"/>
          </a:xfrm>
          <a:prstGeom prst="rect">
            <a:avLst/>
          </a:prstGeom>
          <a:noFill/>
        </p:spPr>
        <p:txBody>
          <a:bodyPr wrap="square">
            <a:spAutoFit/>
          </a:bodyPr>
          <a:lstStyle/>
          <a:p>
            <a:pPr marL="285750" indent="-285750">
              <a:spcAft>
                <a:spcPts val="1800"/>
              </a:spcAft>
              <a:buClr>
                <a:srgbClr val="1F7E9C"/>
              </a:buClr>
              <a:buFont typeface="Wingdings" panose="05000000000000000000" pitchFamily="2" charset="2"/>
              <a:buChar char="v"/>
            </a:pPr>
            <a:r>
              <a:rPr lang="en-US" sz="1600" b="1" dirty="0">
                <a:solidFill>
                  <a:schemeClr val="tx1">
                    <a:lumMod val="85000"/>
                    <a:lumOff val="15000"/>
                  </a:schemeClr>
                </a:solidFill>
                <a:latin typeface="Atkinson Hyperlegible" pitchFamily="2" charset="77"/>
              </a:rPr>
              <a:t>Chen Chi‑Tsong</a:t>
            </a:r>
            <a:r>
              <a:rPr lang="en-US" sz="1600" dirty="0">
                <a:solidFill>
                  <a:schemeClr val="tx1">
                    <a:lumMod val="85000"/>
                    <a:lumOff val="15000"/>
                  </a:schemeClr>
                </a:solidFill>
                <a:latin typeface="Atkinson Hyperlegible" pitchFamily="2" charset="77"/>
              </a:rPr>
              <a:t> Linear system theory and design – </a:t>
            </a:r>
            <a:r>
              <a:rPr lang="en-US" sz="1600" dirty="0">
                <a:latin typeface="Atkinson Hyperlegible" pitchFamily="2" charset="77"/>
              </a:rPr>
              <a:t>1999</a:t>
            </a:r>
            <a:r>
              <a:rPr lang="en-US" sz="1600" dirty="0">
                <a:solidFill>
                  <a:srgbClr val="1F7E9C"/>
                </a:solidFill>
                <a:latin typeface="Atkinson Hyperlegible" pitchFamily="2" charset="77"/>
              </a:rPr>
              <a:t> </a:t>
            </a:r>
            <a:r>
              <a:rPr lang="en-US" sz="1600" dirty="0">
                <a:solidFill>
                  <a:srgbClr val="1F7E9C"/>
                </a:solidFill>
                <a:latin typeface="Atkinson Hyperlegible" pitchFamily="2" charset="77"/>
                <a:hlinkClick r:id="rId4">
                  <a:extLst>
                    <a:ext uri="{A12FA001-AC4F-418D-AE19-62706E023703}">
                      <ahyp:hlinkClr xmlns:ahyp="http://schemas.microsoft.com/office/drawing/2018/hyperlinkcolor" val="tx"/>
                    </a:ext>
                  </a:extLst>
                </a:hlinkClick>
              </a:rPr>
              <a:t>https://doi.org/10.1016/0005-1098(86)90039-7</a:t>
            </a:r>
            <a:r>
              <a:rPr lang="en-US" sz="1600" dirty="0">
                <a:solidFill>
                  <a:schemeClr val="tx1">
                    <a:lumMod val="85000"/>
                    <a:lumOff val="15000"/>
                  </a:schemeClr>
                </a:solidFill>
                <a:latin typeface="Atkinson Hyperlegible" pitchFamily="2" charset="77"/>
              </a:rPr>
              <a:t>.</a:t>
            </a:r>
            <a:endParaRPr lang="it-IT" sz="1600" dirty="0">
              <a:solidFill>
                <a:schemeClr val="tx1">
                  <a:lumMod val="85000"/>
                  <a:lumOff val="15000"/>
                </a:schemeClr>
              </a:solidFill>
              <a:latin typeface="Atkinson Hyperlegible" pitchFamily="2" charset="77"/>
            </a:endParaRPr>
          </a:p>
          <a:p>
            <a:pPr marL="285750" indent="-285750">
              <a:spcAft>
                <a:spcPts val="1800"/>
              </a:spcAft>
              <a:buClr>
                <a:srgbClr val="1F7E9C"/>
              </a:buClr>
              <a:buFont typeface="Wingdings" panose="05000000000000000000" pitchFamily="2" charset="2"/>
              <a:buChar char="v"/>
            </a:pPr>
            <a:r>
              <a:rPr lang="en-US" sz="1600" b="1" dirty="0">
                <a:solidFill>
                  <a:schemeClr val="tx1">
                    <a:lumMod val="85000"/>
                    <a:lumOff val="15000"/>
                  </a:schemeClr>
                </a:solidFill>
                <a:latin typeface="Atkinson Hyperlegible" pitchFamily="2" charset="77"/>
              </a:rPr>
              <a:t>Dang Thai-Bao [et al.]</a:t>
            </a:r>
            <a:r>
              <a:rPr lang="en-US" sz="1600" dirty="0">
                <a:solidFill>
                  <a:schemeClr val="tx1">
                    <a:lumMod val="85000"/>
                    <a:lumOff val="15000"/>
                  </a:schemeClr>
                </a:solidFill>
                <a:latin typeface="Atkinson Hyperlegible" pitchFamily="2" charset="77"/>
              </a:rPr>
              <a:t> PID Control for Cart and Pole system: Simulation and Experiment – 2024 </a:t>
            </a:r>
            <a:r>
              <a:rPr lang="en-US" sz="1600" dirty="0">
                <a:solidFill>
                  <a:srgbClr val="1F7E9C"/>
                </a:solidFill>
                <a:latin typeface="Atkinson Hyperlegible" pitchFamily="2" charset="77"/>
                <a:hlinkClick r:id="rId5">
                  <a:extLst>
                    <a:ext uri="{A12FA001-AC4F-418D-AE19-62706E023703}">
                      <ahyp:hlinkClr xmlns:ahyp="http://schemas.microsoft.com/office/drawing/2018/hyperlinkcolor" val="tx"/>
                    </a:ext>
                  </a:extLst>
                </a:hlinkClick>
              </a:rPr>
              <a:t>https://ejournal.ptti.web.id/index.php/jfsc/article/view/165</a:t>
            </a:r>
            <a:r>
              <a:rPr lang="en-US" sz="1600" dirty="0">
                <a:solidFill>
                  <a:schemeClr val="tx1">
                    <a:lumMod val="85000"/>
                    <a:lumOff val="15000"/>
                  </a:schemeClr>
                </a:solidFill>
                <a:latin typeface="Atkinson Hyperlegible" pitchFamily="2" charset="77"/>
              </a:rPr>
              <a:t>.</a:t>
            </a:r>
            <a:endParaRPr lang="it-IT" sz="1600" dirty="0">
              <a:solidFill>
                <a:schemeClr val="tx1">
                  <a:lumMod val="85000"/>
                  <a:lumOff val="15000"/>
                </a:schemeClr>
              </a:solidFill>
              <a:latin typeface="Atkinson Hyperlegible" pitchFamily="2" charset="77"/>
            </a:endParaRPr>
          </a:p>
          <a:p>
            <a:pPr marL="285750" indent="-285750">
              <a:spcAft>
                <a:spcPts val="1800"/>
              </a:spcAft>
              <a:buClr>
                <a:srgbClr val="1F7E9C"/>
              </a:buClr>
              <a:buFont typeface="Wingdings" panose="05000000000000000000" pitchFamily="2" charset="2"/>
              <a:buChar char="v"/>
            </a:pPr>
            <a:r>
              <a:rPr lang="en-US" sz="1600" b="1" dirty="0">
                <a:solidFill>
                  <a:schemeClr val="tx1">
                    <a:lumMod val="85000"/>
                    <a:lumOff val="15000"/>
                  </a:schemeClr>
                </a:solidFill>
                <a:latin typeface="Atkinson Hyperlegible" pitchFamily="2" charset="77"/>
              </a:rPr>
              <a:t>Vivek Kumar </a:t>
            </a:r>
            <a:r>
              <a:rPr lang="en-US" sz="1600" b="1" dirty="0" err="1">
                <a:solidFill>
                  <a:schemeClr val="tx1">
                    <a:lumMod val="85000"/>
                    <a:lumOff val="15000"/>
                  </a:schemeClr>
                </a:solidFill>
                <a:latin typeface="Atkinson Hyperlegible" pitchFamily="2" charset="77"/>
              </a:rPr>
              <a:t>pathak</a:t>
            </a:r>
            <a:r>
              <a:rPr lang="en-US" sz="1600" b="1" dirty="0">
                <a:solidFill>
                  <a:schemeClr val="tx1">
                    <a:lumMod val="85000"/>
                    <a:lumOff val="15000"/>
                  </a:schemeClr>
                </a:solidFill>
                <a:latin typeface="Atkinson Hyperlegible" pitchFamily="2" charset="77"/>
              </a:rPr>
              <a:t> and Sankalp </a:t>
            </a:r>
            <a:r>
              <a:rPr lang="en-US" sz="1600" b="1" dirty="0" err="1">
                <a:solidFill>
                  <a:schemeClr val="tx1">
                    <a:lumMod val="85000"/>
                    <a:lumOff val="15000"/>
                  </a:schemeClr>
                </a:solidFill>
                <a:latin typeface="Atkinson Hyperlegible" pitchFamily="2" charset="77"/>
              </a:rPr>
              <a:t>paliwal</a:t>
            </a:r>
            <a:r>
              <a:rPr lang="en-US" sz="1600" dirty="0">
                <a:solidFill>
                  <a:schemeClr val="tx1">
                    <a:lumMod val="85000"/>
                    <a:lumOff val="15000"/>
                  </a:schemeClr>
                </a:solidFill>
                <a:latin typeface="Atkinson Hyperlegible" pitchFamily="2" charset="77"/>
              </a:rPr>
              <a:t> Analysis &amp; Control of Inverted Pendulum System Using PID Controller – 2017 </a:t>
            </a:r>
            <a:r>
              <a:rPr lang="en-US" sz="1600" dirty="0">
                <a:solidFill>
                  <a:srgbClr val="1F7E9C"/>
                </a:solidFill>
                <a:latin typeface="Atkinson Hyperlegible" pitchFamily="2" charset="77"/>
                <a:hlinkClick r:id="rId6">
                  <a:extLst>
                    <a:ext uri="{A12FA001-AC4F-418D-AE19-62706E023703}">
                      <ahyp:hlinkClr xmlns:ahyp="http://schemas.microsoft.com/office/drawing/2018/hyperlinkcolor" val="tx"/>
                    </a:ext>
                  </a:extLst>
                </a:hlinkClick>
              </a:rPr>
              <a:t>https://www.ijera.com/papers/Vol7_issue5/Part-4/A0705040104.pdf</a:t>
            </a:r>
            <a:r>
              <a:rPr lang="en-US" sz="1600" dirty="0">
                <a:solidFill>
                  <a:schemeClr val="tx1">
                    <a:lumMod val="85000"/>
                    <a:lumOff val="15000"/>
                  </a:schemeClr>
                </a:solidFill>
                <a:latin typeface="Atkinson Hyperlegible" pitchFamily="2" charset="77"/>
              </a:rPr>
              <a:t>.</a:t>
            </a:r>
          </a:p>
          <a:p>
            <a:pPr marL="285750" indent="-285750">
              <a:spcAft>
                <a:spcPts val="1800"/>
              </a:spcAft>
              <a:buClr>
                <a:srgbClr val="1F7E9C"/>
              </a:buClr>
              <a:buFont typeface="Wingdings" panose="05000000000000000000" pitchFamily="2" charset="2"/>
              <a:buChar char="v"/>
            </a:pPr>
            <a:r>
              <a:rPr lang="en-US" sz="1600" b="1" dirty="0"/>
              <a:t>The Internal Model Principle of Control Theory</a:t>
            </a:r>
            <a:r>
              <a:rPr lang="en-US" sz="1600" dirty="0"/>
              <a:t> [Journal] / auth. Francis Bruce and Wonham Walter // </a:t>
            </a:r>
            <a:r>
              <a:rPr lang="en-US" sz="1600" dirty="0" err="1"/>
              <a:t>Automatica</a:t>
            </a:r>
            <a:r>
              <a:rPr lang="en-US" sz="1600" dirty="0"/>
              <a:t> - 1976. - pp. 12(5), 457-465</a:t>
            </a:r>
            <a:endParaRPr lang="it-IT" sz="1400" dirty="0">
              <a:solidFill>
                <a:schemeClr val="tx1">
                  <a:lumMod val="85000"/>
                  <a:lumOff val="15000"/>
                </a:schemeClr>
              </a:solidFill>
              <a:latin typeface="Atkinson Hyperlegible" pitchFamily="2" charset="77"/>
            </a:endParaRPr>
          </a:p>
        </p:txBody>
      </p:sp>
    </p:spTree>
    <p:extLst>
      <p:ext uri="{BB962C8B-B14F-4D97-AF65-F5344CB8AC3E}">
        <p14:creationId xmlns:p14="http://schemas.microsoft.com/office/powerpoint/2010/main" val="2964081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12">
            <a:extLst>
              <a:ext uri="{FF2B5EF4-FFF2-40B4-BE49-F238E27FC236}">
                <a16:creationId xmlns:a16="http://schemas.microsoft.com/office/drawing/2014/main" id="{F5F12F4E-2CD3-2FEB-D253-4D6641AFC68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472357" y="-3509516"/>
            <a:ext cx="12296592" cy="13877031"/>
          </a:xfrm>
          <a:prstGeom prst="rect">
            <a:avLst/>
          </a:prstGeom>
        </p:spPr>
      </p:pic>
      <p:sp>
        <p:nvSpPr>
          <p:cNvPr id="33" name="Rectangle 3">
            <a:extLst>
              <a:ext uri="{FF2B5EF4-FFF2-40B4-BE49-F238E27FC236}">
                <a16:creationId xmlns:a16="http://schemas.microsoft.com/office/drawing/2014/main" id="{4146C6C0-8596-6116-3D21-A79FF0111A88}"/>
              </a:ext>
            </a:extLst>
          </p:cNvPr>
          <p:cNvSpPr/>
          <p:nvPr/>
        </p:nvSpPr>
        <p:spPr>
          <a:xfrm>
            <a:off x="789081" y="734915"/>
            <a:ext cx="7470097" cy="784830"/>
          </a:xfrm>
          <a:prstGeom prst="rect">
            <a:avLst/>
          </a:prstGeom>
        </p:spPr>
        <p:txBody>
          <a:bodyPr wrap="square">
            <a:spAutoFit/>
          </a:bodyPr>
          <a:lstStyle/>
          <a:p>
            <a:r>
              <a:rPr lang="en-US" sz="4500" b="1" spc="-150" dirty="0">
                <a:solidFill>
                  <a:schemeClr val="bg1"/>
                </a:solidFill>
                <a:latin typeface="Atkinson Hyperlegible" pitchFamily="2" charset="77"/>
                <a:ea typeface="Inter Bold" panose="02000503000000020004" pitchFamily="2" charset="0"/>
              </a:rPr>
              <a:t>Grazie per </a:t>
            </a:r>
            <a:r>
              <a:rPr lang="en-US" sz="4500" b="1" spc="-150" dirty="0" err="1">
                <a:solidFill>
                  <a:schemeClr val="bg1"/>
                </a:solidFill>
                <a:latin typeface="Atkinson Hyperlegible" pitchFamily="2" charset="77"/>
                <a:ea typeface="Inter Bold" panose="02000503000000020004" pitchFamily="2" charset="0"/>
              </a:rPr>
              <a:t>l’attenzione</a:t>
            </a:r>
            <a:r>
              <a:rPr lang="en-US" sz="4500" b="1" spc="-150" dirty="0">
                <a:solidFill>
                  <a:schemeClr val="bg1"/>
                </a:solidFill>
                <a:latin typeface="Atkinson Hyperlegible" pitchFamily="2" charset="77"/>
                <a:ea typeface="Inter Bold" panose="02000503000000020004" pitchFamily="2" charset="0"/>
              </a:rPr>
              <a:t>.</a:t>
            </a:r>
          </a:p>
        </p:txBody>
      </p:sp>
      <p:sp>
        <p:nvSpPr>
          <p:cNvPr id="35" name="Rectangle 4">
            <a:extLst>
              <a:ext uri="{FF2B5EF4-FFF2-40B4-BE49-F238E27FC236}">
                <a16:creationId xmlns:a16="http://schemas.microsoft.com/office/drawing/2014/main" id="{6E588A1F-0A78-18FB-4308-9E9AFF606FC8}"/>
              </a:ext>
            </a:extLst>
          </p:cNvPr>
          <p:cNvSpPr/>
          <p:nvPr/>
        </p:nvSpPr>
        <p:spPr>
          <a:xfrm>
            <a:off x="964922" y="1519745"/>
            <a:ext cx="5892291" cy="533095"/>
          </a:xfrm>
          <a:prstGeom prst="rect">
            <a:avLst/>
          </a:prstGeom>
        </p:spPr>
        <p:txBody>
          <a:bodyPr wrap="square">
            <a:spAutoFit/>
          </a:bodyPr>
          <a:lstStyle/>
          <a:p>
            <a:pPr>
              <a:lnSpc>
                <a:spcPts val="1500"/>
              </a:lnSpc>
            </a:pPr>
            <a:r>
              <a:rPr lang="en-US" sz="1400" dirty="0" err="1">
                <a:solidFill>
                  <a:schemeClr val="bg1"/>
                </a:solidFill>
                <a:latin typeface="Atkinson Hyperlegible" pitchFamily="2" charset="77"/>
                <a:ea typeface="Roboto" panose="02000000000000000000" pitchFamily="2" charset="0"/>
                <a:cs typeface="Roboto" panose="02000000000000000000" pitchFamily="2" charset="0"/>
              </a:rPr>
              <a:t>Dipartimento</a:t>
            </a:r>
            <a:r>
              <a:rPr lang="en-US" sz="1400" dirty="0">
                <a:solidFill>
                  <a:schemeClr val="bg1"/>
                </a:solidFill>
                <a:latin typeface="Atkinson Hyperlegible" pitchFamily="2" charset="77"/>
                <a:ea typeface="Roboto" panose="02000000000000000000" pitchFamily="2" charset="0"/>
                <a:cs typeface="Roboto" panose="02000000000000000000" pitchFamily="2" charset="0"/>
              </a:rPr>
              <a:t> di </a:t>
            </a:r>
            <a:r>
              <a:rPr lang="en-US" sz="1400" dirty="0" err="1">
                <a:solidFill>
                  <a:schemeClr val="bg1"/>
                </a:solidFill>
                <a:latin typeface="Atkinson Hyperlegible" pitchFamily="2" charset="77"/>
                <a:ea typeface="Roboto" panose="02000000000000000000" pitchFamily="2" charset="0"/>
                <a:cs typeface="Roboto" panose="02000000000000000000" pitchFamily="2" charset="0"/>
              </a:rPr>
              <a:t>Ingegneria</a:t>
            </a:r>
            <a:r>
              <a:rPr lang="en-US" sz="1400" dirty="0">
                <a:solidFill>
                  <a:schemeClr val="bg1"/>
                </a:solidFill>
                <a:latin typeface="Atkinson Hyperlegible" pitchFamily="2" charset="77"/>
                <a:ea typeface="Roboto" panose="02000000000000000000" pitchFamily="2" charset="0"/>
                <a:cs typeface="Roboto" panose="02000000000000000000" pitchFamily="2" charset="0"/>
              </a:rPr>
              <a:t> e </a:t>
            </a:r>
            <a:r>
              <a:rPr lang="en-US" sz="1400" dirty="0" err="1">
                <a:solidFill>
                  <a:schemeClr val="bg1"/>
                </a:solidFill>
                <a:latin typeface="Atkinson Hyperlegible" pitchFamily="2" charset="77"/>
                <a:ea typeface="Roboto" panose="02000000000000000000" pitchFamily="2" charset="0"/>
                <a:cs typeface="Roboto" panose="02000000000000000000" pitchFamily="2" charset="0"/>
              </a:rPr>
              <a:t>Scienze</a:t>
            </a:r>
            <a:r>
              <a:rPr lang="en-US" sz="1400" dirty="0">
                <a:solidFill>
                  <a:schemeClr val="bg1"/>
                </a:solidFill>
                <a:latin typeface="Atkinson Hyperlegible" pitchFamily="2" charset="77"/>
                <a:ea typeface="Roboto" panose="02000000000000000000" pitchFamily="2" charset="0"/>
                <a:cs typeface="Roboto" panose="02000000000000000000" pitchFamily="2" charset="0"/>
              </a:rPr>
              <a:t> </a:t>
            </a:r>
            <a:r>
              <a:rPr lang="en-US" sz="1400" dirty="0" err="1">
                <a:solidFill>
                  <a:schemeClr val="bg1"/>
                </a:solidFill>
                <a:latin typeface="Atkinson Hyperlegible" pitchFamily="2" charset="77"/>
                <a:ea typeface="Roboto" panose="02000000000000000000" pitchFamily="2" charset="0"/>
                <a:cs typeface="Roboto" panose="02000000000000000000" pitchFamily="2" charset="0"/>
              </a:rPr>
              <a:t>dell’Informazione</a:t>
            </a:r>
            <a:r>
              <a:rPr lang="en-US" sz="1400" dirty="0">
                <a:solidFill>
                  <a:schemeClr val="bg1"/>
                </a:solidFill>
                <a:latin typeface="Atkinson Hyperlegible" pitchFamily="2" charset="77"/>
                <a:ea typeface="Roboto" panose="02000000000000000000" pitchFamily="2" charset="0"/>
                <a:cs typeface="Roboto" panose="02000000000000000000" pitchFamily="2" charset="0"/>
              </a:rPr>
              <a:t> e </a:t>
            </a:r>
            <a:r>
              <a:rPr lang="en-US" sz="1400" dirty="0" err="1">
                <a:solidFill>
                  <a:schemeClr val="bg1"/>
                </a:solidFill>
                <a:latin typeface="Atkinson Hyperlegible" pitchFamily="2" charset="77"/>
                <a:ea typeface="Roboto" panose="02000000000000000000" pitchFamily="2" charset="0"/>
                <a:cs typeface="Roboto" panose="02000000000000000000" pitchFamily="2" charset="0"/>
              </a:rPr>
              <a:t>Matematica</a:t>
            </a:r>
            <a:endParaRPr lang="en-US" sz="1400" dirty="0">
              <a:solidFill>
                <a:schemeClr val="bg1"/>
              </a:solidFill>
              <a:latin typeface="Atkinson Hyperlegible" pitchFamily="2" charset="77"/>
              <a:ea typeface="Roboto" panose="02000000000000000000" pitchFamily="2" charset="0"/>
              <a:cs typeface="Roboto" panose="02000000000000000000" pitchFamily="2" charset="0"/>
            </a:endParaRPr>
          </a:p>
          <a:p>
            <a:pPr>
              <a:lnSpc>
                <a:spcPct val="150000"/>
              </a:lnSpc>
            </a:pPr>
            <a:r>
              <a:rPr lang="en-US" sz="1200" dirty="0" err="1">
                <a:solidFill>
                  <a:schemeClr val="bg1"/>
                </a:solidFill>
                <a:latin typeface="Atkinson Hyperlegible" pitchFamily="2" charset="77"/>
                <a:ea typeface="Roboto" panose="02000000000000000000" pitchFamily="2" charset="0"/>
                <a:cs typeface="Roboto" panose="02000000000000000000" pitchFamily="2" charset="0"/>
              </a:rPr>
              <a:t>Università</a:t>
            </a:r>
            <a:r>
              <a:rPr lang="en-US" sz="1200" dirty="0">
                <a:solidFill>
                  <a:schemeClr val="bg1"/>
                </a:solidFill>
                <a:latin typeface="Atkinson Hyperlegible" pitchFamily="2" charset="77"/>
                <a:ea typeface="Roboto" panose="02000000000000000000" pitchFamily="2" charset="0"/>
                <a:cs typeface="Roboto" panose="02000000000000000000" pitchFamily="2" charset="0"/>
              </a:rPr>
              <a:t> </a:t>
            </a:r>
            <a:r>
              <a:rPr lang="en-US" sz="1200" dirty="0" err="1">
                <a:solidFill>
                  <a:schemeClr val="bg1"/>
                </a:solidFill>
                <a:latin typeface="Atkinson Hyperlegible" pitchFamily="2" charset="77"/>
                <a:ea typeface="Roboto" panose="02000000000000000000" pitchFamily="2" charset="0"/>
                <a:cs typeface="Roboto" panose="02000000000000000000" pitchFamily="2" charset="0"/>
              </a:rPr>
              <a:t>degli</a:t>
            </a:r>
            <a:r>
              <a:rPr lang="en-US" sz="1200" dirty="0">
                <a:solidFill>
                  <a:schemeClr val="bg1"/>
                </a:solidFill>
                <a:latin typeface="Atkinson Hyperlegible" pitchFamily="2" charset="77"/>
                <a:ea typeface="Roboto" panose="02000000000000000000" pitchFamily="2" charset="0"/>
                <a:cs typeface="Roboto" panose="02000000000000000000" pitchFamily="2" charset="0"/>
              </a:rPr>
              <a:t> </a:t>
            </a:r>
            <a:r>
              <a:rPr lang="en-US" sz="1200" dirty="0" err="1">
                <a:solidFill>
                  <a:schemeClr val="bg1"/>
                </a:solidFill>
                <a:latin typeface="Atkinson Hyperlegible" pitchFamily="2" charset="77"/>
                <a:ea typeface="Roboto" panose="02000000000000000000" pitchFamily="2" charset="0"/>
                <a:cs typeface="Roboto" panose="02000000000000000000" pitchFamily="2" charset="0"/>
              </a:rPr>
              <a:t>Studi</a:t>
            </a:r>
            <a:r>
              <a:rPr lang="en-US" sz="1200" dirty="0">
                <a:solidFill>
                  <a:schemeClr val="bg1"/>
                </a:solidFill>
                <a:latin typeface="Atkinson Hyperlegible" pitchFamily="2" charset="77"/>
                <a:ea typeface="Roboto" panose="02000000000000000000" pitchFamily="2" charset="0"/>
                <a:cs typeface="Roboto" panose="02000000000000000000" pitchFamily="2" charset="0"/>
              </a:rPr>
              <a:t> </a:t>
            </a:r>
            <a:r>
              <a:rPr lang="en-US" sz="1200" dirty="0" err="1">
                <a:solidFill>
                  <a:schemeClr val="bg1"/>
                </a:solidFill>
                <a:latin typeface="Atkinson Hyperlegible" pitchFamily="2" charset="77"/>
                <a:ea typeface="Roboto" panose="02000000000000000000" pitchFamily="2" charset="0"/>
                <a:cs typeface="Roboto" panose="02000000000000000000" pitchFamily="2" charset="0"/>
              </a:rPr>
              <a:t>dell’Aquila</a:t>
            </a:r>
            <a:endParaRPr lang="en-US" sz="1200" dirty="0">
              <a:solidFill>
                <a:schemeClr val="bg1"/>
              </a:solidFill>
              <a:latin typeface="Atkinson Hyperlegible" pitchFamily="2" charset="77"/>
              <a:ea typeface="Roboto" panose="02000000000000000000" pitchFamily="2" charset="0"/>
              <a:cs typeface="Roboto" panose="02000000000000000000" pitchFamily="2" charset="0"/>
            </a:endParaRPr>
          </a:p>
        </p:txBody>
      </p:sp>
      <p:pic>
        <p:nvPicPr>
          <p:cNvPr id="10" name="Immagine 9">
            <a:extLst>
              <a:ext uri="{FF2B5EF4-FFF2-40B4-BE49-F238E27FC236}">
                <a16:creationId xmlns:a16="http://schemas.microsoft.com/office/drawing/2014/main" id="{D4CA6F8E-29EB-5360-F84F-3D267C99D4C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179573" y="5323349"/>
            <a:ext cx="3648902" cy="904869"/>
          </a:xfrm>
          <a:prstGeom prst="rect">
            <a:avLst/>
          </a:prstGeom>
        </p:spPr>
      </p:pic>
      <p:sp>
        <p:nvSpPr>
          <p:cNvPr id="2" name="Rectangle 4">
            <a:extLst>
              <a:ext uri="{FF2B5EF4-FFF2-40B4-BE49-F238E27FC236}">
                <a16:creationId xmlns:a16="http://schemas.microsoft.com/office/drawing/2014/main" id="{06ABE61B-F26E-3E17-E292-A758D6BE4781}"/>
              </a:ext>
            </a:extLst>
          </p:cNvPr>
          <p:cNvSpPr/>
          <p:nvPr/>
        </p:nvSpPr>
        <p:spPr>
          <a:xfrm>
            <a:off x="7896952" y="2752130"/>
            <a:ext cx="4048537" cy="1054135"/>
          </a:xfrm>
          <a:prstGeom prst="rect">
            <a:avLst/>
          </a:prstGeom>
        </p:spPr>
        <p:txBody>
          <a:bodyPr wrap="square" lIns="91440" tIns="45720" rIns="91440" bIns="45720" anchor="t">
            <a:spAutoFit/>
          </a:bodyPr>
          <a:lstStyle/>
          <a:p>
            <a:pPr algn="r">
              <a:lnSpc>
                <a:spcPts val="1500"/>
              </a:lnSpc>
            </a:pPr>
            <a:r>
              <a:rPr lang="it-IT" sz="1450" noProof="0" dirty="0">
                <a:latin typeface="Atkinson Hyperlegible"/>
                <a:ea typeface="Roboto"/>
                <a:cs typeface="Roboto"/>
              </a:rPr>
              <a:t>Relatore: Prof. D’Innocenzo Alessandro</a:t>
            </a:r>
          </a:p>
          <a:p>
            <a:pPr algn="r">
              <a:lnSpc>
                <a:spcPts val="1500"/>
              </a:lnSpc>
            </a:pPr>
            <a:r>
              <a:rPr lang="it-IT" sz="1450" noProof="0" dirty="0">
                <a:latin typeface="Atkinson Hyperlegible"/>
                <a:ea typeface="Roboto"/>
                <a:cs typeface="Roboto"/>
              </a:rPr>
              <a:t>Correlatore: </a:t>
            </a:r>
            <a:r>
              <a:rPr lang="it-IT" sz="1450" dirty="0">
                <a:latin typeface="Atkinson Hyperlegible"/>
                <a:ea typeface="Roboto"/>
                <a:cs typeface="Roboto"/>
              </a:rPr>
              <a:t>Prof</a:t>
            </a:r>
            <a:r>
              <a:rPr lang="it-IT" sz="1450" noProof="0" dirty="0">
                <a:latin typeface="Atkinson Hyperlegible"/>
                <a:ea typeface="Roboto"/>
                <a:cs typeface="Roboto"/>
              </a:rPr>
              <a:t>. Zacchia Lun Yuriy</a:t>
            </a:r>
            <a:br>
              <a:rPr lang="it-IT" sz="1400" noProof="0" dirty="0">
                <a:latin typeface="Atkinson Hyperlegible" pitchFamily="2" charset="77"/>
                <a:ea typeface="Roboto" panose="02000000000000000000" pitchFamily="2" charset="0"/>
                <a:cs typeface="Roboto" panose="02000000000000000000" pitchFamily="2" charset="0"/>
              </a:rPr>
            </a:br>
            <a:br>
              <a:rPr lang="it-IT" sz="1400" noProof="0" dirty="0">
                <a:latin typeface="Atkinson Hyperlegible" pitchFamily="2" charset="77"/>
                <a:ea typeface="Roboto" panose="02000000000000000000" pitchFamily="2" charset="0"/>
                <a:cs typeface="Roboto" panose="02000000000000000000" pitchFamily="2" charset="0"/>
              </a:rPr>
            </a:br>
            <a:br>
              <a:rPr lang="it-IT" sz="1400" noProof="0" dirty="0">
                <a:latin typeface="Atkinson Hyperlegible" pitchFamily="2" charset="77"/>
                <a:ea typeface="Roboto" panose="02000000000000000000" pitchFamily="2" charset="0"/>
                <a:cs typeface="Roboto" panose="02000000000000000000" pitchFamily="2" charset="0"/>
              </a:rPr>
            </a:br>
            <a:r>
              <a:rPr lang="it-IT" sz="1300" noProof="0" dirty="0">
                <a:latin typeface="Atkinson Hyperlegible"/>
                <a:ea typeface="Roboto"/>
                <a:cs typeface="Roboto"/>
              </a:rPr>
              <a:t>Anno accademico 2024-2025</a:t>
            </a:r>
            <a:endParaRPr lang="it-IT" sz="1200" noProof="0" dirty="0">
              <a:latin typeface="Atkinson Hyperlegible"/>
              <a:ea typeface="Roboto"/>
              <a:cs typeface="Roboto"/>
            </a:endParaRPr>
          </a:p>
        </p:txBody>
      </p:sp>
      <p:sp>
        <p:nvSpPr>
          <p:cNvPr id="3" name="Rectangle 4">
            <a:extLst>
              <a:ext uri="{FF2B5EF4-FFF2-40B4-BE49-F238E27FC236}">
                <a16:creationId xmlns:a16="http://schemas.microsoft.com/office/drawing/2014/main" id="{FD4BCE12-3CAA-5CC8-9517-FDD135F3B5E8}"/>
              </a:ext>
            </a:extLst>
          </p:cNvPr>
          <p:cNvSpPr/>
          <p:nvPr/>
        </p:nvSpPr>
        <p:spPr>
          <a:xfrm>
            <a:off x="709477" y="4805161"/>
            <a:ext cx="5358575" cy="723275"/>
          </a:xfrm>
          <a:prstGeom prst="rect">
            <a:avLst/>
          </a:prstGeom>
        </p:spPr>
        <p:txBody>
          <a:bodyPr wrap="square">
            <a:spAutoFit/>
          </a:bodyPr>
          <a:lstStyle/>
          <a:p>
            <a:r>
              <a:rPr lang="it-IT" sz="2000" b="1" i="1" noProof="0" dirty="0">
                <a:solidFill>
                  <a:schemeClr val="bg1"/>
                </a:solidFill>
                <a:latin typeface="Atkinson Hyperlegible" pitchFamily="2" charset="77"/>
                <a:ea typeface="Roboto" panose="02000000000000000000" pitchFamily="2" charset="0"/>
                <a:cs typeface="Roboto" panose="02000000000000000000" pitchFamily="2" charset="0"/>
              </a:rPr>
              <a:t>Laureando</a:t>
            </a:r>
            <a:r>
              <a:rPr lang="it-IT" sz="2000" b="1" noProof="0" dirty="0">
                <a:solidFill>
                  <a:schemeClr val="bg1"/>
                </a:solidFill>
                <a:latin typeface="Atkinson Hyperlegible" pitchFamily="2" charset="77"/>
                <a:ea typeface="Roboto" panose="02000000000000000000" pitchFamily="2" charset="0"/>
                <a:cs typeface="Roboto" panose="02000000000000000000" pitchFamily="2" charset="0"/>
              </a:rPr>
              <a:t>: </a:t>
            </a:r>
            <a:r>
              <a:rPr lang="it-IT" sz="2500" b="1" noProof="0" dirty="0">
                <a:solidFill>
                  <a:schemeClr val="bg1"/>
                </a:solidFill>
                <a:latin typeface="Atkinson Hyperlegible" pitchFamily="2" charset="77"/>
                <a:ea typeface="Roboto" panose="02000000000000000000" pitchFamily="2" charset="0"/>
                <a:cs typeface="Roboto" panose="02000000000000000000" pitchFamily="2" charset="0"/>
              </a:rPr>
              <a:t>Americo Cherubini</a:t>
            </a:r>
            <a:endParaRPr lang="it-IT" sz="1600" b="1" i="1" dirty="0">
              <a:solidFill>
                <a:schemeClr val="bg1"/>
              </a:solidFill>
              <a:latin typeface="Atkinson Hyperlegible" pitchFamily="2" charset="77"/>
              <a:ea typeface="Roboto" panose="02000000000000000000" pitchFamily="2" charset="0"/>
              <a:cs typeface="Roboto" panose="02000000000000000000" pitchFamily="2" charset="0"/>
            </a:endParaRPr>
          </a:p>
          <a:p>
            <a:r>
              <a:rPr lang="it-IT" sz="1600" b="1" i="1" noProof="0" dirty="0" err="1">
                <a:solidFill>
                  <a:schemeClr val="bg1"/>
                </a:solidFill>
                <a:latin typeface="Atkinson Hyperlegible" pitchFamily="2" charset="77"/>
                <a:ea typeface="Roboto" panose="02000000000000000000" pitchFamily="2" charset="0"/>
                <a:cs typeface="Roboto" panose="02000000000000000000" pitchFamily="2" charset="0"/>
              </a:rPr>
              <a:t>Mat</a:t>
            </a:r>
            <a:r>
              <a:rPr lang="it-IT" sz="1600" b="1" i="1" noProof="0" dirty="0">
                <a:solidFill>
                  <a:schemeClr val="bg1"/>
                </a:solidFill>
                <a:latin typeface="Atkinson Hyperlegible" pitchFamily="2" charset="77"/>
                <a:ea typeface="Roboto" panose="02000000000000000000" pitchFamily="2" charset="0"/>
                <a:cs typeface="Roboto" panose="02000000000000000000" pitchFamily="2" charset="0"/>
              </a:rPr>
              <a:t>. 289499</a:t>
            </a:r>
            <a:endParaRPr lang="it-IT" sz="2500" b="1" noProof="0" dirty="0">
              <a:solidFill>
                <a:schemeClr val="bg1"/>
              </a:solidFill>
              <a:latin typeface="Atkinson Hyperlegible" pitchFamily="2" charset="77"/>
              <a:ea typeface="Roboto" panose="02000000000000000000" pitchFamily="2" charset="0"/>
              <a:cs typeface="Roboto" panose="02000000000000000000" pitchFamily="2" charset="0"/>
            </a:endParaRPr>
          </a:p>
        </p:txBody>
      </p:sp>
      <p:sp>
        <p:nvSpPr>
          <p:cNvPr id="4" name="Rectangle 4">
            <a:extLst>
              <a:ext uri="{FF2B5EF4-FFF2-40B4-BE49-F238E27FC236}">
                <a16:creationId xmlns:a16="http://schemas.microsoft.com/office/drawing/2014/main" id="{9A0C32E0-E021-9468-4447-358F7727060F}"/>
              </a:ext>
            </a:extLst>
          </p:cNvPr>
          <p:cNvSpPr/>
          <p:nvPr/>
        </p:nvSpPr>
        <p:spPr>
          <a:xfrm>
            <a:off x="709477" y="5652899"/>
            <a:ext cx="5630927" cy="286297"/>
          </a:xfrm>
          <a:prstGeom prst="rect">
            <a:avLst/>
          </a:prstGeom>
        </p:spPr>
        <p:txBody>
          <a:bodyPr wrap="square">
            <a:spAutoFit/>
          </a:bodyPr>
          <a:lstStyle/>
          <a:p>
            <a:pPr>
              <a:lnSpc>
                <a:spcPts val="1500"/>
              </a:lnSpc>
            </a:pPr>
            <a:r>
              <a:rPr lang="it-IT" sz="1467" noProof="0" dirty="0">
                <a:solidFill>
                  <a:schemeClr val="bg1"/>
                </a:solidFill>
                <a:latin typeface="Atkinson Hyperlegible" pitchFamily="2" charset="77"/>
                <a:ea typeface="Roboto" panose="02000000000000000000" pitchFamily="2" charset="0"/>
                <a:cs typeface="Roboto" panose="02000000000000000000" pitchFamily="2" charset="0"/>
              </a:rPr>
              <a:t>Tesi di Laurea Triennale in Ingegneria dell’Informazione</a:t>
            </a:r>
            <a:endParaRPr lang="it-IT" sz="1200" noProof="0" dirty="0">
              <a:solidFill>
                <a:schemeClr val="bg1"/>
              </a:solidFill>
              <a:latin typeface="Atkinson Hyperlegible" pitchFamily="2" charset="77"/>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748579173"/>
      </p:ext>
    </p:extLst>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sld>
</file>

<file path=ppt/theme/theme1.xml><?xml version="1.0" encoding="utf-8"?>
<a:theme xmlns:a="http://schemas.openxmlformats.org/drawingml/2006/main" name="Office Theme">
  <a:themeElements>
    <a:clrScheme name="Custom 44">
      <a:dk1>
        <a:sysClr val="windowText" lastClr="000000"/>
      </a:dk1>
      <a:lt1>
        <a:sysClr val="window" lastClr="FFFFFF"/>
      </a:lt1>
      <a:dk2>
        <a:srgbClr val="44546A"/>
      </a:dk2>
      <a:lt2>
        <a:srgbClr val="E7E6E6"/>
      </a:lt2>
      <a:accent1>
        <a:srgbClr val="2F31F9"/>
      </a:accent1>
      <a:accent2>
        <a:srgbClr val="FFC000"/>
      </a:accent2>
      <a:accent3>
        <a:srgbClr val="FFFFFF"/>
      </a:accent3>
      <a:accent4>
        <a:srgbClr val="FFFFFF"/>
      </a:accent4>
      <a:accent5>
        <a:srgbClr val="FFFFFF"/>
      </a:accent5>
      <a:accent6>
        <a:srgbClr val="FFFFFF"/>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35542D5EE5DE5045A01EDCABFBDE027B" ma:contentTypeVersion="10" ma:contentTypeDescription="Creare un nuovo documento." ma:contentTypeScope="" ma:versionID="c5f4603f29b198122b2d86fea548dbf8">
  <xsd:schema xmlns:xsd="http://www.w3.org/2001/XMLSchema" xmlns:xs="http://www.w3.org/2001/XMLSchema" xmlns:p="http://schemas.microsoft.com/office/2006/metadata/properties" xmlns:ns3="f46a9950-fd3f-4731-a2be-81d3daeaf665" targetNamespace="http://schemas.microsoft.com/office/2006/metadata/properties" ma:root="true" ma:fieldsID="28fd984dde67d999fd17baf9d56a74a4" ns3:_="">
    <xsd:import namespace="f46a9950-fd3f-4731-a2be-81d3daeaf665"/>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46a9950-fd3f-4731-a2be-81d3daeaf665"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f46a9950-fd3f-4731-a2be-81d3daeaf665" xsi:nil="true"/>
  </documentManagement>
</p:properties>
</file>

<file path=customXml/itemProps1.xml><?xml version="1.0" encoding="utf-8"?>
<ds:datastoreItem xmlns:ds="http://schemas.openxmlformats.org/officeDocument/2006/customXml" ds:itemID="{ABAD60AD-E7A9-4574-B2B3-A83B408F4D9B}">
  <ds:schemaRefs>
    <ds:schemaRef ds:uri="http://schemas.microsoft.com/sharepoint/v3/contenttype/forms"/>
  </ds:schemaRefs>
</ds:datastoreItem>
</file>

<file path=customXml/itemProps2.xml><?xml version="1.0" encoding="utf-8"?>
<ds:datastoreItem xmlns:ds="http://schemas.openxmlformats.org/officeDocument/2006/customXml" ds:itemID="{B50825CC-9D41-432C-89BB-FE56C2C1F05F}">
  <ds:schemaRefs>
    <ds:schemaRef ds:uri="f46a9950-fd3f-4731-a2be-81d3daeaf66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D727B60-781D-4ACC-B115-A22B80241F79}">
  <ds:schemaRefs>
    <ds:schemaRef ds:uri="http://purl.org/dc/elements/1.1/"/>
    <ds:schemaRef ds:uri="http://schemas.microsoft.com/office/2006/metadata/properties"/>
    <ds:schemaRef ds:uri="f46a9950-fd3f-4731-a2be-81d3daeaf665"/>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1641</TotalTime>
  <Words>3198</Words>
  <Application>Microsoft Office PowerPoint</Application>
  <PresentationFormat>Widescreen</PresentationFormat>
  <Paragraphs>255</Paragraphs>
  <Slides>16</Slides>
  <Notes>14</Notes>
  <HiddenSlides>0</HiddenSlides>
  <MMClips>0</MMClips>
  <ScaleCrop>false</ScaleCrop>
  <HeadingPairs>
    <vt:vector size="6" baseType="variant">
      <vt:variant>
        <vt:lpstr>Caratteri utilizzati</vt:lpstr>
      </vt:variant>
      <vt:variant>
        <vt:i4>9</vt:i4>
      </vt:variant>
      <vt:variant>
        <vt:lpstr>Tema</vt:lpstr>
      </vt:variant>
      <vt:variant>
        <vt:i4>1</vt:i4>
      </vt:variant>
      <vt:variant>
        <vt:lpstr>Titoli diapositive</vt:lpstr>
      </vt:variant>
      <vt:variant>
        <vt:i4>16</vt:i4>
      </vt:variant>
    </vt:vector>
  </HeadingPairs>
  <TitlesOfParts>
    <vt:vector size="26" baseType="lpstr">
      <vt:lpstr>Arial</vt:lpstr>
      <vt:lpstr>Atkinson Hyperlegible</vt:lpstr>
      <vt:lpstr>Calibri</vt:lpstr>
      <vt:lpstr>Cambria Math</vt:lpstr>
      <vt:lpstr>Courier New</vt:lpstr>
      <vt:lpstr>Open Sans Condensed</vt:lpstr>
      <vt:lpstr>Poppins</vt:lpstr>
      <vt:lpstr>Times New Roman</vt:lpstr>
      <vt:lpstr>Wingdings</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Sk Nirob</dc:creator>
  <cp:lastModifiedBy>Americo Cherubini</cp:lastModifiedBy>
  <cp:revision>65</cp:revision>
  <dcterms:created xsi:type="dcterms:W3CDTF">2024-10-03T05:42:43Z</dcterms:created>
  <dcterms:modified xsi:type="dcterms:W3CDTF">2025-07-22T19:14:18Z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0x01010035542D5EE5DE5045A01EDCABFBDE027B</vt:lpwstr>
  </property>
</Properties>
</file>