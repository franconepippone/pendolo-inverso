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305" r:id="rId5"/>
    <p:sldId id="301" r:id="rId6"/>
    <p:sldId id="293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291" r:id="rId17"/>
    <p:sldId id="30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38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2160">
          <p15:clr>
            <a:srgbClr val="A4A3A4"/>
          </p15:clr>
        </p15:guide>
        <p15:guide id="5" pos="5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96B5"/>
    <a:srgbClr val="2BADD5"/>
    <a:srgbClr val="1F7E9C"/>
    <a:srgbClr val="080808"/>
    <a:srgbClr val="424242"/>
    <a:srgbClr val="F68631"/>
    <a:srgbClr val="A03A8D"/>
    <a:srgbClr val="686969"/>
    <a:srgbClr val="E21932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D9996B-4046-0BD4-D38A-210E0E0C667C}" v="10" dt="2025-07-18T21:53:57.862"/>
    <p1510:client id="{65F7155F-754E-414C-9BF5-626D0B55A15C}" v="985" dt="2025-07-18T21:54:10.0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74" autoAdjust="0"/>
    <p:restoredTop sz="96532" autoAdjust="0"/>
  </p:normalViewPr>
  <p:slideViewPr>
    <p:cSldViewPr snapToGrid="0" showGuides="1">
      <p:cViewPr varScale="1">
        <p:scale>
          <a:sx n="111" d="100"/>
          <a:sy n="111" d="100"/>
        </p:scale>
        <p:origin x="1008" y="78"/>
      </p:cViewPr>
      <p:guideLst>
        <p:guide pos="438"/>
        <p:guide pos="7287"/>
        <p:guide orient="horz" pos="2160"/>
        <p:guide pos="5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386CD-5F94-4069-B86B-B77DBC7E53F4}" type="datetimeFigureOut">
              <a:rPr lang="en-US" smtClean="0"/>
              <a:t>7/20/2025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AE05B-DE45-46FB-8F49-5AB447A5654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045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2579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B7EB77-7145-63A8-404E-5A16941551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18456" y="2451102"/>
            <a:ext cx="3888645" cy="3911599"/>
          </a:xfrm>
          <a:custGeom>
            <a:avLst/>
            <a:gdLst>
              <a:gd name="connsiteX0" fmla="*/ 0 w 3888645"/>
              <a:gd name="connsiteY0" fmla="*/ 0 h 3911599"/>
              <a:gd name="connsiteX1" fmla="*/ 3888645 w 3888645"/>
              <a:gd name="connsiteY1" fmla="*/ 0 h 3911599"/>
              <a:gd name="connsiteX2" fmla="*/ 3888645 w 3888645"/>
              <a:gd name="connsiteY2" fmla="*/ 3911599 h 3911599"/>
              <a:gd name="connsiteX3" fmla="*/ 0 w 3888645"/>
              <a:gd name="connsiteY3" fmla="*/ 3911599 h 3911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8645" h="3911599">
                <a:moveTo>
                  <a:pt x="0" y="0"/>
                </a:moveTo>
                <a:lnTo>
                  <a:pt x="3888645" y="0"/>
                </a:lnTo>
                <a:lnTo>
                  <a:pt x="3888645" y="3911599"/>
                </a:lnTo>
                <a:lnTo>
                  <a:pt x="0" y="391159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6781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3DB3EE5-75EE-1725-6556-842D021F80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53050" y="4313549"/>
            <a:ext cx="3039458" cy="2049151"/>
          </a:xfrm>
          <a:custGeom>
            <a:avLst/>
            <a:gdLst>
              <a:gd name="connsiteX0" fmla="*/ 0 w 3039458"/>
              <a:gd name="connsiteY0" fmla="*/ 0 h 2049151"/>
              <a:gd name="connsiteX1" fmla="*/ 3039458 w 3039458"/>
              <a:gd name="connsiteY1" fmla="*/ 0 h 2049151"/>
              <a:gd name="connsiteX2" fmla="*/ 3039458 w 3039458"/>
              <a:gd name="connsiteY2" fmla="*/ 2049151 h 2049151"/>
              <a:gd name="connsiteX3" fmla="*/ 0 w 3039458"/>
              <a:gd name="connsiteY3" fmla="*/ 2049151 h 204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9458" h="2049151">
                <a:moveTo>
                  <a:pt x="0" y="0"/>
                </a:moveTo>
                <a:lnTo>
                  <a:pt x="3039458" y="0"/>
                </a:lnTo>
                <a:lnTo>
                  <a:pt x="3039458" y="2049151"/>
                </a:lnTo>
                <a:lnTo>
                  <a:pt x="0" y="204915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1E4D20-73C5-DC22-5F6B-279C1B764F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80218" y="2133600"/>
            <a:ext cx="3064082" cy="4229100"/>
          </a:xfrm>
          <a:custGeom>
            <a:avLst/>
            <a:gdLst>
              <a:gd name="connsiteX0" fmla="*/ 0 w 3064082"/>
              <a:gd name="connsiteY0" fmla="*/ 0 h 4229100"/>
              <a:gd name="connsiteX1" fmla="*/ 3064082 w 3064082"/>
              <a:gd name="connsiteY1" fmla="*/ 0 h 4229100"/>
              <a:gd name="connsiteX2" fmla="*/ 3064082 w 3064082"/>
              <a:gd name="connsiteY2" fmla="*/ 4229100 h 4229100"/>
              <a:gd name="connsiteX3" fmla="*/ 0 w 3064082"/>
              <a:gd name="connsiteY3" fmla="*/ 4229100 h 422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4082" h="4229100">
                <a:moveTo>
                  <a:pt x="0" y="0"/>
                </a:moveTo>
                <a:lnTo>
                  <a:pt x="3064082" y="0"/>
                </a:lnTo>
                <a:lnTo>
                  <a:pt x="3064082" y="4229100"/>
                </a:lnTo>
                <a:lnTo>
                  <a:pt x="0" y="42291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2EA67-548A-D12E-CBBB-44C3168F00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53050" y="2133600"/>
            <a:ext cx="3039458" cy="2091981"/>
          </a:xfrm>
          <a:custGeom>
            <a:avLst/>
            <a:gdLst>
              <a:gd name="connsiteX0" fmla="*/ 0 w 3039458"/>
              <a:gd name="connsiteY0" fmla="*/ 0 h 2091981"/>
              <a:gd name="connsiteX1" fmla="*/ 3039458 w 3039458"/>
              <a:gd name="connsiteY1" fmla="*/ 0 h 2091981"/>
              <a:gd name="connsiteX2" fmla="*/ 3039458 w 3039458"/>
              <a:gd name="connsiteY2" fmla="*/ 2091981 h 2091981"/>
              <a:gd name="connsiteX3" fmla="*/ 0 w 3039458"/>
              <a:gd name="connsiteY3" fmla="*/ 2091981 h 2091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9458" h="2091981">
                <a:moveTo>
                  <a:pt x="0" y="0"/>
                </a:moveTo>
                <a:lnTo>
                  <a:pt x="3039458" y="0"/>
                </a:lnTo>
                <a:lnTo>
                  <a:pt x="3039458" y="2091981"/>
                </a:lnTo>
                <a:lnTo>
                  <a:pt x="0" y="209198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294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63DA20A-2716-8B83-F3C1-04515FE03C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07715" y="2104571"/>
            <a:ext cx="2061028" cy="1944915"/>
          </a:xfrm>
          <a:custGeom>
            <a:avLst/>
            <a:gdLst>
              <a:gd name="connsiteX0" fmla="*/ 0 w 2061028"/>
              <a:gd name="connsiteY0" fmla="*/ 0 h 1944915"/>
              <a:gd name="connsiteX1" fmla="*/ 2061028 w 2061028"/>
              <a:gd name="connsiteY1" fmla="*/ 0 h 1944915"/>
              <a:gd name="connsiteX2" fmla="*/ 2061028 w 2061028"/>
              <a:gd name="connsiteY2" fmla="*/ 1944915 h 1944915"/>
              <a:gd name="connsiteX3" fmla="*/ 0 w 2061028"/>
              <a:gd name="connsiteY3" fmla="*/ 1944915 h 1944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1028" h="1944915">
                <a:moveTo>
                  <a:pt x="0" y="0"/>
                </a:moveTo>
                <a:lnTo>
                  <a:pt x="2061028" y="0"/>
                </a:lnTo>
                <a:lnTo>
                  <a:pt x="2061028" y="1944915"/>
                </a:lnTo>
                <a:lnTo>
                  <a:pt x="0" y="194491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022B64-F603-2E69-FBD6-515641D8358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12895" y="2104571"/>
            <a:ext cx="2061028" cy="1944915"/>
          </a:xfrm>
          <a:custGeom>
            <a:avLst/>
            <a:gdLst>
              <a:gd name="connsiteX0" fmla="*/ 0 w 2061028"/>
              <a:gd name="connsiteY0" fmla="*/ 0 h 1944915"/>
              <a:gd name="connsiteX1" fmla="*/ 2061028 w 2061028"/>
              <a:gd name="connsiteY1" fmla="*/ 0 h 1944915"/>
              <a:gd name="connsiteX2" fmla="*/ 2061028 w 2061028"/>
              <a:gd name="connsiteY2" fmla="*/ 1944915 h 1944915"/>
              <a:gd name="connsiteX3" fmla="*/ 0 w 2061028"/>
              <a:gd name="connsiteY3" fmla="*/ 1944915 h 1944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1028" h="1944915">
                <a:moveTo>
                  <a:pt x="0" y="0"/>
                </a:moveTo>
                <a:lnTo>
                  <a:pt x="2061028" y="0"/>
                </a:lnTo>
                <a:lnTo>
                  <a:pt x="2061028" y="1944915"/>
                </a:lnTo>
                <a:lnTo>
                  <a:pt x="0" y="194491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56B027-6D60-1FF7-1DF7-8D6263BF60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18076" y="2104571"/>
            <a:ext cx="2061028" cy="1944915"/>
          </a:xfrm>
          <a:custGeom>
            <a:avLst/>
            <a:gdLst>
              <a:gd name="connsiteX0" fmla="*/ 0 w 2061028"/>
              <a:gd name="connsiteY0" fmla="*/ 0 h 1944915"/>
              <a:gd name="connsiteX1" fmla="*/ 2061028 w 2061028"/>
              <a:gd name="connsiteY1" fmla="*/ 0 h 1944915"/>
              <a:gd name="connsiteX2" fmla="*/ 2061028 w 2061028"/>
              <a:gd name="connsiteY2" fmla="*/ 1944915 h 1944915"/>
              <a:gd name="connsiteX3" fmla="*/ 0 w 2061028"/>
              <a:gd name="connsiteY3" fmla="*/ 1944915 h 1944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1028" h="1944915">
                <a:moveTo>
                  <a:pt x="0" y="0"/>
                </a:moveTo>
                <a:lnTo>
                  <a:pt x="2061028" y="0"/>
                </a:lnTo>
                <a:lnTo>
                  <a:pt x="2061028" y="1944915"/>
                </a:lnTo>
                <a:lnTo>
                  <a:pt x="0" y="194491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B7AF0D-E10A-52F2-BECF-3DAEC3178A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3257" y="2104571"/>
            <a:ext cx="2061028" cy="1944915"/>
          </a:xfrm>
          <a:custGeom>
            <a:avLst/>
            <a:gdLst>
              <a:gd name="connsiteX0" fmla="*/ 0 w 2061028"/>
              <a:gd name="connsiteY0" fmla="*/ 0 h 1944915"/>
              <a:gd name="connsiteX1" fmla="*/ 2061028 w 2061028"/>
              <a:gd name="connsiteY1" fmla="*/ 0 h 1944915"/>
              <a:gd name="connsiteX2" fmla="*/ 2061028 w 2061028"/>
              <a:gd name="connsiteY2" fmla="*/ 1944915 h 1944915"/>
              <a:gd name="connsiteX3" fmla="*/ 0 w 2061028"/>
              <a:gd name="connsiteY3" fmla="*/ 1944915 h 1944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1028" h="1944915">
                <a:moveTo>
                  <a:pt x="0" y="0"/>
                </a:moveTo>
                <a:lnTo>
                  <a:pt x="2061028" y="0"/>
                </a:lnTo>
                <a:lnTo>
                  <a:pt x="2061028" y="1944915"/>
                </a:lnTo>
                <a:lnTo>
                  <a:pt x="0" y="194491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300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1AF3C3C-BCCC-2C79-4E02-D65ADDA277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42834" y="2253345"/>
            <a:ext cx="1815624" cy="1815624"/>
          </a:xfrm>
          <a:custGeom>
            <a:avLst/>
            <a:gdLst>
              <a:gd name="connsiteX0" fmla="*/ 907812 w 1815624"/>
              <a:gd name="connsiteY0" fmla="*/ 0 h 1815624"/>
              <a:gd name="connsiteX1" fmla="*/ 1815624 w 1815624"/>
              <a:gd name="connsiteY1" fmla="*/ 907812 h 1815624"/>
              <a:gd name="connsiteX2" fmla="*/ 907812 w 1815624"/>
              <a:gd name="connsiteY2" fmla="*/ 1815624 h 1815624"/>
              <a:gd name="connsiteX3" fmla="*/ 0 w 1815624"/>
              <a:gd name="connsiteY3" fmla="*/ 907812 h 1815624"/>
              <a:gd name="connsiteX4" fmla="*/ 907812 w 1815624"/>
              <a:gd name="connsiteY4" fmla="*/ 0 h 1815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5624" h="1815624">
                <a:moveTo>
                  <a:pt x="907812" y="0"/>
                </a:moveTo>
                <a:cubicBezTo>
                  <a:pt x="1409183" y="0"/>
                  <a:pt x="1815624" y="406441"/>
                  <a:pt x="1815624" y="907812"/>
                </a:cubicBezTo>
                <a:cubicBezTo>
                  <a:pt x="1815624" y="1409183"/>
                  <a:pt x="1409183" y="1815624"/>
                  <a:pt x="907812" y="1815624"/>
                </a:cubicBezTo>
                <a:cubicBezTo>
                  <a:pt x="406441" y="1815624"/>
                  <a:pt x="0" y="1409183"/>
                  <a:pt x="0" y="907812"/>
                </a:cubicBezTo>
                <a:cubicBezTo>
                  <a:pt x="0" y="406441"/>
                  <a:pt x="406441" y="0"/>
                  <a:pt x="90781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F4E5CA1-2592-67BD-F972-CC5766B9CE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73071" y="2253345"/>
            <a:ext cx="1815624" cy="1815624"/>
          </a:xfrm>
          <a:custGeom>
            <a:avLst/>
            <a:gdLst>
              <a:gd name="connsiteX0" fmla="*/ 907812 w 1815624"/>
              <a:gd name="connsiteY0" fmla="*/ 0 h 1815624"/>
              <a:gd name="connsiteX1" fmla="*/ 1815624 w 1815624"/>
              <a:gd name="connsiteY1" fmla="*/ 907812 h 1815624"/>
              <a:gd name="connsiteX2" fmla="*/ 907812 w 1815624"/>
              <a:gd name="connsiteY2" fmla="*/ 1815624 h 1815624"/>
              <a:gd name="connsiteX3" fmla="*/ 0 w 1815624"/>
              <a:gd name="connsiteY3" fmla="*/ 907812 h 1815624"/>
              <a:gd name="connsiteX4" fmla="*/ 907812 w 1815624"/>
              <a:gd name="connsiteY4" fmla="*/ 0 h 1815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5624" h="1815624">
                <a:moveTo>
                  <a:pt x="907812" y="0"/>
                </a:moveTo>
                <a:cubicBezTo>
                  <a:pt x="1409183" y="0"/>
                  <a:pt x="1815624" y="406441"/>
                  <a:pt x="1815624" y="907812"/>
                </a:cubicBezTo>
                <a:cubicBezTo>
                  <a:pt x="1815624" y="1409183"/>
                  <a:pt x="1409183" y="1815624"/>
                  <a:pt x="907812" y="1815624"/>
                </a:cubicBezTo>
                <a:cubicBezTo>
                  <a:pt x="406441" y="1815624"/>
                  <a:pt x="0" y="1409183"/>
                  <a:pt x="0" y="907812"/>
                </a:cubicBezTo>
                <a:cubicBezTo>
                  <a:pt x="0" y="406441"/>
                  <a:pt x="406441" y="0"/>
                  <a:pt x="90781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620A915-C261-93EE-A5A0-D79149EF100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3307" y="2253345"/>
            <a:ext cx="1815624" cy="1815624"/>
          </a:xfrm>
          <a:custGeom>
            <a:avLst/>
            <a:gdLst>
              <a:gd name="connsiteX0" fmla="*/ 907812 w 1815624"/>
              <a:gd name="connsiteY0" fmla="*/ 0 h 1815624"/>
              <a:gd name="connsiteX1" fmla="*/ 1815624 w 1815624"/>
              <a:gd name="connsiteY1" fmla="*/ 907812 h 1815624"/>
              <a:gd name="connsiteX2" fmla="*/ 907812 w 1815624"/>
              <a:gd name="connsiteY2" fmla="*/ 1815624 h 1815624"/>
              <a:gd name="connsiteX3" fmla="*/ 0 w 1815624"/>
              <a:gd name="connsiteY3" fmla="*/ 907812 h 1815624"/>
              <a:gd name="connsiteX4" fmla="*/ 907812 w 1815624"/>
              <a:gd name="connsiteY4" fmla="*/ 0 h 1815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5624" h="1815624">
                <a:moveTo>
                  <a:pt x="907812" y="0"/>
                </a:moveTo>
                <a:cubicBezTo>
                  <a:pt x="1409183" y="0"/>
                  <a:pt x="1815624" y="406441"/>
                  <a:pt x="1815624" y="907812"/>
                </a:cubicBezTo>
                <a:cubicBezTo>
                  <a:pt x="1815624" y="1409183"/>
                  <a:pt x="1409183" y="1815624"/>
                  <a:pt x="907812" y="1815624"/>
                </a:cubicBezTo>
                <a:cubicBezTo>
                  <a:pt x="406441" y="1815624"/>
                  <a:pt x="0" y="1409183"/>
                  <a:pt x="0" y="907812"/>
                </a:cubicBezTo>
                <a:cubicBezTo>
                  <a:pt x="0" y="406441"/>
                  <a:pt x="406441" y="0"/>
                  <a:pt x="90781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188AB0-7975-4D9E-A89E-D1E80A11D2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3543" y="2253345"/>
            <a:ext cx="1815624" cy="1815624"/>
          </a:xfrm>
          <a:custGeom>
            <a:avLst/>
            <a:gdLst>
              <a:gd name="connsiteX0" fmla="*/ 907812 w 1815624"/>
              <a:gd name="connsiteY0" fmla="*/ 0 h 1815624"/>
              <a:gd name="connsiteX1" fmla="*/ 1815624 w 1815624"/>
              <a:gd name="connsiteY1" fmla="*/ 907812 h 1815624"/>
              <a:gd name="connsiteX2" fmla="*/ 907812 w 1815624"/>
              <a:gd name="connsiteY2" fmla="*/ 1815624 h 1815624"/>
              <a:gd name="connsiteX3" fmla="*/ 0 w 1815624"/>
              <a:gd name="connsiteY3" fmla="*/ 907812 h 1815624"/>
              <a:gd name="connsiteX4" fmla="*/ 907812 w 1815624"/>
              <a:gd name="connsiteY4" fmla="*/ 0 h 1815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5624" h="1815624">
                <a:moveTo>
                  <a:pt x="907812" y="0"/>
                </a:moveTo>
                <a:cubicBezTo>
                  <a:pt x="1409183" y="0"/>
                  <a:pt x="1815624" y="406441"/>
                  <a:pt x="1815624" y="907812"/>
                </a:cubicBezTo>
                <a:cubicBezTo>
                  <a:pt x="1815624" y="1409183"/>
                  <a:pt x="1409183" y="1815624"/>
                  <a:pt x="907812" y="1815624"/>
                </a:cubicBezTo>
                <a:cubicBezTo>
                  <a:pt x="406441" y="1815624"/>
                  <a:pt x="0" y="1409183"/>
                  <a:pt x="0" y="907812"/>
                </a:cubicBezTo>
                <a:cubicBezTo>
                  <a:pt x="0" y="406441"/>
                  <a:pt x="406441" y="0"/>
                  <a:pt x="90781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362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76D07-CAEB-BD24-B608-E1DEA9914C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39772" y="2002971"/>
            <a:ext cx="3512457" cy="4359729"/>
          </a:xfrm>
          <a:custGeom>
            <a:avLst/>
            <a:gdLst>
              <a:gd name="connsiteX0" fmla="*/ 0 w 3512457"/>
              <a:gd name="connsiteY0" fmla="*/ 0 h 4359729"/>
              <a:gd name="connsiteX1" fmla="*/ 3512457 w 3512457"/>
              <a:gd name="connsiteY1" fmla="*/ 0 h 4359729"/>
              <a:gd name="connsiteX2" fmla="*/ 3512457 w 3512457"/>
              <a:gd name="connsiteY2" fmla="*/ 4359729 h 4359729"/>
              <a:gd name="connsiteX3" fmla="*/ 0 w 3512457"/>
              <a:gd name="connsiteY3" fmla="*/ 4359729 h 4359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2457" h="4359729">
                <a:moveTo>
                  <a:pt x="0" y="0"/>
                </a:moveTo>
                <a:lnTo>
                  <a:pt x="3512457" y="0"/>
                </a:lnTo>
                <a:lnTo>
                  <a:pt x="3512457" y="4359729"/>
                </a:lnTo>
                <a:lnTo>
                  <a:pt x="0" y="435972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636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8B8643-41D0-C705-F9BD-F621E4FD49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53458" y="2510972"/>
            <a:ext cx="3160486" cy="3851729"/>
          </a:xfrm>
          <a:custGeom>
            <a:avLst/>
            <a:gdLst>
              <a:gd name="connsiteX0" fmla="*/ 0 w 3160486"/>
              <a:gd name="connsiteY0" fmla="*/ 0 h 3851729"/>
              <a:gd name="connsiteX1" fmla="*/ 3160486 w 3160486"/>
              <a:gd name="connsiteY1" fmla="*/ 0 h 3851729"/>
              <a:gd name="connsiteX2" fmla="*/ 3160486 w 3160486"/>
              <a:gd name="connsiteY2" fmla="*/ 3851729 h 3851729"/>
              <a:gd name="connsiteX3" fmla="*/ 0 w 3160486"/>
              <a:gd name="connsiteY3" fmla="*/ 3851729 h 3851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60486" h="3851729">
                <a:moveTo>
                  <a:pt x="0" y="0"/>
                </a:moveTo>
                <a:lnTo>
                  <a:pt x="3160486" y="0"/>
                </a:lnTo>
                <a:lnTo>
                  <a:pt x="3160486" y="3851729"/>
                </a:lnTo>
                <a:lnTo>
                  <a:pt x="0" y="385172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696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EB66ED3-F5CF-73DF-86F4-5F92367CAF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" y="2171700"/>
            <a:ext cx="5765800" cy="4190999"/>
          </a:xfrm>
          <a:custGeom>
            <a:avLst/>
            <a:gdLst>
              <a:gd name="connsiteX0" fmla="*/ 0 w 5765800"/>
              <a:gd name="connsiteY0" fmla="*/ 0 h 4190999"/>
              <a:gd name="connsiteX1" fmla="*/ 5765800 w 5765800"/>
              <a:gd name="connsiteY1" fmla="*/ 0 h 4190999"/>
              <a:gd name="connsiteX2" fmla="*/ 5765800 w 5765800"/>
              <a:gd name="connsiteY2" fmla="*/ 4190999 h 4190999"/>
              <a:gd name="connsiteX3" fmla="*/ 0 w 5765800"/>
              <a:gd name="connsiteY3" fmla="*/ 4190999 h 4190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5800" h="4190999">
                <a:moveTo>
                  <a:pt x="0" y="0"/>
                </a:moveTo>
                <a:lnTo>
                  <a:pt x="5765800" y="0"/>
                </a:lnTo>
                <a:lnTo>
                  <a:pt x="5765800" y="4190999"/>
                </a:lnTo>
                <a:lnTo>
                  <a:pt x="0" y="419099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895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C0BCA1E-AAD9-C80B-88E4-374426974B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64941" y="2171702"/>
            <a:ext cx="5330372" cy="4183379"/>
          </a:xfrm>
          <a:custGeom>
            <a:avLst/>
            <a:gdLst>
              <a:gd name="connsiteX0" fmla="*/ 0 w 5330372"/>
              <a:gd name="connsiteY0" fmla="*/ 0 h 4183379"/>
              <a:gd name="connsiteX1" fmla="*/ 5330372 w 5330372"/>
              <a:gd name="connsiteY1" fmla="*/ 0 h 4183379"/>
              <a:gd name="connsiteX2" fmla="*/ 5330372 w 5330372"/>
              <a:gd name="connsiteY2" fmla="*/ 4183379 h 4183379"/>
              <a:gd name="connsiteX3" fmla="*/ 0 w 5330372"/>
              <a:gd name="connsiteY3" fmla="*/ 4183379 h 4183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0372" h="4183379">
                <a:moveTo>
                  <a:pt x="0" y="0"/>
                </a:moveTo>
                <a:lnTo>
                  <a:pt x="5330372" y="0"/>
                </a:lnTo>
                <a:lnTo>
                  <a:pt x="5330372" y="4183379"/>
                </a:lnTo>
                <a:lnTo>
                  <a:pt x="0" y="418337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8869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F04D218-A3D4-2632-AC31-9C3C915540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79571" y="2171701"/>
            <a:ext cx="3043462" cy="4183379"/>
          </a:xfrm>
          <a:custGeom>
            <a:avLst/>
            <a:gdLst>
              <a:gd name="connsiteX0" fmla="*/ 0 w 3043462"/>
              <a:gd name="connsiteY0" fmla="*/ 0 h 4183379"/>
              <a:gd name="connsiteX1" fmla="*/ 3043462 w 3043462"/>
              <a:gd name="connsiteY1" fmla="*/ 0 h 4183379"/>
              <a:gd name="connsiteX2" fmla="*/ 3043462 w 3043462"/>
              <a:gd name="connsiteY2" fmla="*/ 4183379 h 4183379"/>
              <a:gd name="connsiteX3" fmla="*/ 0 w 3043462"/>
              <a:gd name="connsiteY3" fmla="*/ 4183379 h 4183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3462" h="4183379">
                <a:moveTo>
                  <a:pt x="0" y="0"/>
                </a:moveTo>
                <a:lnTo>
                  <a:pt x="3043462" y="0"/>
                </a:lnTo>
                <a:lnTo>
                  <a:pt x="3043462" y="4183379"/>
                </a:lnTo>
                <a:lnTo>
                  <a:pt x="0" y="418337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1E0D019-8072-ED33-E2D5-F3EF6AC803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54571" y="2171701"/>
            <a:ext cx="3043462" cy="4183379"/>
          </a:xfrm>
          <a:custGeom>
            <a:avLst/>
            <a:gdLst>
              <a:gd name="connsiteX0" fmla="*/ 0 w 3043462"/>
              <a:gd name="connsiteY0" fmla="*/ 0 h 4183379"/>
              <a:gd name="connsiteX1" fmla="*/ 3043462 w 3043462"/>
              <a:gd name="connsiteY1" fmla="*/ 0 h 4183379"/>
              <a:gd name="connsiteX2" fmla="*/ 3043462 w 3043462"/>
              <a:gd name="connsiteY2" fmla="*/ 4183379 h 4183379"/>
              <a:gd name="connsiteX3" fmla="*/ 0 w 3043462"/>
              <a:gd name="connsiteY3" fmla="*/ 4183379 h 4183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3462" h="4183379">
                <a:moveTo>
                  <a:pt x="0" y="0"/>
                </a:moveTo>
                <a:lnTo>
                  <a:pt x="3043462" y="0"/>
                </a:lnTo>
                <a:lnTo>
                  <a:pt x="3043462" y="4183379"/>
                </a:lnTo>
                <a:lnTo>
                  <a:pt x="0" y="418337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042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325B98-C96B-204B-4283-D34EF674A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51" y="2235200"/>
            <a:ext cx="3292929" cy="4127500"/>
          </a:xfrm>
          <a:custGeom>
            <a:avLst/>
            <a:gdLst>
              <a:gd name="connsiteX0" fmla="*/ 0 w 3292929"/>
              <a:gd name="connsiteY0" fmla="*/ 0 h 4127500"/>
              <a:gd name="connsiteX1" fmla="*/ 3292929 w 3292929"/>
              <a:gd name="connsiteY1" fmla="*/ 0 h 4127500"/>
              <a:gd name="connsiteX2" fmla="*/ 3292929 w 3292929"/>
              <a:gd name="connsiteY2" fmla="*/ 4127500 h 4127500"/>
              <a:gd name="connsiteX3" fmla="*/ 0 w 3292929"/>
              <a:gd name="connsiteY3" fmla="*/ 4127500 h 412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92929" h="4127500">
                <a:moveTo>
                  <a:pt x="0" y="0"/>
                </a:moveTo>
                <a:lnTo>
                  <a:pt x="3292929" y="0"/>
                </a:lnTo>
                <a:lnTo>
                  <a:pt x="3292929" y="4127500"/>
                </a:lnTo>
                <a:lnTo>
                  <a:pt x="0" y="41275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946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576FCFC-24CB-5E32-742C-0756250826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64555" y="2457232"/>
            <a:ext cx="2349939" cy="2349936"/>
          </a:xfrm>
          <a:custGeom>
            <a:avLst/>
            <a:gdLst>
              <a:gd name="connsiteX0" fmla="*/ 1141614 w 2349939"/>
              <a:gd name="connsiteY0" fmla="*/ 495 h 2349936"/>
              <a:gd name="connsiteX1" fmla="*/ 1896265 w 2349939"/>
              <a:gd name="connsiteY1" fmla="*/ 247523 h 2349936"/>
              <a:gd name="connsiteX2" fmla="*/ 2102417 w 2349939"/>
              <a:gd name="connsiteY2" fmla="*/ 1896265 h 2349936"/>
              <a:gd name="connsiteX3" fmla="*/ 453675 w 2349939"/>
              <a:gd name="connsiteY3" fmla="*/ 2102413 h 2349936"/>
              <a:gd name="connsiteX4" fmla="*/ 247523 w 2349939"/>
              <a:gd name="connsiteY4" fmla="*/ 453671 h 2349936"/>
              <a:gd name="connsiteX5" fmla="*/ 1141614 w 2349939"/>
              <a:gd name="connsiteY5" fmla="*/ 495 h 2349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49939" h="2349936">
                <a:moveTo>
                  <a:pt x="1141614" y="495"/>
                </a:moveTo>
                <a:cubicBezTo>
                  <a:pt x="1404828" y="-7128"/>
                  <a:pt x="1672171" y="73240"/>
                  <a:pt x="1896265" y="247523"/>
                </a:cubicBezTo>
                <a:cubicBezTo>
                  <a:pt x="2408480" y="645884"/>
                  <a:pt x="2500778" y="1384051"/>
                  <a:pt x="2102417" y="1896265"/>
                </a:cubicBezTo>
                <a:cubicBezTo>
                  <a:pt x="1704057" y="2408479"/>
                  <a:pt x="965890" y="2500774"/>
                  <a:pt x="453675" y="2102413"/>
                </a:cubicBezTo>
                <a:cubicBezTo>
                  <a:pt x="-58540" y="1704052"/>
                  <a:pt x="-150838" y="965885"/>
                  <a:pt x="247523" y="453671"/>
                </a:cubicBezTo>
                <a:cubicBezTo>
                  <a:pt x="471601" y="165551"/>
                  <a:pt x="803195" y="10295"/>
                  <a:pt x="1141614" y="495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0384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140CBC0-F673-DBF4-72E2-FD7D279E7C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64958" y="2305216"/>
            <a:ext cx="3052883" cy="4095584"/>
          </a:xfrm>
          <a:custGeom>
            <a:avLst/>
            <a:gdLst>
              <a:gd name="connsiteX0" fmla="*/ 0 w 3052883"/>
              <a:gd name="connsiteY0" fmla="*/ 0 h 4095584"/>
              <a:gd name="connsiteX1" fmla="*/ 3052883 w 3052883"/>
              <a:gd name="connsiteY1" fmla="*/ 0 h 4095584"/>
              <a:gd name="connsiteX2" fmla="*/ 3052883 w 3052883"/>
              <a:gd name="connsiteY2" fmla="*/ 4095584 h 4095584"/>
              <a:gd name="connsiteX3" fmla="*/ 0 w 3052883"/>
              <a:gd name="connsiteY3" fmla="*/ 4095584 h 409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2883" h="4095584">
                <a:moveTo>
                  <a:pt x="0" y="0"/>
                </a:moveTo>
                <a:lnTo>
                  <a:pt x="3052883" y="0"/>
                </a:lnTo>
                <a:lnTo>
                  <a:pt x="3052883" y="4095584"/>
                </a:lnTo>
                <a:lnTo>
                  <a:pt x="0" y="409558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000">
                <a:latin typeface="Poppins" panose="00000500000000000000" pitchFamily="50" charset="0"/>
                <a:cs typeface="Poppins" panose="00000500000000000000" pitchFamily="50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722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14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1" r:id="rId2"/>
    <p:sldLayoutId id="2147483670" r:id="rId3"/>
    <p:sldLayoutId id="2147483669" r:id="rId4"/>
    <p:sldLayoutId id="2147483668" r:id="rId5"/>
    <p:sldLayoutId id="2147483667" r:id="rId6"/>
    <p:sldLayoutId id="2147483666" r:id="rId7"/>
    <p:sldLayoutId id="2147483665" r:id="rId8"/>
    <p:sldLayoutId id="2147483664" r:id="rId9"/>
    <p:sldLayoutId id="2147483663" r:id="rId10"/>
    <p:sldLayoutId id="2147483662" r:id="rId11"/>
    <p:sldLayoutId id="2147483661" r:id="rId12"/>
    <p:sldLayoutId id="214748366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ijera.com/papers/Vol7_issue5/Part-4/A0705040104.pdf" TargetMode="External"/><Relationship Id="rId5" Type="http://schemas.openxmlformats.org/officeDocument/2006/relationships/hyperlink" Target="https://ejournal.ptti.web.id/index.php/jfsc/article/view/165" TargetMode="External"/><Relationship Id="rId4" Type="http://schemas.openxmlformats.org/officeDocument/2006/relationships/hyperlink" Target="https://doi.org/10.1016/0005-1098(86)90039-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tangolo 31">
            <a:extLst>
              <a:ext uri="{FF2B5EF4-FFF2-40B4-BE49-F238E27FC236}">
                <a16:creationId xmlns:a16="http://schemas.microsoft.com/office/drawing/2014/main" id="{CCB05074-5BB9-0B72-51AC-B67C20456ED4}"/>
              </a:ext>
            </a:extLst>
          </p:cNvPr>
          <p:cNvSpPr/>
          <p:nvPr/>
        </p:nvSpPr>
        <p:spPr>
          <a:xfrm>
            <a:off x="-89673" y="-278648"/>
            <a:ext cx="12281673" cy="6551023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4146C6C0-8596-6116-3D21-A79FF0111A88}"/>
              </a:ext>
            </a:extLst>
          </p:cNvPr>
          <p:cNvSpPr/>
          <p:nvPr/>
        </p:nvSpPr>
        <p:spPr>
          <a:xfrm>
            <a:off x="717331" y="452437"/>
            <a:ext cx="5112716" cy="239014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it-IT" sz="3700" b="1" spc="-151" noProof="0">
                <a:solidFill>
                  <a:schemeClr val="bg1"/>
                </a:solidFill>
                <a:latin typeface="Atkinson Hyperlegible"/>
                <a:ea typeface="Inter Bold" panose="02000503000000020004" pitchFamily="2" charset="0"/>
              </a:rPr>
              <a:t>Identificazione dei parametri e </a:t>
            </a:r>
            <a:r>
              <a:rPr lang="it-IT" sz="3700" b="1" spc="-151">
                <a:solidFill>
                  <a:schemeClr val="bg1"/>
                </a:solidFill>
                <a:latin typeface="Atkinson Hyperlegible"/>
                <a:ea typeface="Inter Bold" panose="02000503000000020004" pitchFamily="2" charset="0"/>
              </a:rPr>
              <a:t>controllo</a:t>
            </a:r>
            <a:r>
              <a:rPr lang="it-IT" sz="3700" b="1" spc="-151" noProof="0">
                <a:solidFill>
                  <a:schemeClr val="bg1"/>
                </a:solidFill>
                <a:latin typeface="Atkinson Hyperlegible"/>
                <a:ea typeface="Inter Bold" panose="02000503000000020004" pitchFamily="2" charset="0"/>
              </a:rPr>
              <a:t> di un pendolo inverso su un canale di comunicazione</a:t>
            </a:r>
            <a:endParaRPr lang="it-IT" sz="3700" b="1" spc="-151" noProof="0">
              <a:solidFill>
                <a:schemeClr val="bg1"/>
              </a:solidFill>
              <a:latin typeface="Atkinson Hyperlegible"/>
              <a:ea typeface="Inter" panose="020B0502030000000004" pitchFamily="2" charset="0"/>
            </a:endParaRPr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6F7D5E40-7D26-EB44-890F-D145B8C84F0F}"/>
              </a:ext>
            </a:extLst>
          </p:cNvPr>
          <p:cNvSpPr/>
          <p:nvPr/>
        </p:nvSpPr>
        <p:spPr>
          <a:xfrm>
            <a:off x="709477" y="3563495"/>
            <a:ext cx="5358575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000" b="1" i="1" noProof="0" dirty="0">
                <a:solidFill>
                  <a:schemeClr val="bg1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Laureando</a:t>
            </a:r>
            <a:r>
              <a:rPr lang="it-IT" sz="2000" b="1" noProof="0" dirty="0">
                <a:solidFill>
                  <a:schemeClr val="bg1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it-IT" sz="2500" b="1" noProof="0" dirty="0">
                <a:solidFill>
                  <a:schemeClr val="bg1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Americo Cherubini</a:t>
            </a:r>
            <a:endParaRPr lang="it-IT" sz="1600" b="1" i="1" dirty="0">
              <a:solidFill>
                <a:schemeClr val="bg1"/>
              </a:solidFill>
              <a:latin typeface="Atkinson Hyperlegible" pitchFamily="2" charset="77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it-IT" sz="1600" b="1" i="1" noProof="0" dirty="0">
                <a:solidFill>
                  <a:schemeClr val="bg1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Mat. 289499</a:t>
            </a:r>
            <a:endParaRPr lang="it-IT" sz="2500" b="1" noProof="0" dirty="0">
              <a:solidFill>
                <a:schemeClr val="bg1"/>
              </a:solidFill>
              <a:latin typeface="Atkinson Hyperlegible" pitchFamily="2" charset="77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6E588A1F-0A78-18FB-4308-9E9AFF606FC8}"/>
              </a:ext>
            </a:extLst>
          </p:cNvPr>
          <p:cNvSpPr/>
          <p:nvPr/>
        </p:nvSpPr>
        <p:spPr>
          <a:xfrm>
            <a:off x="709477" y="4411233"/>
            <a:ext cx="5630927" cy="286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it-IT" sz="1467" noProof="0" dirty="0">
                <a:solidFill>
                  <a:schemeClr val="bg1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Tesi di Laurea Triennale in Ingegneria dell’Informazione</a:t>
            </a:r>
            <a:endParaRPr lang="it-IT" sz="1200" noProof="0" dirty="0">
              <a:solidFill>
                <a:schemeClr val="bg1"/>
              </a:solidFill>
              <a:latin typeface="Atkinson Hyperlegible" pitchFamily="2" charset="77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91D7A533-95E4-9731-B0DD-B6C8B65485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86914" y="272795"/>
            <a:ext cx="5358575" cy="6047295"/>
          </a:xfrm>
          <a:prstGeom prst="rect">
            <a:avLst/>
          </a:prstGeom>
        </p:spPr>
      </p:pic>
      <p:sp>
        <p:nvSpPr>
          <p:cNvPr id="17" name="Rettangolo 16">
            <a:extLst>
              <a:ext uri="{FF2B5EF4-FFF2-40B4-BE49-F238E27FC236}">
                <a16:creationId xmlns:a16="http://schemas.microsoft.com/office/drawing/2014/main" id="{CCA72F3F-32C0-B3A4-E75D-A6E624AA11DC}"/>
              </a:ext>
            </a:extLst>
          </p:cNvPr>
          <p:cNvSpPr/>
          <p:nvPr/>
        </p:nvSpPr>
        <p:spPr>
          <a:xfrm>
            <a:off x="-89673" y="5256178"/>
            <a:ext cx="12281673" cy="160182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0DD94909-EC8D-D35F-0F5A-635335566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997" y="5523790"/>
            <a:ext cx="4173977" cy="1035079"/>
          </a:xfrm>
          <a:prstGeom prst="rect">
            <a:avLst/>
          </a:prstGeom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614A13DE-0DFA-9204-3C20-0ED52AE7E21F}"/>
              </a:ext>
            </a:extLst>
          </p:cNvPr>
          <p:cNvSpPr/>
          <p:nvPr/>
        </p:nvSpPr>
        <p:spPr>
          <a:xfrm>
            <a:off x="7896952" y="5495330"/>
            <a:ext cx="4048537" cy="1054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</a:pPr>
            <a:r>
              <a:rPr lang="it-IT" sz="1467" noProof="0" dirty="0"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Relatore: Prof. D’Innocenzo Alessandro</a:t>
            </a:r>
          </a:p>
          <a:p>
            <a:pPr algn="r">
              <a:lnSpc>
                <a:spcPts val="1500"/>
              </a:lnSpc>
            </a:pPr>
            <a:r>
              <a:rPr lang="it-IT" sz="1467" noProof="0" dirty="0"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Correlatore: Prof. Zacchia Lun Yuriy</a:t>
            </a:r>
            <a:br>
              <a:rPr lang="it-IT" sz="1400" noProof="0" dirty="0"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</a:br>
            <a:br>
              <a:rPr lang="it-IT" sz="1400" noProof="0" dirty="0"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</a:br>
            <a:br>
              <a:rPr lang="it-IT" sz="1400" noProof="0" dirty="0"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it-IT" sz="1333" noProof="0" dirty="0"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Anno accademico 2024-2025</a:t>
            </a:r>
            <a:endParaRPr lang="it-IT" sz="1200" noProof="0" dirty="0">
              <a:latin typeface="Atkinson Hyperlegible" pitchFamily="2" charset="77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140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9D2D1D49-F49A-87CD-DD35-E15EFC734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3803" y="1281259"/>
            <a:ext cx="4441987" cy="5012900"/>
          </a:xfrm>
          <a:prstGeom prst="rect">
            <a:avLst/>
          </a:prstGeom>
        </p:spPr>
      </p:pic>
      <p:sp>
        <p:nvSpPr>
          <p:cNvPr id="24" name="Rectangle 4">
            <a:extLst>
              <a:ext uri="{FF2B5EF4-FFF2-40B4-BE49-F238E27FC236}">
                <a16:creationId xmlns:a16="http://schemas.microsoft.com/office/drawing/2014/main" id="{3256DBBB-FC4D-3993-EDA5-178C83379D04}"/>
              </a:ext>
            </a:extLst>
          </p:cNvPr>
          <p:cNvSpPr/>
          <p:nvPr/>
        </p:nvSpPr>
        <p:spPr>
          <a:xfrm>
            <a:off x="695325" y="1745853"/>
            <a:ext cx="10515600" cy="3831818"/>
          </a:xfrm>
          <a:prstGeom prst="rect">
            <a:avLst/>
          </a:prstGeom>
        </p:spPr>
        <p:txBody>
          <a:bodyPr wrap="square" numCol="2" spcCol="720000">
            <a:spAutoFit/>
          </a:bodyPr>
          <a:lstStyle/>
          <a:p>
            <a:pPr marL="594345" indent="-530847">
              <a:spcBef>
                <a:spcPts val="600"/>
              </a:spcBef>
              <a:spcAft>
                <a:spcPts val="600"/>
              </a:spcAft>
              <a:buClr>
                <a:srgbClr val="1F7E9C"/>
              </a:buClr>
              <a:buFont typeface="Wingdings" panose="05000000000000000000" pitchFamily="2" charset="2"/>
              <a:buChar char="Ø"/>
            </a:pPr>
            <a:r>
              <a:rPr lang="it-IT" noProof="0" dirty="0">
                <a:latin typeface="Atkinson Hyperlegible"/>
              </a:rPr>
              <a:t>Sviluppo dell’ambiente di simulazione;</a:t>
            </a:r>
            <a:endParaRPr lang="it-IT" sz="1600" noProof="0" dirty="0">
              <a:latin typeface="Atkinson Hyperlegible"/>
            </a:endParaRPr>
          </a:p>
          <a:p>
            <a:pPr marL="594345" indent="-530847">
              <a:spcBef>
                <a:spcPts val="600"/>
              </a:spcBef>
              <a:spcAft>
                <a:spcPts val="600"/>
              </a:spcAft>
              <a:buClr>
                <a:srgbClr val="1F7E9C"/>
              </a:buClr>
              <a:buFont typeface="Wingdings" panose="05000000000000000000" pitchFamily="2" charset="2"/>
              <a:buChar char="Ø"/>
            </a:pPr>
            <a:r>
              <a:rPr lang="it-IT" noProof="0" dirty="0">
                <a:latin typeface="Atkinson Hyperlegible"/>
              </a:rPr>
              <a:t>Stabilizzazione con PID;</a:t>
            </a:r>
          </a:p>
          <a:p>
            <a:pPr marL="958833" lvl="1" indent="-285750">
              <a:spcAft>
                <a:spcPts val="1200"/>
              </a:spcAft>
              <a:buClr>
                <a:srgbClr val="1F7E9C"/>
              </a:buClr>
              <a:buFont typeface="Wingdings" panose="05000000000000000000" pitchFamily="2" charset="2"/>
              <a:buChar char="§"/>
            </a:pPr>
            <a:r>
              <a:rPr lang="it-IT" sz="1600" noProof="0" dirty="0">
                <a:latin typeface="Atkinson Hyperlegible"/>
              </a:rPr>
              <a:t>Struttura a doppio </a:t>
            </a:r>
            <a:r>
              <a:rPr lang="it-IT" sz="1600" i="1" noProof="0" dirty="0">
                <a:latin typeface="Atkinson Hyperlegible"/>
              </a:rPr>
              <a:t>loop;</a:t>
            </a:r>
          </a:p>
          <a:p>
            <a:pPr marL="594345" indent="-530847">
              <a:spcBef>
                <a:spcPts val="600"/>
              </a:spcBef>
              <a:spcAft>
                <a:spcPts val="600"/>
              </a:spcAft>
              <a:buClr>
                <a:srgbClr val="1F7E9C"/>
              </a:buClr>
              <a:buFont typeface="Wingdings" panose="05000000000000000000" pitchFamily="2" charset="2"/>
              <a:buChar char="Ø"/>
            </a:pPr>
            <a:r>
              <a:rPr lang="it-IT" noProof="0" dirty="0">
                <a:latin typeface="Atkinson Hyperlegible"/>
              </a:rPr>
              <a:t>Raccolta dati input-output;</a:t>
            </a:r>
          </a:p>
          <a:p>
            <a:pPr marL="594345" indent="-530847">
              <a:spcBef>
                <a:spcPts val="600"/>
              </a:spcBef>
              <a:spcAft>
                <a:spcPts val="600"/>
              </a:spcAft>
              <a:buClr>
                <a:srgbClr val="1F7E9C"/>
              </a:buClr>
              <a:buFont typeface="Wingdings" panose="05000000000000000000" pitchFamily="2" charset="2"/>
              <a:buChar char="Ø"/>
            </a:pPr>
            <a:r>
              <a:rPr lang="it-IT" noProof="0" dirty="0">
                <a:latin typeface="Atkinson Hyperlegible"/>
                <a:ea typeface="Open Sans Condensed Light"/>
                <a:cs typeface="Open Sans Condensed Light"/>
              </a:rPr>
              <a:t>Identificazione parametri delle matrici A, B del sistema mediante regressione lineare;</a:t>
            </a:r>
          </a:p>
          <a:p>
            <a:pPr marL="1203930" lvl="1" indent="-530847">
              <a:buClr>
                <a:srgbClr val="1F7E9C"/>
              </a:buClr>
              <a:buFont typeface="Wingdings" panose="05000000000000000000" pitchFamily="2" charset="2"/>
              <a:buChar char="§"/>
            </a:pPr>
            <a:r>
              <a:rPr lang="it-IT" sz="1600" noProof="0" dirty="0">
                <a:latin typeface="Atkinson Hyperlegible"/>
                <a:ea typeface="Open Sans Condensed Light"/>
                <a:cs typeface="Open Sans Condensed Light"/>
              </a:rPr>
              <a:t>Identificazione in caso di rumore gaussiano;</a:t>
            </a:r>
            <a:endParaRPr lang="it-IT" sz="1600" noProof="0" dirty="0">
              <a:latin typeface="Atkinson Hyperlegible"/>
            </a:endParaRPr>
          </a:p>
          <a:p>
            <a:pPr marL="1203930" lvl="1" indent="-530847">
              <a:spcBef>
                <a:spcPts val="600"/>
              </a:spcBef>
              <a:spcAft>
                <a:spcPts val="600"/>
              </a:spcAft>
              <a:buClr>
                <a:srgbClr val="1F7E9C"/>
              </a:buClr>
              <a:buFont typeface="Wingdings" panose="05000000000000000000" pitchFamily="2" charset="2"/>
              <a:buChar char="§"/>
            </a:pPr>
            <a:r>
              <a:rPr lang="it-IT" sz="1600" noProof="0" dirty="0">
                <a:latin typeface="Atkinson Hyperlegible"/>
                <a:ea typeface="Open Sans Condensed Light"/>
                <a:cs typeface="Open Sans Condensed Light"/>
              </a:rPr>
              <a:t>Identificazione in caso di perdite sul dataset;</a:t>
            </a:r>
          </a:p>
          <a:p>
            <a:pPr marL="594345" indent="-530847">
              <a:spcBef>
                <a:spcPts val="600"/>
              </a:spcBef>
              <a:spcAft>
                <a:spcPts val="600"/>
              </a:spcAft>
              <a:buClr>
                <a:srgbClr val="1F7E9C"/>
              </a:buClr>
              <a:buFont typeface="Wingdings" panose="05000000000000000000" pitchFamily="2" charset="2"/>
              <a:buChar char="Ø"/>
            </a:pPr>
            <a:endParaRPr lang="it-IT" noProof="0" dirty="0">
              <a:latin typeface="Atkinson Hyperlegible"/>
            </a:endParaRPr>
          </a:p>
          <a:p>
            <a:pPr marL="594345" indent="-530847">
              <a:spcBef>
                <a:spcPts val="600"/>
              </a:spcBef>
              <a:spcAft>
                <a:spcPts val="600"/>
              </a:spcAft>
              <a:buClr>
                <a:srgbClr val="1F7E9C"/>
              </a:buClr>
              <a:buFont typeface="Wingdings" panose="05000000000000000000" pitchFamily="2" charset="2"/>
              <a:buChar char="Ø"/>
            </a:pPr>
            <a:r>
              <a:rPr lang="it-IT" noProof="0" dirty="0">
                <a:latin typeface="Atkinson Hyperlegible"/>
              </a:rPr>
              <a:t>Controllo ottimo con LQR;</a:t>
            </a:r>
          </a:p>
          <a:p>
            <a:pPr marL="1203930" lvl="1" indent="-530847">
              <a:spcAft>
                <a:spcPts val="1200"/>
              </a:spcAft>
              <a:buClr>
                <a:srgbClr val="1F7E9C"/>
              </a:buClr>
              <a:buFont typeface="Wingdings" panose="05000000000000000000" pitchFamily="2" charset="2"/>
              <a:buChar char="§"/>
            </a:pPr>
            <a:r>
              <a:rPr lang="it-IT" sz="1600" noProof="0" dirty="0">
                <a:latin typeface="Atkinson Hyperlegible"/>
                <a:ea typeface="Open Sans Condensed Light"/>
                <a:cs typeface="Open Sans Condensed Light"/>
              </a:rPr>
              <a:t>Inseguimento del gradino con Internal Model Design;</a:t>
            </a:r>
          </a:p>
          <a:p>
            <a:pPr marL="594345" indent="-530847">
              <a:spcBef>
                <a:spcPts val="600"/>
              </a:spcBef>
              <a:spcAft>
                <a:spcPts val="600"/>
              </a:spcAft>
              <a:buClr>
                <a:srgbClr val="1F7E9C"/>
              </a:buClr>
              <a:buFont typeface="Wingdings" panose="05000000000000000000" pitchFamily="2" charset="2"/>
              <a:buChar char="Ø"/>
            </a:pPr>
            <a:r>
              <a:rPr lang="it-IT" noProof="0" dirty="0">
                <a:latin typeface="Atkinson Hyperlegible"/>
              </a:rPr>
              <a:t>Perdite di pacchetti;</a:t>
            </a:r>
          </a:p>
          <a:p>
            <a:pPr marL="1203930" lvl="1" indent="-530847">
              <a:spcAft>
                <a:spcPts val="1200"/>
              </a:spcAft>
              <a:buClr>
                <a:srgbClr val="1F7E9C"/>
              </a:buClr>
              <a:buFont typeface="Wingdings" panose="05000000000000000000" pitchFamily="2" charset="2"/>
              <a:buChar char="§"/>
            </a:pPr>
            <a:r>
              <a:rPr lang="it-IT" sz="1600" noProof="0" dirty="0">
                <a:latin typeface="Atkinson Hyperlegible"/>
              </a:rPr>
              <a:t>Policy di </a:t>
            </a:r>
            <a:r>
              <a:rPr lang="it-IT" sz="1600" i="1" noProof="0" dirty="0" err="1">
                <a:latin typeface="Atkinson Hyperlegible"/>
              </a:rPr>
              <a:t>Hold</a:t>
            </a:r>
            <a:r>
              <a:rPr lang="it-IT" sz="1600" i="1" noProof="0" dirty="0">
                <a:latin typeface="Atkinson Hyperlegible"/>
              </a:rPr>
              <a:t> </a:t>
            </a:r>
            <a:r>
              <a:rPr lang="it-IT" sz="1600" noProof="0" dirty="0">
                <a:latin typeface="Atkinson Hyperlegible"/>
              </a:rPr>
              <a:t>con decadimento esponenziale dell’ingresso per far fronte alle perdite;</a:t>
            </a:r>
          </a:p>
          <a:p>
            <a:pPr marL="594345" indent="-530847">
              <a:spcBef>
                <a:spcPts val="600"/>
              </a:spcBef>
              <a:spcAft>
                <a:spcPts val="600"/>
              </a:spcAft>
              <a:buClr>
                <a:srgbClr val="1F7E9C"/>
              </a:buClr>
              <a:buFont typeface="Wingdings" panose="05000000000000000000" pitchFamily="2" charset="2"/>
              <a:buChar char="Ø"/>
            </a:pPr>
            <a:r>
              <a:rPr lang="it-IT" noProof="0" dirty="0">
                <a:latin typeface="Atkinson Hyperlegible"/>
                <a:ea typeface="Open Sans Condensed Light"/>
                <a:cs typeface="Open Sans Condensed Light"/>
              </a:rPr>
              <a:t>Conclusioni e sviluppi futuri</a:t>
            </a:r>
            <a:r>
              <a:rPr lang="it-IT" dirty="0">
                <a:latin typeface="Atkinson Hyperlegible"/>
                <a:ea typeface="Open Sans Condensed Light"/>
                <a:cs typeface="Open Sans Condensed Light"/>
              </a:rPr>
              <a:t>.</a:t>
            </a:r>
            <a:endParaRPr lang="it-IT" noProof="0" dirty="0">
              <a:latin typeface="Atkinson Hyperlegible"/>
              <a:ea typeface="Open Sans Condensed Light"/>
              <a:cs typeface="Open Sans Condensed Light"/>
            </a:endParaRPr>
          </a:p>
          <a:p>
            <a:pPr marL="594345" indent="-530847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it-IT" sz="1600" noProof="0" dirty="0">
              <a:latin typeface="Atkinson Hyperlegible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B2AF53F-DB62-70F5-4EE2-530EAA1BD72C}"/>
              </a:ext>
            </a:extLst>
          </p:cNvPr>
          <p:cNvSpPr/>
          <p:nvPr/>
        </p:nvSpPr>
        <p:spPr>
          <a:xfrm>
            <a:off x="-195210" y="5943602"/>
            <a:ext cx="12387209" cy="97715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E316D968-E2AA-EBF6-6B4D-8514F45535B5}"/>
              </a:ext>
            </a:extLst>
          </p:cNvPr>
          <p:cNvSpPr/>
          <p:nvPr/>
        </p:nvSpPr>
        <p:spPr>
          <a:xfrm>
            <a:off x="-61301" y="5934488"/>
            <a:ext cx="12305631" cy="54425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46F6DE0A-1502-F0EE-660A-646BCBA61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6078" y="6133296"/>
            <a:ext cx="2283511" cy="566274"/>
          </a:xfrm>
          <a:prstGeom prst="rect">
            <a:avLst/>
          </a:prstGeom>
        </p:spPr>
      </p:pic>
      <p:grpSp>
        <p:nvGrpSpPr>
          <p:cNvPr id="6" name="Gruppo 5">
            <a:extLst>
              <a:ext uri="{FF2B5EF4-FFF2-40B4-BE49-F238E27FC236}">
                <a16:creationId xmlns:a16="http://schemas.microsoft.com/office/drawing/2014/main" id="{0C80BCB5-AAD5-2074-7EC5-8EF58669E955}"/>
              </a:ext>
            </a:extLst>
          </p:cNvPr>
          <p:cNvGrpSpPr/>
          <p:nvPr/>
        </p:nvGrpSpPr>
        <p:grpSpPr>
          <a:xfrm>
            <a:off x="910251" y="522579"/>
            <a:ext cx="4311723" cy="414332"/>
            <a:chOff x="634026" y="522579"/>
            <a:chExt cx="4311723" cy="414332"/>
          </a:xfrm>
        </p:grpSpPr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6517C082-A459-B91F-34DD-8EF2532185B1}"/>
                </a:ext>
              </a:extLst>
            </p:cNvPr>
            <p:cNvSpPr/>
            <p:nvPr/>
          </p:nvSpPr>
          <p:spPr>
            <a:xfrm>
              <a:off x="1012825" y="621119"/>
              <a:ext cx="3932924" cy="3157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it-IT" sz="2200" b="1" noProof="0" dirty="0">
                  <a:solidFill>
                    <a:srgbClr val="424242"/>
                  </a:solidFill>
                  <a:latin typeface="Atkinson Hyperlegible" pitchFamily="2" charset="77"/>
                  <a:ea typeface="Roboto" panose="02000000000000000000" pitchFamily="2" charset="0"/>
                  <a:cs typeface="Roboto" panose="02000000000000000000" pitchFamily="2" charset="0"/>
                </a:rPr>
                <a:t>Panoramica Generale</a:t>
              </a:r>
            </a:p>
          </p:txBody>
        </p:sp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6E9D0DFD-19D1-2047-2893-EF90CC54B0BC}"/>
                </a:ext>
              </a:extLst>
            </p:cNvPr>
            <p:cNvSpPr/>
            <p:nvPr/>
          </p:nvSpPr>
          <p:spPr>
            <a:xfrm>
              <a:off x="634026" y="522579"/>
              <a:ext cx="384729" cy="410413"/>
            </a:xfrm>
            <a:prstGeom prst="rect">
              <a:avLst/>
            </a:prstGeom>
            <a:solidFill>
              <a:srgbClr val="3196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0085BE05-2FF2-AC28-FEA5-B67E3BD0A953}"/>
                </a:ext>
              </a:extLst>
            </p:cNvPr>
            <p:cNvSpPr/>
            <p:nvPr/>
          </p:nvSpPr>
          <p:spPr>
            <a:xfrm>
              <a:off x="634026" y="891192"/>
              <a:ext cx="4133851" cy="45719"/>
            </a:xfrm>
            <a:prstGeom prst="rect">
              <a:avLst/>
            </a:prstGeom>
            <a:solidFill>
              <a:srgbClr val="1F7E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00492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059E47C2-27CE-A546-1113-CF678A324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734" y="1297454"/>
            <a:ext cx="4441986" cy="5012900"/>
          </a:xfrm>
          <a:prstGeom prst="rect">
            <a:avLst/>
          </a:prstGeom>
        </p:spPr>
      </p:pic>
      <p:sp>
        <p:nvSpPr>
          <p:cNvPr id="58" name="Rettangolo 57">
            <a:extLst>
              <a:ext uri="{FF2B5EF4-FFF2-40B4-BE49-F238E27FC236}">
                <a16:creationId xmlns:a16="http://schemas.microsoft.com/office/drawing/2014/main" id="{173DA7D3-FA7A-41B2-09FC-0025CDA2DFD5}"/>
              </a:ext>
            </a:extLst>
          </p:cNvPr>
          <p:cNvSpPr/>
          <p:nvPr/>
        </p:nvSpPr>
        <p:spPr>
          <a:xfrm>
            <a:off x="-294968" y="-32856"/>
            <a:ext cx="12993277" cy="1139411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3F3E691E-E068-EF78-D954-57B4485EF2EB}"/>
              </a:ext>
            </a:extLst>
          </p:cNvPr>
          <p:cNvSpPr/>
          <p:nvPr/>
        </p:nvSpPr>
        <p:spPr>
          <a:xfrm>
            <a:off x="695324" y="621119"/>
            <a:ext cx="8201026" cy="311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it-IT" sz="2200" b="1" noProof="0" dirty="0">
                <a:solidFill>
                  <a:schemeClr val="bg1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Sviluppo dell’Ambiente di Simulazione – Equazioni del Moto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3256DBBB-FC4D-3993-EDA5-178C83379D04}"/>
              </a:ext>
            </a:extLst>
          </p:cNvPr>
          <p:cNvSpPr/>
          <p:nvPr/>
        </p:nvSpPr>
        <p:spPr>
          <a:xfrm>
            <a:off x="695324" y="1922403"/>
            <a:ext cx="6040025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Clr>
                <a:srgbClr val="1F7E9C"/>
              </a:buClr>
              <a:buFont typeface="Wingdings" panose="05000000000000000000" pitchFamily="2" charset="2"/>
              <a:buChar char="v"/>
            </a:pPr>
            <a:r>
              <a:rPr lang="it-IT" noProof="0" dirty="0"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Derivazione delle equazioni del moto di un pendolo inverso su carrello e implementazione</a:t>
            </a:r>
          </a:p>
          <a:p>
            <a:pPr marL="285750" indent="-285750">
              <a:spcAft>
                <a:spcPts val="1200"/>
              </a:spcAft>
              <a:buClr>
                <a:srgbClr val="1F7E9C"/>
              </a:buClr>
              <a:buFont typeface="Wingdings" panose="05000000000000000000" pitchFamily="2" charset="2"/>
              <a:buChar char="v"/>
            </a:pPr>
            <a:r>
              <a:rPr lang="it-IT" noProof="0" dirty="0"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Viene utilizzato </a:t>
            </a:r>
            <a:r>
              <a:rPr lang="it-IT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it-IT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ATLAB</a:t>
            </a:r>
            <a:r>
              <a:rPr lang="it-IT" noProof="0" dirty="0"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 come ambiente di sviluppo.</a:t>
            </a:r>
            <a:r>
              <a:rPr lang="it-IT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it-IT" noProof="0" dirty="0">
              <a:latin typeface="Atkinson Hyperlegible" pitchFamily="2" charset="77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0C393A2B-E7A0-E10E-D141-8425653B21F8}"/>
              </a:ext>
            </a:extLst>
          </p:cNvPr>
          <p:cNvSpPr/>
          <p:nvPr/>
        </p:nvSpPr>
        <p:spPr>
          <a:xfrm>
            <a:off x="-195210" y="5943602"/>
            <a:ext cx="12387209" cy="97715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F2B74DF-F480-F674-0FBF-13EFAE072390}"/>
              </a:ext>
            </a:extLst>
          </p:cNvPr>
          <p:cNvSpPr/>
          <p:nvPr/>
        </p:nvSpPr>
        <p:spPr>
          <a:xfrm>
            <a:off x="-61301" y="5934488"/>
            <a:ext cx="12305631" cy="54425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B733FA58-FB01-0982-7513-569744B039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6078" y="6133296"/>
            <a:ext cx="2283511" cy="566274"/>
          </a:xfrm>
          <a:prstGeom prst="rect">
            <a:avLst/>
          </a:prstGeom>
        </p:spPr>
      </p:pic>
      <p:pic>
        <p:nvPicPr>
          <p:cNvPr id="2" name="Elemento grafico 20">
            <a:extLst>
              <a:ext uri="{FF2B5EF4-FFF2-40B4-BE49-F238E27FC236}">
                <a16:creationId xmlns:a16="http://schemas.microsoft.com/office/drawing/2014/main" id="{93313851-DEBF-5B49-3A4B-99DCB10CF5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7288" t="16464" r="26240" b="19737"/>
          <a:stretch>
            <a:fillRect/>
          </a:stretch>
        </p:blipFill>
        <p:spPr bwMode="auto">
          <a:xfrm>
            <a:off x="7024463" y="1466237"/>
            <a:ext cx="4441986" cy="37188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E63C442-7F81-A3DC-0309-71313DC323F2}"/>
                  </a:ext>
                </a:extLst>
              </p:cNvPr>
              <p:cNvSpPr txBox="1"/>
              <p:nvPr/>
            </p:nvSpPr>
            <p:spPr>
              <a:xfrm>
                <a:off x="341339" y="3189652"/>
                <a:ext cx="6538567" cy="22084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180340" algn="ctr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it-IT" sz="1400" i="1" kern="100" noProof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r>
                        <a:rPr lang="it-IT" sz="1400" i="1" kern="100" noProof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acc>
                                <m:accPr>
                                  <m:chr m:val="̇"/>
                                  <m:ctrlP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𝑚𝐿</m:t>
                              </m:r>
                              <m:func>
                                <m:funcPr>
                                  <m:ctrlP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it-IT" sz="1400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it-IT" sz="1400" i="1" kern="100" noProof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400" i="1" kern="100" noProof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  <m:sSup>
                                <m:sSupPr>
                                  <m:ctrlP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it-IT" sz="1400" i="1" kern="100" noProof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1400" i="1" kern="100" noProof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𝑚𝐿</m:t>
                          </m:r>
                          <m:func>
                            <m:funcPr>
                              <m:ctrlP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sz="1400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𝑚𝑔𝐿</m:t>
                          </m:r>
                          <m:func>
                            <m:funcPr>
                              <m:ctrlP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sz="1400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  <m:acc>
                            <m:accPr>
                              <m:chr m:val="̇"/>
                              <m:ctrlP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acc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𝑚𝐿</m:t>
                                  </m:r>
                                  <m:func>
                                    <m:funcPr>
                                      <m:ctrlPr>
                                        <a:rPr lang="it-IT" sz="1400" i="1" kern="100" noProof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it-IT" sz="1400" kern="100" noProof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it-IT" sz="1400" i="1" kern="100" noProof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1400" i="1" kern="100" noProof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it-IT" sz="1400" i="1" kern="100" noProof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it-IT" sz="1200" kern="100" noProof="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180340" algn="ctr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it-IT" sz="1400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</m:acc>
                      <m:r>
                        <a:rPr lang="it-IT" sz="1400" i="1" kern="100" noProof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it-IT" sz="1400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it-IT" sz="1400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</m:e>
                          </m:d>
                          <m:d>
                            <m:dPr>
                              <m:ctrlP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𝑚𝑔𝐿</m:t>
                              </m:r>
                              <m:func>
                                <m:funcPr>
                                  <m:ctrlP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it-IT" sz="1400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it-IT" sz="1400" i="1" kern="100" noProof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400" i="1" kern="100" noProof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̇"/>
                                  <m:ctrlP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𝑚𝐿</m:t>
                          </m:r>
                          <m:func>
                            <m:funcPr>
                              <m:ctrlP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sz="1400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  <m:d>
                            <m:dPr>
                              <m:ctrlP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acc>
                                <m:accPr>
                                  <m:chr m:val="̇"/>
                                  <m:ctrlP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𝑚𝐿</m:t>
                              </m:r>
                              <m:func>
                                <m:funcPr>
                                  <m:ctrlP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it-IT" sz="1400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it-IT" sz="1400" i="1" kern="100" noProof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400" i="1" kern="100" noProof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  <m:sSup>
                                <m:sSupPr>
                                  <m:ctrlP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it-IT" sz="1400" i="1" kern="100" noProof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1400" i="1" kern="100" noProof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it-IT" sz="1400" i="1" kern="100" noProof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400" i="1" kern="100" noProof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𝑚𝐿</m:t>
                                  </m:r>
                                  <m:func>
                                    <m:funcPr>
                                      <m:ctrlPr>
                                        <a:rPr lang="it-IT" sz="1400" i="1" kern="100" noProof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it-IT" sz="1400" kern="100" noProof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it-IT" sz="1400" i="1" kern="100" noProof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1400" i="1" kern="100" noProof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it-IT" sz="1400" i="1" kern="100" noProof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it-IT" sz="1400" i="1" kern="100" noProof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</m:oMath>
                  </m:oMathPara>
                </a14:m>
                <a:endParaRPr lang="it-IT" sz="1200" kern="100" noProof="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180340" algn="ctr"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it-IT" sz="1600" kern="100" noProof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   </a:t>
                </a:r>
                <a14:m>
                  <m:oMath xmlns:m="http://schemas.openxmlformats.org/officeDocument/2006/math">
                    <m:r>
                      <a:rPr lang="it-IT" sz="1600" i="1" kern="100" noProof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it-IT" sz="1600" i="1" kern="100" noProof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it-IT" sz="1600" i="1" kern="100" noProof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t-IT" sz="1600" i="1" kern="100" noProof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1600" i="1" kern="100" noProof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it-IT" sz="1600" i="1" kern="100" noProof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sSup>
                      <m:sSupPr>
                        <m:ctrlPr>
                          <a:rPr lang="it-IT" sz="1600" i="1" kern="100" noProof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t-IT" sz="1600" i="1" kern="100" noProof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p>
                        <m:r>
                          <a:rPr lang="it-IT" sz="1600" i="1" kern="100" noProof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sz="1600" kern="100" noProof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it-IT" sz="1600" i="1" kern="100" noProof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it-IT" sz="1600" i="1" kern="100" noProof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t-IT" sz="1600" i="1" kern="100" noProof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it-IT" sz="1600" i="1" kern="100" noProof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it-IT" sz="1600" i="1" kern="100" noProof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sSup>
                      <m:sSupPr>
                        <m:ctrlPr>
                          <a:rPr lang="it-IT" sz="1600" i="1" kern="100" noProof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t-IT" sz="1600" i="1" kern="100" noProof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p>
                        <m:r>
                          <a:rPr lang="it-IT" sz="1600" i="1" kern="100" noProof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sz="1600" kern="100" noProof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it-IT" sz="1400" kern="100" noProof="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E63C442-7F81-A3DC-0309-71313DC32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39" y="3189652"/>
                <a:ext cx="6538567" cy="22084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24">
            <a:extLst>
              <a:ext uri="{FF2B5EF4-FFF2-40B4-BE49-F238E27FC236}">
                <a16:creationId xmlns:a16="http://schemas.microsoft.com/office/drawing/2014/main" id="{07A4D2CD-ABA4-2A2A-F99C-7D669C71FC37}"/>
              </a:ext>
            </a:extLst>
          </p:cNvPr>
          <p:cNvSpPr txBox="1"/>
          <p:nvPr/>
        </p:nvSpPr>
        <p:spPr>
          <a:xfrm>
            <a:off x="7275622" y="5120988"/>
            <a:ext cx="2533974" cy="492058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it-IT" sz="1200" b="0" i="0" noProof="0" dirty="0">
                <a:solidFill>
                  <a:schemeClr val="bg2">
                    <a:lumMod val="50000"/>
                  </a:schemeClr>
                </a:solidFill>
                <a:effectLst/>
                <a:latin typeface="Atkinson Hyperlegible" pitchFamily="2" charset="77"/>
              </a:rPr>
              <a:t>Diagramma a corpo libero di un pendolo inverso.</a:t>
            </a:r>
            <a:endParaRPr lang="it-IT" sz="1200" noProof="0" dirty="0">
              <a:solidFill>
                <a:schemeClr val="bg2">
                  <a:lumMod val="50000"/>
                </a:schemeClr>
              </a:solidFill>
              <a:latin typeface="Atkinson Hyperlegible" pitchFamily="2" charset="77"/>
              <a:ea typeface="PT Sans" panose="020B0503020203020204" pitchFamily="34" charset="0"/>
              <a:cs typeface="Poppins" panose="00000500000000000000" pitchFamily="50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BB526B4-BEB7-06AA-B993-C693F137066F}"/>
              </a:ext>
            </a:extLst>
          </p:cNvPr>
          <p:cNvSpPr/>
          <p:nvPr/>
        </p:nvSpPr>
        <p:spPr>
          <a:xfrm>
            <a:off x="7226705" y="5120988"/>
            <a:ext cx="48917" cy="492059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55821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44FC2-F536-671C-0CEC-E1AA8271A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94652EAA-1F59-C9DA-4CF2-2DA7D1CFE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734" y="1297454"/>
            <a:ext cx="4441986" cy="5012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4">
                <a:extLst>
                  <a:ext uri="{FF2B5EF4-FFF2-40B4-BE49-F238E27FC236}">
                    <a16:creationId xmlns:a16="http://schemas.microsoft.com/office/drawing/2014/main" id="{7DB732DF-8084-F31B-0227-41CA43EA2D7E}"/>
                  </a:ext>
                </a:extLst>
              </p:cNvPr>
              <p:cNvSpPr/>
              <p:nvPr/>
            </p:nvSpPr>
            <p:spPr>
              <a:xfrm>
                <a:off x="0" y="1915506"/>
                <a:ext cx="4238625" cy="3400931"/>
              </a:xfrm>
              <a:prstGeom prst="rect">
                <a:avLst/>
              </a:prstGeom>
            </p:spPr>
            <p:txBody>
              <a:bodyPr wrap="square" numCol="1">
                <a:spAutoFit/>
              </a:bodyPr>
              <a:lstStyle/>
              <a:p>
                <a:pPr marL="958833" lvl="1" indent="-285750">
                  <a:spcAft>
                    <a:spcPts val="1200"/>
                  </a:spcAft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dirty="0">
                    <a:latin typeface="Atkinson Hyperlegible"/>
                    <a:ea typeface="Open Sans Condensed Light"/>
                    <a:cs typeface="Open Sans Condensed Light"/>
                  </a:rPr>
                  <a:t>Utilizzo del solutore numerico RK-4</a:t>
                </a:r>
              </a:p>
              <a:p>
                <a:pPr marL="958833" lvl="1" indent="-285750">
                  <a:spcAft>
                    <a:spcPts val="1200"/>
                  </a:spcAft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dirty="0"/>
                  <a:t>Passo di simulazione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it-IT" dirty="0"/>
              </a:p>
              <a:p>
                <a:pPr marL="958833" lvl="1" indent="-285750">
                  <a:spcAft>
                    <a:spcPts val="1200"/>
                  </a:spcAft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dirty="0"/>
                  <a:t>Periodo di loop del controllore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=5×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it-IT" dirty="0"/>
              </a:p>
              <a:p>
                <a:pPr marL="958833" lvl="1" indent="-285750">
                  <a:spcAft>
                    <a:spcPts val="1200"/>
                  </a:spcAft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dirty="0">
                    <a:cs typeface="Times New Roman" panose="02020603050405020304" pitchFamily="18" charset="0"/>
                  </a:rPr>
                  <a:t>Lunghezza asta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40</m:t>
                    </m:r>
                    <m:r>
                      <a:rPr lang="it-IT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𝑐𝑚</m:t>
                    </m:r>
                  </m:oMath>
                </a14:m>
                <a:r>
                  <a:rPr lang="it-IT" dirty="0"/>
                  <a:t>, di massa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=0.3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endParaRPr lang="it-IT" dirty="0"/>
              </a:p>
              <a:p>
                <a:pPr marL="958833" lvl="1" indent="-285750">
                  <a:spcAft>
                    <a:spcPts val="1200"/>
                  </a:spcAft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dirty="0"/>
                  <a:t>Massa del carrello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it-IT" dirty="0"/>
                  <a:t> </a:t>
                </a:r>
              </a:p>
              <a:p>
                <a:pPr marL="594345" indent="-530847"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endParaRPr lang="it-IT" sz="1600" noProof="0" dirty="0">
                  <a:latin typeface="Atkinson Hyperlegible"/>
                </a:endParaRPr>
              </a:p>
            </p:txBody>
          </p:sp>
        </mc:Choice>
        <mc:Fallback xmlns="">
          <p:sp>
            <p:nvSpPr>
              <p:cNvPr id="24" name="Rectangle 4">
                <a:extLst>
                  <a:ext uri="{FF2B5EF4-FFF2-40B4-BE49-F238E27FC236}">
                    <a16:creationId xmlns:a16="http://schemas.microsoft.com/office/drawing/2014/main" id="{7DB732DF-8084-F31B-0227-41CA43EA2D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15506"/>
                <a:ext cx="4238625" cy="3400931"/>
              </a:xfrm>
              <a:prstGeom prst="rect">
                <a:avLst/>
              </a:prstGeom>
              <a:blipFill>
                <a:blip r:embed="rId4"/>
                <a:stretch>
                  <a:fillRect t="-8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ttangolo 10">
            <a:extLst>
              <a:ext uri="{FF2B5EF4-FFF2-40B4-BE49-F238E27FC236}">
                <a16:creationId xmlns:a16="http://schemas.microsoft.com/office/drawing/2014/main" id="{C3F4FF3D-BC41-46EA-61C7-348B2F39CEAA}"/>
              </a:ext>
            </a:extLst>
          </p:cNvPr>
          <p:cNvSpPr/>
          <p:nvPr/>
        </p:nvSpPr>
        <p:spPr>
          <a:xfrm>
            <a:off x="-195210" y="5943602"/>
            <a:ext cx="12387209" cy="97715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C112094-5E3A-2B02-AD01-FB2F79CB0067}"/>
              </a:ext>
            </a:extLst>
          </p:cNvPr>
          <p:cNvSpPr/>
          <p:nvPr/>
        </p:nvSpPr>
        <p:spPr>
          <a:xfrm>
            <a:off x="695325" y="621119"/>
            <a:ext cx="56197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200" b="1" noProof="0" dirty="0">
                <a:solidFill>
                  <a:srgbClr val="424242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Sviluppo dell’Ambiente di Simulazione</a:t>
            </a:r>
            <a:br>
              <a:rPr lang="it-IT" sz="2200" b="1" noProof="0" dirty="0">
                <a:solidFill>
                  <a:srgbClr val="424242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it-IT" sz="2200" b="1" dirty="0"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– </a:t>
            </a:r>
            <a:r>
              <a:rPr lang="it-IT" sz="2200" b="1" noProof="0" dirty="0">
                <a:solidFill>
                  <a:srgbClr val="424242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Specifiche di Simulazione</a:t>
            </a:r>
            <a:endParaRPr lang="it-IT" sz="2200" b="1" noProof="0" dirty="0">
              <a:latin typeface="Atkinson Hyperlegible" pitchFamily="2" charset="77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4FDA666C-853B-891E-0939-65387868123A}"/>
              </a:ext>
            </a:extLst>
          </p:cNvPr>
          <p:cNvSpPr/>
          <p:nvPr/>
        </p:nvSpPr>
        <p:spPr>
          <a:xfrm>
            <a:off x="-61301" y="5934488"/>
            <a:ext cx="12305631" cy="54425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BE59F3E3-1367-1387-4975-67873176C3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6078" y="6133296"/>
            <a:ext cx="2283511" cy="56627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A6C9EC57-2DC4-DDC4-65A4-D4FC1A9E60C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3066"/>
          <a:stretch>
            <a:fillRect/>
          </a:stretch>
        </p:blipFill>
        <p:spPr>
          <a:xfrm>
            <a:off x="5551726" y="1289586"/>
            <a:ext cx="6262639" cy="3827841"/>
          </a:xfrm>
          <a:prstGeom prst="rect">
            <a:avLst/>
          </a:prstGeom>
        </p:spPr>
      </p:pic>
      <p:sp>
        <p:nvSpPr>
          <p:cNvPr id="4" name="TextBox 24">
            <a:extLst>
              <a:ext uri="{FF2B5EF4-FFF2-40B4-BE49-F238E27FC236}">
                <a16:creationId xmlns:a16="http://schemas.microsoft.com/office/drawing/2014/main" id="{EED349F1-00D6-993E-5BE6-66A8B2B62330}"/>
              </a:ext>
            </a:extLst>
          </p:cNvPr>
          <p:cNvSpPr txBox="1"/>
          <p:nvPr/>
        </p:nvSpPr>
        <p:spPr>
          <a:xfrm>
            <a:off x="7275621" y="5120988"/>
            <a:ext cx="2754203" cy="49205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it-IT" sz="1200" b="0" i="0" noProof="0" dirty="0">
                <a:solidFill>
                  <a:schemeClr val="bg2">
                    <a:lumMod val="50000"/>
                  </a:schemeClr>
                </a:solidFill>
                <a:effectLst/>
                <a:latin typeface="Atkinson Hyperlegible" pitchFamily="2" charset="77"/>
              </a:rPr>
              <a:t>Simulazione del sistema libero, senza alcun ingresso di controllo </a:t>
            </a:r>
            <a:r>
              <a:rPr lang="it-IT" sz="1200" b="0" i="1" noProof="0" dirty="0">
                <a:solidFill>
                  <a:schemeClr val="bg2">
                    <a:lumMod val="50000"/>
                  </a:schemeClr>
                </a:solidFill>
                <a:effectLst/>
                <a:latin typeface="Atkinson Hyperlegible" pitchFamily="2" charset="77"/>
              </a:rPr>
              <a:t>(</a:t>
            </a:r>
            <a:r>
              <a:rPr lang="it-IT" sz="1200" b="0" i="1" noProof="0" dirty="0" err="1">
                <a:solidFill>
                  <a:schemeClr val="bg2">
                    <a:lumMod val="50000"/>
                  </a:schemeClr>
                </a:solidFill>
                <a:effectLst/>
                <a:latin typeface="Atkinson Hyperlegible" pitchFamily="2" charset="77"/>
              </a:rPr>
              <a:t>Sanity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  <a:latin typeface="Atkinson Hyperlegible" pitchFamily="2" charset="77"/>
              </a:rPr>
              <a:t>-check).</a:t>
            </a:r>
            <a:endParaRPr lang="it-IT" sz="1200" noProof="0" dirty="0">
              <a:solidFill>
                <a:schemeClr val="bg2">
                  <a:lumMod val="50000"/>
                </a:schemeClr>
              </a:solidFill>
              <a:latin typeface="Atkinson Hyperlegible" pitchFamily="2" charset="77"/>
              <a:ea typeface="PT Sans" panose="020B0503020203020204" pitchFamily="34" charset="0"/>
              <a:cs typeface="Poppins" panose="00000500000000000000" pitchFamily="50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1C58DC5-5F60-84CD-7246-6DA293A49AFA}"/>
              </a:ext>
            </a:extLst>
          </p:cNvPr>
          <p:cNvSpPr/>
          <p:nvPr/>
        </p:nvSpPr>
        <p:spPr>
          <a:xfrm>
            <a:off x="7226705" y="5120988"/>
            <a:ext cx="48917" cy="492059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81195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22D88-AD1E-7061-21F3-28544A99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72036FBB-8D0D-2CE7-AA1C-66E793C55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734" y="1297454"/>
            <a:ext cx="4441986" cy="5012900"/>
          </a:xfrm>
          <a:prstGeom prst="rect">
            <a:avLst/>
          </a:prstGeom>
        </p:spPr>
      </p:pic>
      <p:sp>
        <p:nvSpPr>
          <p:cNvPr id="58" name="Rettangolo 57">
            <a:extLst>
              <a:ext uri="{FF2B5EF4-FFF2-40B4-BE49-F238E27FC236}">
                <a16:creationId xmlns:a16="http://schemas.microsoft.com/office/drawing/2014/main" id="{3F63695D-641B-25C9-82B9-44769B0D3428}"/>
              </a:ext>
            </a:extLst>
          </p:cNvPr>
          <p:cNvSpPr/>
          <p:nvPr/>
        </p:nvSpPr>
        <p:spPr>
          <a:xfrm>
            <a:off x="-294968" y="-32856"/>
            <a:ext cx="12993277" cy="1139411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7B8C79A3-641D-29EE-E37C-91B1C50500D8}"/>
              </a:ext>
            </a:extLst>
          </p:cNvPr>
          <p:cNvSpPr/>
          <p:nvPr/>
        </p:nvSpPr>
        <p:spPr>
          <a:xfrm>
            <a:off x="695324" y="621119"/>
            <a:ext cx="8201026" cy="311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it-IT" sz="2200" b="1" noProof="0" dirty="0">
                <a:solidFill>
                  <a:schemeClr val="bg1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Controllore con PID – Richiami e Architettura a Doppio Ciclo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4">
                <a:extLst>
                  <a:ext uri="{FF2B5EF4-FFF2-40B4-BE49-F238E27FC236}">
                    <a16:creationId xmlns:a16="http://schemas.microsoft.com/office/drawing/2014/main" id="{2EDC696D-C651-62E4-9708-3ED2A135EBEF}"/>
                  </a:ext>
                </a:extLst>
              </p:cNvPr>
              <p:cNvSpPr/>
              <p:nvPr/>
            </p:nvSpPr>
            <p:spPr>
              <a:xfrm>
                <a:off x="695324" y="1661869"/>
                <a:ext cx="6572278" cy="41771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noProof="0" dirty="0">
                    <a:solidFill>
                      <a:srgbClr val="424242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Controllore Proporzionale-Derivativo-Integrativo, regola una variabile di processo, confrontando il valore letto con quello desiderato (</a:t>
                </a:r>
                <a:r>
                  <a:rPr lang="it-IT" i="1" noProof="0" dirty="0" err="1">
                    <a:solidFill>
                      <a:srgbClr val="424242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setpoint</a:t>
                </a:r>
                <a:r>
                  <a:rPr lang="it-IT" noProof="0" dirty="0">
                    <a:solidFill>
                      <a:srgbClr val="424242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).</a:t>
                </a:r>
              </a:p>
              <a:p>
                <a:pPr marL="285750" indent="-285750"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endParaRPr lang="it-IT" dirty="0">
                  <a:solidFill>
                    <a:srgbClr val="424242"/>
                  </a:solidFill>
                  <a:latin typeface="Atkinson Hyperlegible" pitchFamily="2" charset="77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marL="285750" indent="-285750"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noProof="0" dirty="0">
                    <a:solidFill>
                      <a:srgbClr val="424242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Utilizzato nella forma discreta:</a:t>
                </a:r>
                <a:br>
                  <a:rPr lang="it-IT" noProof="0" dirty="0">
                    <a:solidFill>
                      <a:srgbClr val="424242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</a:b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["/>
                        <m:endChr m:val="]"/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nary>
                      <m:naryPr>
                        <m:chr m:val="∑"/>
                        <m:limLoc m:val="subSup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it-IT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nary>
                    <m:r>
                      <a:rPr lang="it-IT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it-IT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it-IT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it-IT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sz="2100" dirty="0"/>
              </a:p>
              <a:p>
                <a:pPr marL="285750" indent="-285750">
                  <a:spcBef>
                    <a:spcPts val="1800"/>
                  </a:spcBef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dirty="0">
                    <a:solidFill>
                      <a:srgbClr val="424242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Architettura a doppio ciclo PID; uno impiegato nella stabilizzazione dell’angolo, e l’altro nel controllo del carrello </a:t>
                </a:r>
                <a:r>
                  <a:rPr lang="it-IT" dirty="0">
                    <a:solidFill>
                      <a:schemeClr val="bg2">
                        <a:lumMod val="25000"/>
                      </a:schemeClr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(</a:t>
                </a:r>
                <a:r>
                  <a:rPr lang="it-IT" dirty="0">
                    <a:solidFill>
                      <a:schemeClr val="bg2">
                        <a:lumMod val="25000"/>
                      </a:schemeClr>
                    </a:solidFill>
                  </a:rPr>
                  <a:t>Vivek K. P., et al., 2017), (</a:t>
                </a:r>
                <a:r>
                  <a:rPr lang="it-IT" dirty="0" err="1">
                    <a:solidFill>
                      <a:schemeClr val="bg2">
                        <a:lumMod val="25000"/>
                      </a:schemeClr>
                    </a:solidFill>
                  </a:rPr>
                  <a:t>Dang</a:t>
                </a:r>
                <a:r>
                  <a:rPr lang="it-IT" dirty="0">
                    <a:solidFill>
                      <a:schemeClr val="bg2">
                        <a:lumMod val="25000"/>
                      </a:schemeClr>
                    </a:solidFill>
                  </a:rPr>
                  <a:t>, et al. 2024), (</a:t>
                </a:r>
                <a:r>
                  <a:rPr lang="it-IT" dirty="0" err="1">
                    <a:solidFill>
                      <a:schemeClr val="bg2">
                        <a:lumMod val="25000"/>
                      </a:schemeClr>
                    </a:solidFill>
                  </a:rPr>
                  <a:t>Samadh</a:t>
                </a:r>
                <a:r>
                  <a:rPr lang="it-IT" dirty="0">
                    <a:solidFill>
                      <a:schemeClr val="bg2">
                        <a:lumMod val="25000"/>
                      </a:schemeClr>
                    </a:solidFill>
                  </a:rPr>
                  <a:t>, 2017)</a:t>
                </a:r>
                <a:r>
                  <a:rPr lang="it-IT" dirty="0">
                    <a:solidFill>
                      <a:schemeClr val="bg2">
                        <a:lumMod val="25000"/>
                      </a:schemeClr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:</a:t>
                </a:r>
                <a:br>
                  <a:rPr lang="it-IT" sz="900" dirty="0">
                    <a:solidFill>
                      <a:schemeClr val="bg2">
                        <a:lumMod val="25000"/>
                      </a:schemeClr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</a:b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𝑃𝐼𝐷</m:t>
                        </m:r>
                      </m:e>
                      <m:sub>
                        <m:r>
                          <a:rPr lang="it-IT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𝑃𝐼𝐷</m:t>
                        </m:r>
                      </m:e>
                      <m:sub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  <m:r>
                          <a:rPr lang="it-IT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phant>
                      <m:phantPr>
                        <m:show m:val="off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phant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it-IT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nary>
                      </m:e>
                    </m:phant>
                  </m:oMath>
                </a14:m>
                <a:endParaRPr lang="it-IT" sz="1400" dirty="0"/>
              </a:p>
              <a:p>
                <a:br>
                  <a:rPr lang="it-IT" sz="1600" dirty="0">
                    <a:solidFill>
                      <a:srgbClr val="424242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</a:br>
                <a:endParaRPr lang="it-IT" sz="16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4" name="Rectangle 4">
                <a:extLst>
                  <a:ext uri="{FF2B5EF4-FFF2-40B4-BE49-F238E27FC236}">
                    <a16:creationId xmlns:a16="http://schemas.microsoft.com/office/drawing/2014/main" id="{2EDC696D-C651-62E4-9708-3ED2A135EB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4" y="1661869"/>
                <a:ext cx="6572278" cy="4177169"/>
              </a:xfrm>
              <a:prstGeom prst="rect">
                <a:avLst/>
              </a:prstGeom>
              <a:blipFill>
                <a:blip r:embed="rId4"/>
                <a:stretch>
                  <a:fillRect l="-557" t="-87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ttangolo 14">
            <a:extLst>
              <a:ext uri="{FF2B5EF4-FFF2-40B4-BE49-F238E27FC236}">
                <a16:creationId xmlns:a16="http://schemas.microsoft.com/office/drawing/2014/main" id="{1DB7EC36-7687-5C70-4958-84F1FB45A5A7}"/>
              </a:ext>
            </a:extLst>
          </p:cNvPr>
          <p:cNvSpPr/>
          <p:nvPr/>
        </p:nvSpPr>
        <p:spPr>
          <a:xfrm>
            <a:off x="-195210" y="5943602"/>
            <a:ext cx="12387209" cy="97715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34135D88-4C21-9E86-99E3-4C06B4A04B5D}"/>
              </a:ext>
            </a:extLst>
          </p:cNvPr>
          <p:cNvSpPr/>
          <p:nvPr/>
        </p:nvSpPr>
        <p:spPr>
          <a:xfrm>
            <a:off x="-61301" y="5934488"/>
            <a:ext cx="12305631" cy="54425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BF839177-39A1-1A6D-CBCD-9BEF018580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6078" y="6133296"/>
            <a:ext cx="2283511" cy="566274"/>
          </a:xfrm>
          <a:prstGeom prst="rect">
            <a:avLst/>
          </a:prstGeom>
        </p:spPr>
      </p:pic>
      <p:pic>
        <p:nvPicPr>
          <p:cNvPr id="8" name="Picture 2" descr="1: Diagram of a classic PID controller">
            <a:extLst>
              <a:ext uri="{FF2B5EF4-FFF2-40B4-BE49-F238E27FC236}">
                <a16:creationId xmlns:a16="http://schemas.microsoft.com/office/drawing/2014/main" id="{2A046756-2562-6D7C-8982-042FD51B7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627" y="2152688"/>
            <a:ext cx="5446901" cy="224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24">
            <a:extLst>
              <a:ext uri="{FF2B5EF4-FFF2-40B4-BE49-F238E27FC236}">
                <a16:creationId xmlns:a16="http://schemas.microsoft.com/office/drawing/2014/main" id="{D091A1C2-6005-26B7-BEE0-BDF6F9AA2577}"/>
              </a:ext>
            </a:extLst>
          </p:cNvPr>
          <p:cNvSpPr txBox="1"/>
          <p:nvPr/>
        </p:nvSpPr>
        <p:spPr>
          <a:xfrm>
            <a:off x="7637571" y="4626581"/>
            <a:ext cx="2754203" cy="49205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it-IT" sz="1200" noProof="0" dirty="0">
                <a:solidFill>
                  <a:schemeClr val="bg2">
                    <a:lumMod val="50000"/>
                  </a:schemeClr>
                </a:solidFill>
                <a:latin typeface="Atkinson Hyperlegible" pitchFamily="2" charset="77"/>
                <a:ea typeface="PT Sans" panose="020B0503020203020204" pitchFamily="34" charset="0"/>
                <a:cs typeface="Poppins" panose="00000500000000000000" pitchFamily="50" charset="0"/>
              </a:rPr>
              <a:t>Diagramma a blocchi di un controllore PID a tempo continuo.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B21EB02-61CE-6B90-AE66-20B34F59F7FD}"/>
              </a:ext>
            </a:extLst>
          </p:cNvPr>
          <p:cNvSpPr/>
          <p:nvPr/>
        </p:nvSpPr>
        <p:spPr>
          <a:xfrm>
            <a:off x="7588655" y="4626581"/>
            <a:ext cx="48917" cy="492059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587310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ECC5C-BFB6-AB8F-AEC6-E1C977922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53DE0600-505C-742F-6E99-7ACC38291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734" y="1297454"/>
            <a:ext cx="4441986" cy="5012900"/>
          </a:xfrm>
          <a:prstGeom prst="rect">
            <a:avLst/>
          </a:prstGeom>
        </p:spPr>
      </p:pic>
      <p:sp>
        <p:nvSpPr>
          <p:cNvPr id="58" name="Rettangolo 57">
            <a:extLst>
              <a:ext uri="{FF2B5EF4-FFF2-40B4-BE49-F238E27FC236}">
                <a16:creationId xmlns:a16="http://schemas.microsoft.com/office/drawing/2014/main" id="{2CF0DA7B-1975-DD97-08B9-FD5512EE6309}"/>
              </a:ext>
            </a:extLst>
          </p:cNvPr>
          <p:cNvSpPr/>
          <p:nvPr/>
        </p:nvSpPr>
        <p:spPr>
          <a:xfrm>
            <a:off x="-294968" y="-32856"/>
            <a:ext cx="12993277" cy="1139411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E625EDB4-0FC0-8EC8-5B82-E886697A3403}"/>
              </a:ext>
            </a:extLst>
          </p:cNvPr>
          <p:cNvSpPr/>
          <p:nvPr/>
        </p:nvSpPr>
        <p:spPr>
          <a:xfrm>
            <a:off x="695324" y="621119"/>
            <a:ext cx="8201026" cy="311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it-IT" sz="2200" b="1" noProof="0" dirty="0">
                <a:solidFill>
                  <a:schemeClr val="bg1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Simulazione e Raccolta Dati Ingresso-Uscita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2EF112ED-0AB2-7671-9EDB-31621B596DAD}"/>
              </a:ext>
            </a:extLst>
          </p:cNvPr>
          <p:cNvSpPr/>
          <p:nvPr/>
        </p:nvSpPr>
        <p:spPr>
          <a:xfrm>
            <a:off x="695325" y="1922403"/>
            <a:ext cx="4299369" cy="324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Clr>
                <a:srgbClr val="1F7E9C"/>
              </a:buClr>
              <a:buFont typeface="Wingdings" panose="05000000000000000000" pitchFamily="2" charset="2"/>
              <a:buChar char="v"/>
            </a:pPr>
            <a:r>
              <a:rPr lang="it-IT" noProof="0" dirty="0">
                <a:solidFill>
                  <a:srgbClr val="424242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Simulazioni multiple del sistema a ciclo chiuso, e raccolta dati su stato e ingresso per ogni istante di tempo;</a:t>
            </a:r>
          </a:p>
          <a:p>
            <a:pPr marL="285750" indent="-285750">
              <a:spcAft>
                <a:spcPts val="1800"/>
              </a:spcAft>
              <a:buClr>
                <a:srgbClr val="1F7E9C"/>
              </a:buClr>
              <a:buFont typeface="Wingdings" panose="05000000000000000000" pitchFamily="2" charset="2"/>
              <a:buChar char="v"/>
            </a:pPr>
            <a:r>
              <a:rPr lang="it-IT" dirty="0">
                <a:solidFill>
                  <a:srgbClr val="424242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Riferimento al carrello basato su una combinazione di una o più onde quadre smussate;</a:t>
            </a:r>
          </a:p>
          <a:p>
            <a:pPr marL="285750" indent="-285750">
              <a:buClr>
                <a:srgbClr val="1F7E9C"/>
              </a:buClr>
              <a:buFont typeface="Wingdings" panose="05000000000000000000" pitchFamily="2" charset="2"/>
              <a:buChar char="v"/>
            </a:pPr>
            <a:endParaRPr lang="it-IT" b="1" dirty="0">
              <a:solidFill>
                <a:srgbClr val="424242"/>
              </a:solidFill>
              <a:latin typeface="Atkinson Hyperlegible" pitchFamily="2" charset="77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Clr>
                <a:srgbClr val="1F7E9C"/>
              </a:buClr>
              <a:buFont typeface="Wingdings" panose="05000000000000000000" pitchFamily="2" charset="2"/>
              <a:buChar char="v"/>
            </a:pPr>
            <a:r>
              <a:rPr lang="it-IT" b="1" dirty="0">
                <a:solidFill>
                  <a:srgbClr val="424242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Obiettivo:</a:t>
            </a:r>
            <a:r>
              <a:rPr lang="it-IT" dirty="0">
                <a:solidFill>
                  <a:srgbClr val="424242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 eccitare il sistema nell’intorno del punto di linearizzazione, e raccogliere i dati ingresso-uscita(stato).</a:t>
            </a:r>
            <a:endParaRPr lang="it-IT" b="1" dirty="0">
              <a:solidFill>
                <a:srgbClr val="424242"/>
              </a:solidFill>
              <a:latin typeface="Atkinson Hyperlegible" pitchFamily="2" charset="77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3351C916-2BE8-1A85-E43D-D429EC3AC044}"/>
              </a:ext>
            </a:extLst>
          </p:cNvPr>
          <p:cNvSpPr/>
          <p:nvPr/>
        </p:nvSpPr>
        <p:spPr>
          <a:xfrm>
            <a:off x="-195210" y="5943602"/>
            <a:ext cx="12387209" cy="97715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856E6A7-0340-778C-C614-EAF8D93D832B}"/>
              </a:ext>
            </a:extLst>
          </p:cNvPr>
          <p:cNvSpPr/>
          <p:nvPr/>
        </p:nvSpPr>
        <p:spPr>
          <a:xfrm>
            <a:off x="-61301" y="5934488"/>
            <a:ext cx="12305631" cy="54425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D359F8D2-986A-0FF4-67F2-BF8043091E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6078" y="6133296"/>
            <a:ext cx="2283511" cy="566274"/>
          </a:xfrm>
          <a:prstGeom prst="rect">
            <a:avLst/>
          </a:prstGeom>
        </p:spPr>
      </p:pic>
      <p:sp>
        <p:nvSpPr>
          <p:cNvPr id="7" name="TextBox 24">
            <a:extLst>
              <a:ext uri="{FF2B5EF4-FFF2-40B4-BE49-F238E27FC236}">
                <a16:creationId xmlns:a16="http://schemas.microsoft.com/office/drawing/2014/main" id="{E9A5B9BE-DCC3-2FEF-3770-67771D3DE011}"/>
              </a:ext>
            </a:extLst>
          </p:cNvPr>
          <p:cNvSpPr txBox="1"/>
          <p:nvPr/>
        </p:nvSpPr>
        <p:spPr>
          <a:xfrm>
            <a:off x="7275622" y="5120988"/>
            <a:ext cx="2533974" cy="49205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it-IT" sz="1200" b="0" i="0" noProof="0" dirty="0">
                <a:solidFill>
                  <a:schemeClr val="bg2">
                    <a:lumMod val="50000"/>
                  </a:schemeClr>
                </a:solidFill>
                <a:effectLst/>
                <a:latin typeface="Atkinson Hyperlegible" pitchFamily="2" charset="77"/>
              </a:rPr>
              <a:t>Simulazione del sistema a ciclo chiuso 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latin typeface="Atkinson Hyperlegible" pitchFamily="2" charset="77"/>
              </a:rPr>
              <a:t>con controllore a doppio ciclo PID.</a:t>
            </a:r>
            <a:endParaRPr lang="it-IT" sz="1200" noProof="0" dirty="0">
              <a:solidFill>
                <a:schemeClr val="bg2">
                  <a:lumMod val="50000"/>
                </a:schemeClr>
              </a:solidFill>
              <a:latin typeface="Atkinson Hyperlegible" pitchFamily="2" charset="77"/>
              <a:ea typeface="PT Sans" panose="020B0503020203020204" pitchFamily="34" charset="0"/>
              <a:cs typeface="Poppins" panose="00000500000000000000" pitchFamily="50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8E8410B-16D2-58ED-7C22-1647001E2E0F}"/>
              </a:ext>
            </a:extLst>
          </p:cNvPr>
          <p:cNvSpPr/>
          <p:nvPr/>
        </p:nvSpPr>
        <p:spPr>
          <a:xfrm>
            <a:off x="7226705" y="5120988"/>
            <a:ext cx="48917" cy="492059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3" name="Immagine 2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D9E83AF2-511F-1F8D-4970-165B9ADDB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0882" y="1294033"/>
            <a:ext cx="6425485" cy="382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0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5590A-5D11-4F19-CF20-5D1994DB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2767AEDC-470D-FAEC-BCF3-50C6E0A1D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734" y="1297454"/>
            <a:ext cx="4441986" cy="5012900"/>
          </a:xfrm>
          <a:prstGeom prst="rect">
            <a:avLst/>
          </a:prstGeom>
        </p:spPr>
      </p:pic>
      <p:sp>
        <p:nvSpPr>
          <p:cNvPr id="58" name="Rettangolo 57">
            <a:extLst>
              <a:ext uri="{FF2B5EF4-FFF2-40B4-BE49-F238E27FC236}">
                <a16:creationId xmlns:a16="http://schemas.microsoft.com/office/drawing/2014/main" id="{AC0674EB-D8C3-43A7-EE1A-4FC4C48AD93C}"/>
              </a:ext>
            </a:extLst>
          </p:cNvPr>
          <p:cNvSpPr/>
          <p:nvPr/>
        </p:nvSpPr>
        <p:spPr>
          <a:xfrm>
            <a:off x="-294968" y="-32856"/>
            <a:ext cx="12993277" cy="1139411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4">
                <a:extLst>
                  <a:ext uri="{FF2B5EF4-FFF2-40B4-BE49-F238E27FC236}">
                    <a16:creationId xmlns:a16="http://schemas.microsoft.com/office/drawing/2014/main" id="{C295725A-56E3-6034-E25C-CBD8443C063D}"/>
                  </a:ext>
                </a:extLst>
              </p:cNvPr>
              <p:cNvSpPr/>
              <p:nvPr/>
            </p:nvSpPr>
            <p:spPr>
              <a:xfrm>
                <a:off x="695324" y="621119"/>
                <a:ext cx="8201026" cy="3111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ts val="1500"/>
                  </a:lnSpc>
                </a:pPr>
                <a:r>
                  <a:rPr lang="it-IT" sz="2200" b="1" noProof="0" dirty="0">
                    <a:solidFill>
                      <a:schemeClr val="bg1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Stima delle Matrici </a:t>
                </a:r>
                <a14:m>
                  <m:oMath xmlns:m="http://schemas.openxmlformats.org/officeDocument/2006/math">
                    <m:r>
                      <a:rPr lang="it-IT" sz="2200" b="1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𝑨</m:t>
                    </m:r>
                  </m:oMath>
                </a14:m>
                <a:r>
                  <a:rPr lang="it-IT" sz="2200" b="1" noProof="0" dirty="0">
                    <a:solidFill>
                      <a:schemeClr val="bg1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it-IT" sz="2200" b="1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𝑩</m:t>
                    </m:r>
                  </m:oMath>
                </a14:m>
                <a:r>
                  <a:rPr lang="it-IT" sz="2200" b="1" noProof="0" dirty="0">
                    <a:solidFill>
                      <a:schemeClr val="bg1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 del Sistema – Regressione Lineare</a:t>
                </a:r>
              </a:p>
            </p:txBody>
          </p:sp>
        </mc:Choice>
        <mc:Fallback xmlns="">
          <p:sp>
            <p:nvSpPr>
              <p:cNvPr id="23" name="Rectangle 4">
                <a:extLst>
                  <a:ext uri="{FF2B5EF4-FFF2-40B4-BE49-F238E27FC236}">
                    <a16:creationId xmlns:a16="http://schemas.microsoft.com/office/drawing/2014/main" id="{C295725A-56E3-6034-E25C-CBD8443C06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4" y="621119"/>
                <a:ext cx="8201026" cy="311111"/>
              </a:xfrm>
              <a:prstGeom prst="rect">
                <a:avLst/>
              </a:prstGeom>
              <a:blipFill>
                <a:blip r:embed="rId4"/>
                <a:stretch>
                  <a:fillRect l="-967" t="-52941" b="-372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4">
                <a:extLst>
                  <a:ext uri="{FF2B5EF4-FFF2-40B4-BE49-F238E27FC236}">
                    <a16:creationId xmlns:a16="http://schemas.microsoft.com/office/drawing/2014/main" id="{06C26338-3ED3-5631-1E67-5E3E0C16F2C5}"/>
                  </a:ext>
                </a:extLst>
              </p:cNvPr>
              <p:cNvSpPr/>
              <p:nvPr/>
            </p:nvSpPr>
            <p:spPr>
              <a:xfrm>
                <a:off x="695325" y="1922403"/>
                <a:ext cx="10619083" cy="34390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noProof="0" dirty="0">
                    <a:solidFill>
                      <a:schemeClr val="bg2">
                        <a:lumMod val="25000"/>
                      </a:schemeClr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Ipotesi di linearità nell’intorno di </a:t>
                </a:r>
                <a14:m>
                  <m:oMath xmlns:m="http://schemas.openxmlformats.org/officeDocument/2006/math">
                    <m:r>
                      <a:rPr lang="it-IT" b="0" i="1" noProof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𝜃</m:t>
                    </m:r>
                    <m:r>
                      <a:rPr lang="it-IT" b="0" i="1" noProof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≈0  ⇒</m:t>
                    </m:r>
                  </m:oMath>
                </a14:m>
                <a:r>
                  <a:rPr lang="it-IT" dirty="0">
                    <a:solidFill>
                      <a:schemeClr val="bg2">
                        <a:lumMod val="25000"/>
                      </a:schemeClr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 dinamiche locali del pendolo invertito descrivibili dal sistema spazio-stato:</a:t>
                </a:r>
              </a:p>
              <a:p>
                <a:pPr>
                  <a:buClr>
                    <a:srgbClr val="1F7E9C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𝑦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𝑘</m:t>
                          </m:r>
                          <m:r>
                            <a:rPr lang="it-IT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+1</m:t>
                          </m:r>
                        </m:sub>
                      </m:sSub>
                      <m:r>
                        <a:rPr lang="it-IT" b="0" i="1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=</m:t>
                      </m:r>
                      <m:r>
                        <a:rPr lang="it-IT" b="0" i="1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𝐴</m:t>
                      </m:r>
                      <m:sSub>
                        <m:sSubPr>
                          <m:ctrlPr>
                            <a:rPr lang="it-IT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𝑦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𝑘</m:t>
                          </m:r>
                        </m:sub>
                      </m:sSub>
                      <m:r>
                        <a:rPr lang="it-IT" b="0" i="1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+</m:t>
                      </m:r>
                      <m:r>
                        <a:rPr lang="it-IT" b="0" i="1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𝐵</m:t>
                      </m:r>
                      <m:sSub>
                        <m:sSubPr>
                          <m:ctrlPr>
                            <a:rPr lang="it-IT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𝑢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dirty="0">
                  <a:solidFill>
                    <a:schemeClr val="bg2">
                      <a:lumMod val="25000"/>
                    </a:schemeClr>
                  </a:solidFill>
                  <a:latin typeface="Atkinson Hyperlegible" pitchFamily="2" charset="77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marL="285750" indent="-285750"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endParaRPr lang="it-IT" b="1" dirty="0">
                  <a:solidFill>
                    <a:schemeClr val="bg2">
                      <a:lumMod val="25000"/>
                    </a:schemeClr>
                  </a:solidFill>
                  <a:latin typeface="Atkinson Hyperlegible" pitchFamily="2" charset="77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marL="285750" indent="-285750"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dirty="0">
                    <a:solidFill>
                      <a:schemeClr val="bg2">
                        <a:lumMod val="25000"/>
                      </a:schemeClr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Formulazione del problema di regressione lineare per la stima di A e B, a partire dai dataset con dati ingresso-uscita(stato) raccolti: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>
                  <a:solidFill>
                    <a:schemeClr val="bg2">
                      <a:lumMod val="25000"/>
                    </a:schemeClr>
                  </a:solidFill>
                  <a:latin typeface="Atkinson Hyperlegible" pitchFamily="2" charset="77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it-IT" i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i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𝑋𝑀</m:t>
                      </m:r>
                      <m:r>
                        <a:rPr lang="it-IT" i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it-IT" i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↔</m:t>
                      </m:r>
                      <m:r>
                        <a:rPr lang="it-IT" i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it-IT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it-IT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it-IT" i="1">
                                      <a:solidFill>
                                        <a:schemeClr val="bg2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it-IT" i="1">
                                          <a:solidFill>
                                            <a:schemeClr val="bg2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Sup>
                                          <m:sSubSupPr>
                                            <m:ctrlP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</m:e>
                                    </m:mr>
                                    <m:mr>
                                      <m:e>
                                        <m:sSubSup>
                                          <m:sSubSupPr>
                                            <m:ctrlP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  <m:sup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</m:e>
                                    </m:mr>
                                    <m:mr>
                                      <m:e>
                                        <m:r>
                                          <a:rPr lang="it-IT" i="1">
                                            <a:solidFill>
                                              <a:schemeClr val="bg2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sSubSup>
                                          <m:sSubSupPr>
                                            <m:ctrlP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sub>
                                          <m:sup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it-IT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𝑠𝑡𝑎𝑡𝑜</m:t>
                          </m:r>
                          <m:r>
                            <a:rPr lang="it-IT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𝑓𝑢𝑡𝑢𝑟𝑜</m:t>
                          </m:r>
                        </m:lim>
                      </m:limLow>
                      <m:r>
                        <a:rPr lang="it-IT" i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it-IT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it-IT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it-IT" i="1">
                                      <a:solidFill>
                                        <a:schemeClr val="bg2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it-IT" i="1">
                                          <a:solidFill>
                                            <a:schemeClr val="bg2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Sup>
                                          <m:sSubSupPr>
                                            <m:ctrlP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Sup>
                                          <m:sSubSupPr>
                                            <m:ctrlP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r>
                                          <a:rPr lang="it-IT" i="1">
                                            <a:solidFill>
                                              <a:schemeClr val="bg2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  <m:e>
                                        <m:r>
                                          <a:rPr lang="it-IT" i="1">
                                            <a:solidFill>
                                              <a:schemeClr val="bg2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sSubSup>
                                          <m:sSubSupPr>
                                            <m:ctrlP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  <m:sup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bSup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it-IT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𝑠𝑡𝑎𝑡𝑜</m:t>
                          </m:r>
                          <m:r>
                            <a:rPr lang="it-IT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it-IT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𝑖𝑛𝑔𝑟𝑒𝑠𝑠𝑜</m:t>
                          </m:r>
                        </m:lim>
                      </m:limLow>
                      <m:limLow>
                        <m:limLowPr>
                          <m:ctrlPr>
                            <a:rPr lang="it-IT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it-IT" i="1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it-IT" i="1">
                                      <a:solidFill>
                                        <a:schemeClr val="bg2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it-IT" i="1">
                                          <a:solidFill>
                                            <a:schemeClr val="bg2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p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p>
                                            <m:r>
                                              <a:rPr lang="it-IT" i="1">
                                                <a:solidFill>
                                                  <a:schemeClr val="bg2">
                                                    <a:lumMod val="2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it-IT" i="1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lim>
                      </m:limLow>
                    </m:oMath>
                  </m:oMathPara>
                </a14:m>
                <a:endParaRPr lang="it-IT" dirty="0">
                  <a:solidFill>
                    <a:schemeClr val="bg2">
                      <a:lumMod val="25000"/>
                    </a:schemeClr>
                  </a:solidFill>
                  <a:latin typeface="Atkinson Hyperlegible" pitchFamily="2" charset="77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4" name="Rectangle 4">
                <a:extLst>
                  <a:ext uri="{FF2B5EF4-FFF2-40B4-BE49-F238E27FC236}">
                    <a16:creationId xmlns:a16="http://schemas.microsoft.com/office/drawing/2014/main" id="{06C26338-3ED3-5631-1E67-5E3E0C16F2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5" y="1922403"/>
                <a:ext cx="10619083" cy="3439018"/>
              </a:xfrm>
              <a:prstGeom prst="rect">
                <a:avLst/>
              </a:prstGeom>
              <a:blipFill>
                <a:blip r:embed="rId5"/>
                <a:stretch>
                  <a:fillRect l="-344" t="-8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ttangolo 14">
            <a:extLst>
              <a:ext uri="{FF2B5EF4-FFF2-40B4-BE49-F238E27FC236}">
                <a16:creationId xmlns:a16="http://schemas.microsoft.com/office/drawing/2014/main" id="{011B01F8-765C-BD36-C5AD-4D716EAAA9FB}"/>
              </a:ext>
            </a:extLst>
          </p:cNvPr>
          <p:cNvSpPr/>
          <p:nvPr/>
        </p:nvSpPr>
        <p:spPr>
          <a:xfrm>
            <a:off x="-195210" y="5943602"/>
            <a:ext cx="12387209" cy="97715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E14BC5D3-1881-99DE-2915-52052BE8C024}"/>
              </a:ext>
            </a:extLst>
          </p:cNvPr>
          <p:cNvSpPr/>
          <p:nvPr/>
        </p:nvSpPr>
        <p:spPr>
          <a:xfrm>
            <a:off x="-61301" y="5934488"/>
            <a:ext cx="12305631" cy="54425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617B5D5-0C63-88E9-E165-7A30F98BEE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6078" y="6133296"/>
            <a:ext cx="2283511" cy="5662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4">
                <a:extLst>
                  <a:ext uri="{FF2B5EF4-FFF2-40B4-BE49-F238E27FC236}">
                    <a16:creationId xmlns:a16="http://schemas.microsoft.com/office/drawing/2014/main" id="{32CAD893-D34C-9ECD-EA3B-9FDBE8C04426}"/>
                  </a:ext>
                </a:extLst>
              </p:cNvPr>
              <p:cNvSpPr txBox="1"/>
              <p:nvPr/>
            </p:nvSpPr>
            <p:spPr>
              <a:xfrm>
                <a:off x="877592" y="4893182"/>
                <a:ext cx="2533974" cy="697242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600"/>
                  </a:lnSpc>
                </a:pPr>
                <a:r>
                  <a:rPr lang="it-IT" sz="1200" dirty="0">
                    <a:solidFill>
                      <a:schemeClr val="bg2">
                        <a:lumMod val="50000"/>
                      </a:schemeClr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Con </a:t>
                </a:r>
                <a14:m>
                  <m:oMath xmlns:m="http://schemas.openxmlformats.org/officeDocument/2006/math">
                    <m:r>
                      <a:rPr lang="it-IT" sz="11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sz="11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sz="11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11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it-IT" sz="1100" i="1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it-IT" sz="11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it-IT" sz="1100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1100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e>
                                  <m:r>
                                    <a:rPr lang="it-IT" sz="11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it-IT" sz="1100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1100" i="1">
                                          <a:solidFill>
                                            <a:schemeClr val="bg2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it-IT" sz="11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it-IT" sz="1200" dirty="0">
                    <a:solidFill>
                      <a:schemeClr val="bg2">
                        <a:lumMod val="50000"/>
                      </a:schemeClr>
                    </a:solidFill>
                  </a:rPr>
                  <a:t>  vettore di stato del sistema</a:t>
                </a:r>
                <a:endParaRPr lang="it-IT" sz="1200" dirty="0">
                  <a:solidFill>
                    <a:schemeClr val="bg2">
                      <a:lumMod val="50000"/>
                    </a:schemeClr>
                  </a:solidFill>
                  <a:latin typeface="Atkinson Hyperlegible" pitchFamily="2" charset="77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>
                  <a:lnSpc>
                    <a:spcPts val="1600"/>
                  </a:lnSpc>
                </a:pPr>
                <a:endParaRPr lang="it-IT" sz="1200" noProof="0" dirty="0">
                  <a:solidFill>
                    <a:schemeClr val="bg2">
                      <a:lumMod val="50000"/>
                    </a:schemeClr>
                  </a:solidFill>
                  <a:latin typeface="Atkinson Hyperlegible" pitchFamily="2" charset="77"/>
                  <a:ea typeface="PT Sans" panose="020B0503020203020204" pitchFamily="34" charset="0"/>
                  <a:cs typeface="Poppins" panose="00000500000000000000" pitchFamily="50" charset="0"/>
                </a:endParaRPr>
              </a:p>
            </p:txBody>
          </p:sp>
        </mc:Choice>
        <mc:Fallback xmlns="">
          <p:sp>
            <p:nvSpPr>
              <p:cNvPr id="4" name="TextBox 24">
                <a:extLst>
                  <a:ext uri="{FF2B5EF4-FFF2-40B4-BE49-F238E27FC236}">
                    <a16:creationId xmlns:a16="http://schemas.microsoft.com/office/drawing/2014/main" id="{32CAD893-D34C-9ECD-EA3B-9FDBE8C04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92" y="4893182"/>
                <a:ext cx="2533974" cy="697242"/>
              </a:xfrm>
              <a:prstGeom prst="rect">
                <a:avLst/>
              </a:prstGeom>
              <a:blipFill>
                <a:blip r:embed="rId7"/>
                <a:stretch>
                  <a:fillRect l="-240"/>
                </a:stretch>
              </a:blipFill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tangolo 4">
            <a:extLst>
              <a:ext uri="{FF2B5EF4-FFF2-40B4-BE49-F238E27FC236}">
                <a16:creationId xmlns:a16="http://schemas.microsoft.com/office/drawing/2014/main" id="{517CF421-B612-6862-EBFC-1D953E3CB219}"/>
              </a:ext>
            </a:extLst>
          </p:cNvPr>
          <p:cNvSpPr/>
          <p:nvPr/>
        </p:nvSpPr>
        <p:spPr>
          <a:xfrm>
            <a:off x="828675" y="4893182"/>
            <a:ext cx="48917" cy="492059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34416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FABAD-D976-3BFA-11BE-434F2E510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magine 44">
            <a:extLst>
              <a:ext uri="{FF2B5EF4-FFF2-40B4-BE49-F238E27FC236}">
                <a16:creationId xmlns:a16="http://schemas.microsoft.com/office/drawing/2014/main" id="{038451A7-0549-6CF4-37C8-A267C22D9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734" y="1297454"/>
            <a:ext cx="4441986" cy="5012900"/>
          </a:xfrm>
          <a:prstGeom prst="rect">
            <a:avLst/>
          </a:prstGeom>
        </p:spPr>
      </p:pic>
      <p:sp>
        <p:nvSpPr>
          <p:cNvPr id="24" name="Rectangle 4">
            <a:extLst>
              <a:ext uri="{FF2B5EF4-FFF2-40B4-BE49-F238E27FC236}">
                <a16:creationId xmlns:a16="http://schemas.microsoft.com/office/drawing/2014/main" id="{526972ED-A0D8-79C4-AEC6-CFCDE137962B}"/>
              </a:ext>
            </a:extLst>
          </p:cNvPr>
          <p:cNvSpPr/>
          <p:nvPr/>
        </p:nvSpPr>
        <p:spPr>
          <a:xfrm>
            <a:off x="596432" y="1944197"/>
            <a:ext cx="4024562" cy="2308324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 marL="349248" indent="-285750">
              <a:spcBef>
                <a:spcPts val="600"/>
              </a:spcBef>
              <a:spcAft>
                <a:spcPts val="600"/>
              </a:spcAft>
              <a:buClr>
                <a:srgbClr val="1F7E9C"/>
              </a:buClr>
              <a:buFont typeface="Wingdings" panose="05000000000000000000" pitchFamily="2" charset="2"/>
              <a:buChar char="v"/>
            </a:pPr>
            <a:r>
              <a:rPr lang="it-IT" dirty="0">
                <a:latin typeface="Atkinson Hyperlegible"/>
                <a:ea typeface="Open Sans Condensed Light"/>
                <a:cs typeface="Open Sans Condensed Light"/>
              </a:rPr>
              <a:t>Caso di rumore gaussiano a diversi livelli di deviazione standard sovrapposto alle letture di stato;</a:t>
            </a:r>
          </a:p>
          <a:p>
            <a:pPr marL="349248" indent="-285750">
              <a:spcBef>
                <a:spcPts val="600"/>
              </a:spcBef>
              <a:spcAft>
                <a:spcPts val="600"/>
              </a:spcAft>
              <a:buClr>
                <a:srgbClr val="1F7E9C"/>
              </a:buClr>
              <a:buFont typeface="Wingdings" panose="05000000000000000000" pitchFamily="2" charset="2"/>
              <a:buChar char="v"/>
            </a:pPr>
            <a:r>
              <a:rPr lang="it-IT" noProof="0" dirty="0">
                <a:latin typeface="Atkinson Hyperlegible"/>
                <a:ea typeface="Open Sans Condensed Light"/>
                <a:cs typeface="Open Sans Condensed Light"/>
              </a:rPr>
              <a:t>Caso di perdite di dati nella fase di raccolta; ricostruzione dei vuoti basata su </a:t>
            </a:r>
            <a:r>
              <a:rPr lang="it-IT" noProof="0">
                <a:latin typeface="Atkinson Hyperlegible"/>
                <a:ea typeface="Open Sans Condensed Light"/>
                <a:cs typeface="Open Sans Condensed Light"/>
              </a:rPr>
              <a:t>interpolazione lineare.</a:t>
            </a:r>
            <a:endParaRPr lang="it-IT" noProof="0" dirty="0">
              <a:latin typeface="Atkinson Hyperlegible"/>
              <a:ea typeface="Open Sans Condensed Light"/>
              <a:cs typeface="Open Sans Condensed Light"/>
            </a:endParaRPr>
          </a:p>
          <a:p>
            <a:pPr marL="63498">
              <a:spcBef>
                <a:spcPts val="600"/>
              </a:spcBef>
            </a:pPr>
            <a:endParaRPr lang="it-IT" sz="1600" noProof="0" dirty="0">
              <a:latin typeface="Atkinson Hyperlegible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3823138-DD5E-97E2-7003-5DC0CFAF8829}"/>
              </a:ext>
            </a:extLst>
          </p:cNvPr>
          <p:cNvSpPr/>
          <p:nvPr/>
        </p:nvSpPr>
        <p:spPr>
          <a:xfrm>
            <a:off x="-195210" y="5943602"/>
            <a:ext cx="12387209" cy="97715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4">
                <a:extLst>
                  <a:ext uri="{FF2B5EF4-FFF2-40B4-BE49-F238E27FC236}">
                    <a16:creationId xmlns:a16="http://schemas.microsoft.com/office/drawing/2014/main" id="{41F3456E-EAF5-8B4C-40EE-B49851ACF765}"/>
                  </a:ext>
                </a:extLst>
              </p:cNvPr>
              <p:cNvSpPr/>
              <p:nvPr/>
            </p:nvSpPr>
            <p:spPr>
              <a:xfrm>
                <a:off x="695325" y="504708"/>
                <a:ext cx="4772025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it-IT" sz="2200" b="1" dirty="0">
                    <a:solidFill>
                      <a:schemeClr val="bg2">
                        <a:lumMod val="25000"/>
                      </a:schemeClr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Stima delle Matrici </a:t>
                </a:r>
                <a14:m>
                  <m:oMath xmlns:m="http://schemas.openxmlformats.org/officeDocument/2006/math">
                    <m:r>
                      <a:rPr lang="it-IT" sz="2200" b="1" i="1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𝑨</m:t>
                    </m:r>
                  </m:oMath>
                </a14:m>
                <a:r>
                  <a:rPr lang="it-IT" sz="2200" b="1" dirty="0">
                    <a:solidFill>
                      <a:schemeClr val="bg2">
                        <a:lumMod val="25000"/>
                      </a:schemeClr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it-IT" sz="2200" b="1" i="1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  <a:cs typeface="Roboto" panose="02000000000000000000" pitchFamily="2" charset="0"/>
                      </a:rPr>
                      <m:t>𝑩</m:t>
                    </m:r>
                  </m:oMath>
                </a14:m>
                <a:r>
                  <a:rPr lang="it-IT" sz="2200" b="1" dirty="0">
                    <a:solidFill>
                      <a:schemeClr val="bg2">
                        <a:lumMod val="25000"/>
                      </a:schemeClr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 del Sistema</a:t>
                </a:r>
                <a:br>
                  <a:rPr lang="it-IT" sz="2200" b="1" dirty="0">
                    <a:solidFill>
                      <a:schemeClr val="bg2">
                        <a:lumMod val="25000"/>
                      </a:schemeClr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</a:br>
                <a:r>
                  <a:rPr lang="it-IT" sz="2200" b="1" dirty="0"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– Impatto </a:t>
                </a:r>
                <a:r>
                  <a:rPr lang="it-IT" sz="2200" b="1" dirty="0">
                    <a:solidFill>
                      <a:schemeClr val="bg2">
                        <a:lumMod val="25000"/>
                      </a:schemeClr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di Disturbi</a:t>
                </a:r>
                <a:endParaRPr lang="it-IT" sz="2200" b="1" noProof="0" dirty="0">
                  <a:solidFill>
                    <a:schemeClr val="bg2">
                      <a:lumMod val="25000"/>
                    </a:schemeClr>
                  </a:solidFill>
                  <a:latin typeface="Atkinson Hyperlegible" pitchFamily="2" charset="77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5" name="Rectangle 4">
                <a:extLst>
                  <a:ext uri="{FF2B5EF4-FFF2-40B4-BE49-F238E27FC236}">
                    <a16:creationId xmlns:a16="http://schemas.microsoft.com/office/drawing/2014/main" id="{41F3456E-EAF5-8B4C-40EE-B49851ACF7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5" y="504708"/>
                <a:ext cx="4772025" cy="769441"/>
              </a:xfrm>
              <a:prstGeom prst="rect">
                <a:avLst/>
              </a:prstGeom>
              <a:blipFill>
                <a:blip r:embed="rId4"/>
                <a:stretch>
                  <a:fillRect l="-1660" t="-5556" b="-1507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ttangolo 17">
            <a:extLst>
              <a:ext uri="{FF2B5EF4-FFF2-40B4-BE49-F238E27FC236}">
                <a16:creationId xmlns:a16="http://schemas.microsoft.com/office/drawing/2014/main" id="{357C500E-4034-A697-E5F7-8A5D6FA595EA}"/>
              </a:ext>
            </a:extLst>
          </p:cNvPr>
          <p:cNvSpPr/>
          <p:nvPr/>
        </p:nvSpPr>
        <p:spPr>
          <a:xfrm>
            <a:off x="-61301" y="5934488"/>
            <a:ext cx="12305631" cy="54425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F220DB0D-3178-5DC7-EA4B-7D701F343E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6078" y="6133296"/>
            <a:ext cx="2283511" cy="56627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C8BA630B-28C6-84EC-795C-6304D24D64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72866" y="1090523"/>
            <a:ext cx="6754363" cy="231115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841DD9B2-9AF1-871D-F7F1-AA3B5AA35A6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029200" y="3473872"/>
            <a:ext cx="6841696" cy="2316233"/>
          </a:xfrm>
          <a:prstGeom prst="rect">
            <a:avLst/>
          </a:prstGeom>
        </p:spPr>
      </p:pic>
      <p:sp>
        <p:nvSpPr>
          <p:cNvPr id="28" name="Ovale 27">
            <a:extLst>
              <a:ext uri="{FF2B5EF4-FFF2-40B4-BE49-F238E27FC236}">
                <a16:creationId xmlns:a16="http://schemas.microsoft.com/office/drawing/2014/main" id="{56CF107B-2754-B5F8-401B-F41845863829}"/>
              </a:ext>
            </a:extLst>
          </p:cNvPr>
          <p:cNvSpPr/>
          <p:nvPr/>
        </p:nvSpPr>
        <p:spPr>
          <a:xfrm>
            <a:off x="9406742" y="2542030"/>
            <a:ext cx="543464" cy="543464"/>
          </a:xfrm>
          <a:prstGeom prst="ellipse">
            <a:avLst/>
          </a:prstGeom>
          <a:noFill/>
          <a:ln w="38100">
            <a:solidFill>
              <a:srgbClr val="1F7E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1B7DB331-816B-BAD2-7F59-7BD4115814AC}"/>
              </a:ext>
            </a:extLst>
          </p:cNvPr>
          <p:cNvSpPr txBox="1"/>
          <p:nvPr/>
        </p:nvSpPr>
        <p:spPr>
          <a:xfrm>
            <a:off x="7030528" y="1807569"/>
            <a:ext cx="1561381" cy="505523"/>
          </a:xfrm>
          <a:prstGeom prst="rect">
            <a:avLst/>
          </a:prstGeom>
          <a:solidFill>
            <a:schemeClr val="bg1"/>
          </a:solidFill>
          <a:ln w="28575">
            <a:solidFill>
              <a:srgbClr val="1F7E9C"/>
            </a:solidFill>
          </a:ln>
          <a:effectLst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it-IT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Fallimento nella stabilizzazione</a:t>
            </a:r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74A52EF6-C04C-1644-13AA-5BF3C1ABAF4D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8591909" y="2060331"/>
            <a:ext cx="771167" cy="583360"/>
          </a:xfrm>
          <a:prstGeom prst="straightConnector1">
            <a:avLst/>
          </a:prstGeom>
          <a:ln w="38100">
            <a:solidFill>
              <a:srgbClr val="1F7E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24">
            <a:extLst>
              <a:ext uri="{FF2B5EF4-FFF2-40B4-BE49-F238E27FC236}">
                <a16:creationId xmlns:a16="http://schemas.microsoft.com/office/drawing/2014/main" id="{398F6E62-8AFE-AAE5-6E49-CBC886A12B89}"/>
              </a:ext>
            </a:extLst>
          </p:cNvPr>
          <p:cNvSpPr txBox="1"/>
          <p:nvPr/>
        </p:nvSpPr>
        <p:spPr>
          <a:xfrm>
            <a:off x="7998994" y="4264482"/>
            <a:ext cx="2116915" cy="505523"/>
          </a:xfrm>
          <a:prstGeom prst="rect">
            <a:avLst/>
          </a:prstGeom>
          <a:solidFill>
            <a:schemeClr val="bg1"/>
          </a:solidFill>
          <a:ln w="28575">
            <a:solidFill>
              <a:srgbClr val="1F7E9C"/>
            </a:solidFill>
          </a:ln>
          <a:effectLst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it-IT" sz="1400" dirty="0">
                <a:solidFill>
                  <a:schemeClr val="bg2">
                    <a:lumMod val="25000"/>
                  </a:schemeClr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Divergenza in prossimità del 100%</a:t>
            </a:r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A18FF0B2-69E0-0908-A1DA-5D88391D04F2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10115909" y="4517244"/>
            <a:ext cx="986287" cy="203116"/>
          </a:xfrm>
          <a:prstGeom prst="straightConnector1">
            <a:avLst/>
          </a:prstGeom>
          <a:ln w="38100">
            <a:solidFill>
              <a:srgbClr val="1F7E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uppo 46">
            <a:extLst>
              <a:ext uri="{FF2B5EF4-FFF2-40B4-BE49-F238E27FC236}">
                <a16:creationId xmlns:a16="http://schemas.microsoft.com/office/drawing/2014/main" id="{AEAA994E-7E26-8270-55C4-4C8466B18678}"/>
              </a:ext>
            </a:extLst>
          </p:cNvPr>
          <p:cNvGrpSpPr/>
          <p:nvPr/>
        </p:nvGrpSpPr>
        <p:grpSpPr>
          <a:xfrm>
            <a:off x="838199" y="4168867"/>
            <a:ext cx="2795533" cy="1261492"/>
            <a:chOff x="1519685" y="4158953"/>
            <a:chExt cx="2795533" cy="1261492"/>
          </a:xfrm>
        </p:grpSpPr>
        <p:sp>
          <p:nvSpPr>
            <p:cNvPr id="48" name="TextBox 24">
              <a:extLst>
                <a:ext uri="{FF2B5EF4-FFF2-40B4-BE49-F238E27FC236}">
                  <a16:creationId xmlns:a16="http://schemas.microsoft.com/office/drawing/2014/main" id="{5F04DB12-2B5D-D2BD-1B40-5B2283CFD11E}"/>
                </a:ext>
              </a:extLst>
            </p:cNvPr>
            <p:cNvSpPr txBox="1"/>
            <p:nvPr/>
          </p:nvSpPr>
          <p:spPr>
            <a:xfrm>
              <a:off x="1568602" y="4928386"/>
              <a:ext cx="2533974" cy="49205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it-IT" sz="1200" dirty="0">
                  <a:solidFill>
                    <a:schemeClr val="bg2">
                      <a:lumMod val="50000"/>
                    </a:schemeClr>
                  </a:solidFill>
                  <a:latin typeface="Atkinson Hyperlegible" pitchFamily="2" charset="77"/>
                  <a:ea typeface="Roboto" panose="02000000000000000000" pitchFamily="2" charset="0"/>
                  <a:cs typeface="Roboto" panose="02000000000000000000" pitchFamily="2" charset="0"/>
                </a:rPr>
                <a:t>Andamento RMSE medio al variare della probabilità di perdita.</a:t>
              </a:r>
            </a:p>
          </p:txBody>
        </p:sp>
        <p:sp>
          <p:nvSpPr>
            <p:cNvPr id="49" name="Rettangolo 48">
              <a:extLst>
                <a:ext uri="{FF2B5EF4-FFF2-40B4-BE49-F238E27FC236}">
                  <a16:creationId xmlns:a16="http://schemas.microsoft.com/office/drawing/2014/main" id="{0F1B024A-23FB-3E03-562C-AC0366F3941F}"/>
                </a:ext>
              </a:extLst>
            </p:cNvPr>
            <p:cNvSpPr/>
            <p:nvPr/>
          </p:nvSpPr>
          <p:spPr>
            <a:xfrm>
              <a:off x="1519685" y="4928386"/>
              <a:ext cx="48917" cy="492059"/>
            </a:xfrm>
            <a:prstGeom prst="rect">
              <a:avLst/>
            </a:prstGeom>
            <a:solidFill>
              <a:srgbClr val="1F7E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0" name="TextBox 24">
              <a:extLst>
                <a:ext uri="{FF2B5EF4-FFF2-40B4-BE49-F238E27FC236}">
                  <a16:creationId xmlns:a16="http://schemas.microsoft.com/office/drawing/2014/main" id="{354C5D30-6677-E1B3-6147-DC6D5032D487}"/>
                </a:ext>
              </a:extLst>
            </p:cNvPr>
            <p:cNvSpPr txBox="1"/>
            <p:nvPr/>
          </p:nvSpPr>
          <p:spPr>
            <a:xfrm>
              <a:off x="1568602" y="4158953"/>
              <a:ext cx="2533974" cy="49205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it-IT" sz="1200" dirty="0">
                  <a:solidFill>
                    <a:schemeClr val="bg2">
                      <a:lumMod val="50000"/>
                    </a:schemeClr>
                  </a:solidFill>
                  <a:latin typeface="Atkinson Hyperlegible" pitchFamily="2" charset="77"/>
                  <a:ea typeface="Roboto" panose="02000000000000000000" pitchFamily="2" charset="0"/>
                  <a:cs typeface="Roboto" panose="02000000000000000000" pitchFamily="2" charset="0"/>
                </a:rPr>
                <a:t>Andamento RMSE medio al variare dell’intensità del rumore.</a:t>
              </a:r>
            </a:p>
          </p:txBody>
        </p:sp>
        <p:sp>
          <p:nvSpPr>
            <p:cNvPr id="51" name="Rettangolo 50">
              <a:extLst>
                <a:ext uri="{FF2B5EF4-FFF2-40B4-BE49-F238E27FC236}">
                  <a16:creationId xmlns:a16="http://schemas.microsoft.com/office/drawing/2014/main" id="{98AD5C69-B243-B290-357B-8E3C44FC4799}"/>
                </a:ext>
              </a:extLst>
            </p:cNvPr>
            <p:cNvSpPr/>
            <p:nvPr/>
          </p:nvSpPr>
          <p:spPr>
            <a:xfrm>
              <a:off x="1519685" y="4158953"/>
              <a:ext cx="48917" cy="492059"/>
            </a:xfrm>
            <a:prstGeom prst="rect">
              <a:avLst/>
            </a:prstGeom>
            <a:solidFill>
              <a:srgbClr val="1F7E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2" name="Triangolo isoscele 51">
              <a:extLst>
                <a:ext uri="{FF2B5EF4-FFF2-40B4-BE49-F238E27FC236}">
                  <a16:creationId xmlns:a16="http://schemas.microsoft.com/office/drawing/2014/main" id="{33F9AC2A-FE22-6E1E-0B09-BE399D3C611B}"/>
                </a:ext>
              </a:extLst>
            </p:cNvPr>
            <p:cNvSpPr/>
            <p:nvPr/>
          </p:nvSpPr>
          <p:spPr>
            <a:xfrm rot="3359609">
              <a:off x="4091215" y="4178026"/>
              <a:ext cx="215016" cy="232991"/>
            </a:xfrm>
            <a:prstGeom prst="triangle">
              <a:avLst/>
            </a:prstGeom>
            <a:solidFill>
              <a:srgbClr val="1F7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3" name="Triangolo isoscele 52">
              <a:extLst>
                <a:ext uri="{FF2B5EF4-FFF2-40B4-BE49-F238E27FC236}">
                  <a16:creationId xmlns:a16="http://schemas.microsoft.com/office/drawing/2014/main" id="{575CE08D-0279-F73A-42F5-8503FE0F1247}"/>
                </a:ext>
              </a:extLst>
            </p:cNvPr>
            <p:cNvSpPr/>
            <p:nvPr/>
          </p:nvSpPr>
          <p:spPr>
            <a:xfrm rot="5400000">
              <a:off x="4050944" y="5099631"/>
              <a:ext cx="201096" cy="220347"/>
            </a:xfrm>
            <a:prstGeom prst="triangle">
              <a:avLst/>
            </a:prstGeom>
            <a:solidFill>
              <a:srgbClr val="1F7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84781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66ECA-2D35-F5E6-AAE2-98C75AED3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DFEB4A12-55A5-4EFE-9DAC-DCEA5164F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1614" y="1223981"/>
            <a:ext cx="4441986" cy="5012900"/>
          </a:xfrm>
          <a:prstGeom prst="rect">
            <a:avLst/>
          </a:prstGeom>
        </p:spPr>
      </p:pic>
      <p:sp>
        <p:nvSpPr>
          <p:cNvPr id="58" name="Rettangolo 57">
            <a:extLst>
              <a:ext uri="{FF2B5EF4-FFF2-40B4-BE49-F238E27FC236}">
                <a16:creationId xmlns:a16="http://schemas.microsoft.com/office/drawing/2014/main" id="{F8C884EA-3F44-1BCA-8066-A45062B89C5E}"/>
              </a:ext>
            </a:extLst>
          </p:cNvPr>
          <p:cNvSpPr/>
          <p:nvPr/>
        </p:nvSpPr>
        <p:spPr>
          <a:xfrm>
            <a:off x="-294968" y="-32856"/>
            <a:ext cx="12993277" cy="1139411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983860D4-58E7-19A0-D399-64D2D1ECBB59}"/>
              </a:ext>
            </a:extLst>
          </p:cNvPr>
          <p:cNvSpPr/>
          <p:nvPr/>
        </p:nvSpPr>
        <p:spPr>
          <a:xfrm>
            <a:off x="695324" y="621119"/>
            <a:ext cx="8201026" cy="311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it-IT" sz="2200" b="1" noProof="0" dirty="0">
                <a:solidFill>
                  <a:schemeClr val="bg1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Controllo Ottimo – Cenni su LQR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4">
                <a:extLst>
                  <a:ext uri="{FF2B5EF4-FFF2-40B4-BE49-F238E27FC236}">
                    <a16:creationId xmlns:a16="http://schemas.microsoft.com/office/drawing/2014/main" id="{765EB8C0-DD4E-EEEE-6E9B-C6363875FF80}"/>
                  </a:ext>
                </a:extLst>
              </p:cNvPr>
              <p:cNvSpPr/>
              <p:nvPr/>
            </p:nvSpPr>
            <p:spPr>
              <a:xfrm>
                <a:off x="695324" y="1745280"/>
                <a:ext cx="10726050" cy="40448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dirty="0"/>
                  <a:t>Il controllo LQR (</a:t>
                </a:r>
                <a:r>
                  <a:rPr lang="it-IT" i="1" dirty="0"/>
                  <a:t>Linear </a:t>
                </a:r>
                <a:r>
                  <a:rPr lang="it-IT" i="1" dirty="0" err="1"/>
                  <a:t>Quadratic</a:t>
                </a:r>
                <a:r>
                  <a:rPr lang="it-IT" i="1" dirty="0"/>
                  <a:t> </a:t>
                </a:r>
                <a:r>
                  <a:rPr lang="it-IT" i="1" dirty="0" err="1"/>
                  <a:t>Regulator</a:t>
                </a:r>
                <a:r>
                  <a:rPr lang="it-IT" dirty="0"/>
                  <a:t>) è una tecnica di sintesi di controllori ottimi per sistemi lineari tempo-invarianti espressi in forma spazio-stato. Il problema consiste nel minimizzare la funzione costo quadratica: </a:t>
                </a:r>
                <a:endParaRPr lang="it-IT" dirty="0">
                  <a:solidFill>
                    <a:schemeClr val="bg2">
                      <a:lumMod val="25000"/>
                    </a:schemeClr>
                  </a:solidFill>
                  <a:latin typeface="Atkinson Hyperlegible" pitchFamily="2" charset="77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lvl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sSup>
                                <m:s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it-IT" dirty="0"/>
              </a:p>
              <a:p>
                <a:pPr marL="285750" indent="-285750">
                  <a:spcAft>
                    <a:spcPts val="1200"/>
                  </a:spcAft>
                  <a:buClr>
                    <a:schemeClr val="bg1">
                      <a:lumMod val="95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it-IT" dirty="0"/>
                  <a:t>dove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≽0</m:t>
                    </m:r>
                  </m:oMath>
                </a14:m>
                <a:r>
                  <a:rPr lang="it-IT" dirty="0"/>
                  <a:t> 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≻0</m:t>
                    </m:r>
                  </m:oMath>
                </a14:m>
                <a:r>
                  <a:rPr lang="it-IT" dirty="0"/>
                  <a:t> sono le matrici di peso che ponderano rispettivamente il costo dallo scostamento dello stato e il costo energetico dell’input di controllo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.</a:t>
                </a:r>
              </a:p>
              <a:p>
                <a:pPr marL="285750" indent="-285750"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dirty="0">
                    <a:solidFill>
                      <a:schemeClr val="tx1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Il problema si risolve determinando una legge di controllo lineare del tipo , dove K è calcolata risolvendo la </a:t>
                </a:r>
                <a:r>
                  <a:rPr lang="it-IT" i="1" dirty="0" err="1">
                    <a:solidFill>
                      <a:schemeClr val="tx1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Algebraic</a:t>
                </a:r>
                <a:r>
                  <a:rPr lang="it-IT" i="1" dirty="0">
                    <a:solidFill>
                      <a:schemeClr val="tx1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 Ricatti Equation </a:t>
                </a:r>
                <a:r>
                  <a:rPr lang="it-IT" dirty="0">
                    <a:solidFill>
                      <a:schemeClr val="tx1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(ARE):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it-IT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it-IT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t-IT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𝑃𝐴</m:t>
                      </m:r>
                      <m:r>
                        <a:rPr lang="it-IT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𝑃𝐵</m:t>
                      </m:r>
                      <m:sSup>
                        <m:sSupPr>
                          <m:ctrlPr>
                            <a:rPr lang="it-IT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it-IT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it-IT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it-IT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it-IT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t-IT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it-IT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it-IT" dirty="0">
                  <a:solidFill>
                    <a:schemeClr val="tx1"/>
                  </a:solidFill>
                  <a:latin typeface="Atkinson Hyperlegible" pitchFamily="2" charset="77"/>
                </a:endParaRPr>
              </a:p>
              <a:p>
                <a:pPr marL="285750" indent="-285750">
                  <a:buClr>
                    <a:schemeClr val="accent6"/>
                  </a:buClr>
                  <a:buFont typeface="Courier New" panose="02070309020205020404" pitchFamily="49" charset="0"/>
                  <a:buChar char="o"/>
                </a:pPr>
                <a:r>
                  <a:rPr lang="it-IT" dirty="0">
                    <a:solidFill>
                      <a:schemeClr val="tx1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Si ottiene che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it-IT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it-IT" dirty="0">
                    <a:solidFill>
                      <a:schemeClr val="tx1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 (Nel caso discreto il problema è analogo, e si ottiene che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𝑃𝐵</m:t>
                            </m:r>
                          </m:e>
                        </m:d>
                      </m:e>
                      <m:sup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it-IT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𝑃𝐴</m:t>
                    </m:r>
                  </m:oMath>
                </a14:m>
                <a:r>
                  <a:rPr lang="it-IT" dirty="0">
                    <a:solidFill>
                      <a:schemeClr val="tx1"/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rPr>
                  <a:t>).</a:t>
                </a:r>
              </a:p>
              <a:p>
                <a:endParaRPr lang="it-IT" dirty="0">
                  <a:solidFill>
                    <a:schemeClr val="bg2">
                      <a:lumMod val="25000"/>
                    </a:schemeClr>
                  </a:solidFill>
                  <a:latin typeface="Atkinson Hyperlegible" pitchFamily="2" charset="77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4" name="Rectangle 4">
                <a:extLst>
                  <a:ext uri="{FF2B5EF4-FFF2-40B4-BE49-F238E27FC236}">
                    <a16:creationId xmlns:a16="http://schemas.microsoft.com/office/drawing/2014/main" id="{765EB8C0-DD4E-EEEE-6E9B-C6363875FF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4" y="1745280"/>
                <a:ext cx="10726050" cy="4044825"/>
              </a:xfrm>
              <a:prstGeom prst="rect">
                <a:avLst/>
              </a:prstGeom>
              <a:blipFill>
                <a:blip r:embed="rId4"/>
                <a:stretch>
                  <a:fillRect l="-398" t="-753" b="-933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ttangolo 14">
            <a:extLst>
              <a:ext uri="{FF2B5EF4-FFF2-40B4-BE49-F238E27FC236}">
                <a16:creationId xmlns:a16="http://schemas.microsoft.com/office/drawing/2014/main" id="{9E4CA2D8-AEA1-A2FE-875F-19E4CB820208}"/>
              </a:ext>
            </a:extLst>
          </p:cNvPr>
          <p:cNvSpPr/>
          <p:nvPr/>
        </p:nvSpPr>
        <p:spPr>
          <a:xfrm>
            <a:off x="-195210" y="5943602"/>
            <a:ext cx="12387209" cy="97715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80863CAF-93D5-8E1C-6836-3C939F8D5A2A}"/>
              </a:ext>
            </a:extLst>
          </p:cNvPr>
          <p:cNvSpPr/>
          <p:nvPr/>
        </p:nvSpPr>
        <p:spPr>
          <a:xfrm>
            <a:off x="-61301" y="5934488"/>
            <a:ext cx="12305631" cy="54425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BD7C6D2D-8D00-8220-0EC9-EFD4B42DBC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6078" y="6133296"/>
            <a:ext cx="2283511" cy="56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47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F26B7-22C0-57DB-A85E-6C5D48BDF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magine 66">
            <a:extLst>
              <a:ext uri="{FF2B5EF4-FFF2-40B4-BE49-F238E27FC236}">
                <a16:creationId xmlns:a16="http://schemas.microsoft.com/office/drawing/2014/main" id="{5DB33031-B504-1B3E-2178-F139723B29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1614" y="1223981"/>
            <a:ext cx="4441986" cy="5012900"/>
          </a:xfrm>
          <a:prstGeom prst="rect">
            <a:avLst/>
          </a:prstGeom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26516F09-6C89-8642-2356-4C32F98632C8}"/>
              </a:ext>
            </a:extLst>
          </p:cNvPr>
          <p:cNvSpPr/>
          <p:nvPr/>
        </p:nvSpPr>
        <p:spPr>
          <a:xfrm>
            <a:off x="-195210" y="5943602"/>
            <a:ext cx="12387209" cy="97715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B82ADCE-0853-EC6E-C539-89DA9DCC718B}"/>
              </a:ext>
            </a:extLst>
          </p:cNvPr>
          <p:cNvSpPr/>
          <p:nvPr/>
        </p:nvSpPr>
        <p:spPr>
          <a:xfrm>
            <a:off x="695325" y="504708"/>
            <a:ext cx="873075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200" b="1" noProof="0" dirty="0">
                <a:solidFill>
                  <a:schemeClr val="bg2">
                    <a:lumMod val="25000"/>
                  </a:schemeClr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Controllo Ottimo</a:t>
            </a:r>
          </a:p>
          <a:p>
            <a:r>
              <a:rPr lang="it-IT" sz="2200" b="1" dirty="0"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–</a:t>
            </a:r>
            <a:r>
              <a:rPr lang="it-IT" sz="2200" b="1" dirty="0">
                <a:solidFill>
                  <a:schemeClr val="bg2">
                    <a:lumMod val="25000"/>
                  </a:schemeClr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it-IT" sz="2200" b="1" noProof="0" dirty="0">
                <a:solidFill>
                  <a:schemeClr val="bg2">
                    <a:lumMod val="25000"/>
                  </a:schemeClr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Tracciamento di un Riferimento a </a:t>
            </a:r>
            <a:r>
              <a:rPr lang="it-IT" sz="2200" b="1" noProof="0" dirty="0" err="1">
                <a:solidFill>
                  <a:schemeClr val="bg2">
                    <a:lumMod val="25000"/>
                  </a:schemeClr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Gradin</a:t>
            </a:r>
            <a:r>
              <a:rPr lang="it-IT" sz="2200" b="1" dirty="0">
                <a:solidFill>
                  <a:schemeClr val="bg2">
                    <a:lumMod val="25000"/>
                  </a:schemeClr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o con </a:t>
            </a:r>
            <a:r>
              <a:rPr lang="it-IT" sz="2200" b="1" i="1" dirty="0">
                <a:solidFill>
                  <a:schemeClr val="bg2">
                    <a:lumMod val="25000"/>
                  </a:schemeClr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Internal-Model-Design</a:t>
            </a:r>
            <a:endParaRPr lang="it-IT" sz="2200" b="1" i="1" noProof="0" dirty="0">
              <a:solidFill>
                <a:schemeClr val="bg2">
                  <a:lumMod val="25000"/>
                </a:schemeClr>
              </a:solidFill>
              <a:latin typeface="Atkinson Hyperlegible" pitchFamily="2" charset="77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7F5C295D-8D9A-B584-2418-1C8EC3A272DB}"/>
              </a:ext>
            </a:extLst>
          </p:cNvPr>
          <p:cNvSpPr/>
          <p:nvPr/>
        </p:nvSpPr>
        <p:spPr>
          <a:xfrm>
            <a:off x="-61301" y="5934488"/>
            <a:ext cx="12305631" cy="54425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8003E325-95FD-0D17-538A-C455A4CC22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6078" y="6133296"/>
            <a:ext cx="2283511" cy="566274"/>
          </a:xfrm>
          <a:prstGeom prst="rect">
            <a:avLst/>
          </a:prstGeom>
        </p:spPr>
      </p:pic>
      <p:pic>
        <p:nvPicPr>
          <p:cNvPr id="63" name="Elemento grafico 62">
            <a:extLst>
              <a:ext uri="{FF2B5EF4-FFF2-40B4-BE49-F238E27FC236}">
                <a16:creationId xmlns:a16="http://schemas.microsoft.com/office/drawing/2014/main" id="{7A0B2126-5EC6-81A6-7C95-186BA460E9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38111" y="3133381"/>
            <a:ext cx="8852606" cy="2389514"/>
          </a:xfrm>
          <a:prstGeom prst="rect">
            <a:avLst/>
          </a:prstGeom>
        </p:spPr>
      </p:pic>
      <p:grpSp>
        <p:nvGrpSpPr>
          <p:cNvPr id="66" name="Gruppo 65">
            <a:extLst>
              <a:ext uri="{FF2B5EF4-FFF2-40B4-BE49-F238E27FC236}">
                <a16:creationId xmlns:a16="http://schemas.microsoft.com/office/drawing/2014/main" id="{FA8C05E2-5032-425B-F2DB-9CE9E5F8C0F8}"/>
              </a:ext>
            </a:extLst>
          </p:cNvPr>
          <p:cNvGrpSpPr/>
          <p:nvPr/>
        </p:nvGrpSpPr>
        <p:grpSpPr>
          <a:xfrm>
            <a:off x="823255" y="4510587"/>
            <a:ext cx="2852154" cy="492059"/>
            <a:chOff x="820945" y="4964353"/>
            <a:chExt cx="2852154" cy="492059"/>
          </a:xfrm>
        </p:grpSpPr>
        <p:sp>
          <p:nvSpPr>
            <p:cNvPr id="5" name="TextBox 24">
              <a:extLst>
                <a:ext uri="{FF2B5EF4-FFF2-40B4-BE49-F238E27FC236}">
                  <a16:creationId xmlns:a16="http://schemas.microsoft.com/office/drawing/2014/main" id="{93752048-7743-3AA4-5389-63C6D3AEE015}"/>
                </a:ext>
              </a:extLst>
            </p:cNvPr>
            <p:cNvSpPr txBox="1"/>
            <p:nvPr/>
          </p:nvSpPr>
          <p:spPr>
            <a:xfrm>
              <a:off x="869862" y="4964353"/>
              <a:ext cx="2533974" cy="492058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it-IT" sz="1200" dirty="0">
                  <a:solidFill>
                    <a:schemeClr val="bg2">
                      <a:lumMod val="50000"/>
                    </a:schemeClr>
                  </a:solidFill>
                  <a:latin typeface="Atkinson Hyperlegible" pitchFamily="2" charset="77"/>
                  <a:ea typeface="Roboto" panose="02000000000000000000" pitchFamily="2" charset="0"/>
                  <a:cs typeface="Roboto" panose="02000000000000000000" pitchFamily="2" charset="0"/>
                </a:rPr>
                <a:t>Diagramma a blocchi del controllore esteso con integratore.</a:t>
              </a:r>
            </a:p>
          </p:txBody>
        </p:sp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81AFB56B-A01E-42F1-F078-7CACFB061CB1}"/>
                </a:ext>
              </a:extLst>
            </p:cNvPr>
            <p:cNvSpPr/>
            <p:nvPr/>
          </p:nvSpPr>
          <p:spPr>
            <a:xfrm>
              <a:off x="820945" y="4964353"/>
              <a:ext cx="48917" cy="492059"/>
            </a:xfrm>
            <a:prstGeom prst="rect">
              <a:avLst/>
            </a:prstGeom>
            <a:solidFill>
              <a:srgbClr val="1F7E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64" name="Triangolo isoscele 63">
              <a:extLst>
                <a:ext uri="{FF2B5EF4-FFF2-40B4-BE49-F238E27FC236}">
                  <a16:creationId xmlns:a16="http://schemas.microsoft.com/office/drawing/2014/main" id="{A74C5C92-64DA-C805-87C7-19BE61275CFB}"/>
                </a:ext>
              </a:extLst>
            </p:cNvPr>
            <p:cNvSpPr/>
            <p:nvPr/>
          </p:nvSpPr>
          <p:spPr>
            <a:xfrm rot="5400000">
              <a:off x="3462378" y="5100209"/>
              <a:ext cx="201096" cy="220347"/>
            </a:xfrm>
            <a:prstGeom prst="triangle">
              <a:avLst/>
            </a:prstGeom>
            <a:solidFill>
              <a:srgbClr val="1F7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4">
                <a:extLst>
                  <a:ext uri="{FF2B5EF4-FFF2-40B4-BE49-F238E27FC236}">
                    <a16:creationId xmlns:a16="http://schemas.microsoft.com/office/drawing/2014/main" id="{F0E3FAEC-4D06-4D2A-893F-2518EFBA84E0}"/>
                  </a:ext>
                </a:extLst>
              </p:cNvPr>
              <p:cNvSpPr/>
              <p:nvPr/>
            </p:nvSpPr>
            <p:spPr>
              <a:xfrm>
                <a:off x="695325" y="1701459"/>
                <a:ext cx="11295392" cy="1365438"/>
              </a:xfrm>
              <a:prstGeom prst="rect">
                <a:avLst/>
              </a:prstGeom>
            </p:spPr>
            <p:txBody>
              <a:bodyPr wrap="square" numCol="1">
                <a:spAutoFit/>
              </a:bodyPr>
              <a:lstStyle/>
              <a:p>
                <a:pPr marL="349248" indent="-285750">
                  <a:spcBef>
                    <a:spcPts val="600"/>
                  </a:spcBef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dirty="0">
                    <a:latin typeface="Atkinson Hyperlegible"/>
                    <a:ea typeface="Open Sans Condensed Light"/>
                    <a:cs typeface="Open Sans Condensed Light"/>
                  </a:rPr>
                  <a:t>Estensione del controllore con capacità di tracciamento di un riferimento a gradino in linea con il principio dell’</a:t>
                </a:r>
                <a:r>
                  <a:rPr lang="it-IT" i="1" dirty="0">
                    <a:latin typeface="Atkinson Hyperlegible"/>
                    <a:ea typeface="Open Sans Condensed Light"/>
                    <a:cs typeface="Open Sans Condensed Light"/>
                  </a:rPr>
                  <a:t>Internal Model Design;</a:t>
                </a:r>
                <a:endParaRPr lang="it-IT" dirty="0">
                  <a:latin typeface="Atkinson Hyperlegible"/>
                  <a:ea typeface="Open Sans Condensed Light"/>
                  <a:cs typeface="Open Sans Condensed Light"/>
                </a:endParaRPr>
              </a:p>
              <a:p>
                <a:pPr marL="349248" indent="-285750">
                  <a:spcBef>
                    <a:spcPts val="600"/>
                  </a:spcBef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dirty="0">
                    <a:latin typeface="Atkinson Hyperlegible"/>
                    <a:ea typeface="Open Sans Condensed Light"/>
                    <a:cs typeface="Open Sans Condensed Light"/>
                  </a:rPr>
                  <a:t>Valutazione dell’efficacia del tracciamento attraverso la funzione di costo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it-IT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noProof="0" dirty="0">
                  <a:latin typeface="Atkinson Hyperlegible"/>
                  <a:ea typeface="Open Sans Condensed Light"/>
                  <a:cs typeface="Open Sans Condensed Light"/>
                </a:endParaRPr>
              </a:p>
              <a:p>
                <a:pPr marL="63498">
                  <a:spcBef>
                    <a:spcPts val="600"/>
                  </a:spcBef>
                </a:pPr>
                <a:endParaRPr lang="it-IT" sz="1600" noProof="0" dirty="0">
                  <a:latin typeface="Atkinson Hyperlegible"/>
                </a:endParaRPr>
              </a:p>
            </p:txBody>
          </p:sp>
        </mc:Choice>
        <mc:Fallback xmlns="">
          <p:sp>
            <p:nvSpPr>
              <p:cNvPr id="65" name="Rectangle 4">
                <a:extLst>
                  <a:ext uri="{FF2B5EF4-FFF2-40B4-BE49-F238E27FC236}">
                    <a16:creationId xmlns:a16="http://schemas.microsoft.com/office/drawing/2014/main" id="{F0E3FAEC-4D06-4D2A-893F-2518EFBA84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5" y="1701459"/>
                <a:ext cx="11295392" cy="1365438"/>
              </a:xfrm>
              <a:prstGeom prst="rect">
                <a:avLst/>
              </a:prstGeom>
              <a:blipFill>
                <a:blip r:embed="rId7"/>
                <a:stretch>
                  <a:fillRect t="-2232" b="-2455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56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3AB64-48A2-F112-9877-611264704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ttangolo 57">
            <a:extLst>
              <a:ext uri="{FF2B5EF4-FFF2-40B4-BE49-F238E27FC236}">
                <a16:creationId xmlns:a16="http://schemas.microsoft.com/office/drawing/2014/main" id="{E1BF1B6A-28FD-3DB6-48F8-FCC7E1589CD3}"/>
              </a:ext>
            </a:extLst>
          </p:cNvPr>
          <p:cNvSpPr/>
          <p:nvPr/>
        </p:nvSpPr>
        <p:spPr>
          <a:xfrm>
            <a:off x="-294968" y="-32856"/>
            <a:ext cx="12993277" cy="1139411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2424BDE7-A78E-24D7-813C-CEFBDAAB963B}"/>
              </a:ext>
            </a:extLst>
          </p:cNvPr>
          <p:cNvSpPr/>
          <p:nvPr/>
        </p:nvSpPr>
        <p:spPr>
          <a:xfrm>
            <a:off x="695324" y="621119"/>
            <a:ext cx="8201026" cy="311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it-IT" sz="2200" b="1" noProof="0" dirty="0">
                <a:solidFill>
                  <a:schemeClr val="bg1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Perdite di Pacchetti di Attuazione – Risultati Preliminari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4">
                <a:extLst>
                  <a:ext uri="{FF2B5EF4-FFF2-40B4-BE49-F238E27FC236}">
                    <a16:creationId xmlns:a16="http://schemas.microsoft.com/office/drawing/2014/main" id="{FDF05F4B-E3C5-ADBB-F55C-6A4A0894400B}"/>
                  </a:ext>
                </a:extLst>
              </p:cNvPr>
              <p:cNvSpPr/>
              <p:nvPr/>
            </p:nvSpPr>
            <p:spPr>
              <a:xfrm>
                <a:off x="728489" y="1352714"/>
                <a:ext cx="10726050" cy="7232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600"/>
                  </a:spcAft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dirty="0"/>
                  <a:t>L’ingresso di controllo con perdite diventa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it-IT" dirty="0"/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Bern</m:t>
                    </m:r>
                    <m: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𝑙𝑜𝑠𝑠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  <a:p>
                <a:endParaRPr lang="it-IT" dirty="0">
                  <a:solidFill>
                    <a:schemeClr val="bg2">
                      <a:lumMod val="25000"/>
                    </a:schemeClr>
                  </a:solidFill>
                  <a:latin typeface="Atkinson Hyperlegible" pitchFamily="2" charset="77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4" name="Rectangle 4">
                <a:extLst>
                  <a:ext uri="{FF2B5EF4-FFF2-40B4-BE49-F238E27FC236}">
                    <a16:creationId xmlns:a16="http://schemas.microsoft.com/office/drawing/2014/main" id="{FDF05F4B-E3C5-ADBB-F55C-6A4A089440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89" y="1352714"/>
                <a:ext cx="10726050" cy="723275"/>
              </a:xfrm>
              <a:prstGeom prst="rect">
                <a:avLst/>
              </a:prstGeom>
              <a:blipFill>
                <a:blip r:embed="rId2"/>
                <a:stretch>
                  <a:fillRect l="-398" t="-50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ttangolo 14">
            <a:extLst>
              <a:ext uri="{FF2B5EF4-FFF2-40B4-BE49-F238E27FC236}">
                <a16:creationId xmlns:a16="http://schemas.microsoft.com/office/drawing/2014/main" id="{E04FC465-CA57-C8CB-F634-D8AD9E1BF397}"/>
              </a:ext>
            </a:extLst>
          </p:cNvPr>
          <p:cNvSpPr/>
          <p:nvPr/>
        </p:nvSpPr>
        <p:spPr>
          <a:xfrm>
            <a:off x="-195210" y="5943602"/>
            <a:ext cx="12387209" cy="97715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84EEC46-B10C-A9E6-6818-2806BA8235B0}"/>
              </a:ext>
            </a:extLst>
          </p:cNvPr>
          <p:cNvSpPr/>
          <p:nvPr/>
        </p:nvSpPr>
        <p:spPr>
          <a:xfrm>
            <a:off x="-61301" y="5934488"/>
            <a:ext cx="12305631" cy="54425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B738FF6-6402-278E-B9EC-83939C179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6078" y="6133296"/>
            <a:ext cx="2283511" cy="566274"/>
          </a:xfrm>
          <a:prstGeom prst="rect">
            <a:avLst/>
          </a:prstGeom>
        </p:spPr>
      </p:pic>
      <p:pic>
        <p:nvPicPr>
          <p:cNvPr id="4" name="Immagine 3" descr="Immagine che contiene testo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6F01F5D8-21B0-9F3F-F067-1450C4DEA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102" y="1920910"/>
            <a:ext cx="6577776" cy="343610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F8ED8C7-8D4C-7C6D-D0ED-EAC17F1AB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391" y="1858735"/>
            <a:ext cx="4049872" cy="3454050"/>
          </a:xfrm>
          <a:prstGeom prst="rect">
            <a:avLst/>
          </a:prstGeom>
        </p:spPr>
      </p:pic>
      <p:sp>
        <p:nvSpPr>
          <p:cNvPr id="6" name="TextBox 24">
            <a:extLst>
              <a:ext uri="{FF2B5EF4-FFF2-40B4-BE49-F238E27FC236}">
                <a16:creationId xmlns:a16="http://schemas.microsoft.com/office/drawing/2014/main" id="{BCCB5F8A-8263-D559-8321-CDF27AABE939}"/>
              </a:ext>
            </a:extLst>
          </p:cNvPr>
          <p:cNvSpPr txBox="1"/>
          <p:nvPr/>
        </p:nvSpPr>
        <p:spPr>
          <a:xfrm>
            <a:off x="7302245" y="5432185"/>
            <a:ext cx="4704061" cy="28687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it-IT" sz="1200" i="1" dirty="0">
                <a:solidFill>
                  <a:schemeClr val="bg2">
                    <a:lumMod val="50000"/>
                  </a:schemeClr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Boxplot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 del costo di tracking 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vs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 probabilità di perdita del pacchetto (%).</a:t>
            </a:r>
          </a:p>
        </p:txBody>
      </p:sp>
      <p:sp>
        <p:nvSpPr>
          <p:cNvPr id="9" name="TextBox 24">
            <a:extLst>
              <a:ext uri="{FF2B5EF4-FFF2-40B4-BE49-F238E27FC236}">
                <a16:creationId xmlns:a16="http://schemas.microsoft.com/office/drawing/2014/main" id="{27E73D92-CE52-7C7E-17BB-5BEA2A0DDEC6}"/>
              </a:ext>
            </a:extLst>
          </p:cNvPr>
          <p:cNvSpPr txBox="1"/>
          <p:nvPr/>
        </p:nvSpPr>
        <p:spPr>
          <a:xfrm>
            <a:off x="357014" y="5413365"/>
            <a:ext cx="6348963" cy="28687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it-IT" sz="1200" dirty="0">
                <a:solidFill>
                  <a:schemeClr val="bg2">
                    <a:lumMod val="50000"/>
                  </a:schemeClr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Tasso di successo medio nella stabilizzazione </a:t>
            </a:r>
            <a:r>
              <a:rPr lang="it-IT" sz="1200" i="1" dirty="0">
                <a:solidFill>
                  <a:schemeClr val="bg2">
                    <a:lumMod val="50000"/>
                  </a:schemeClr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vs </a:t>
            </a:r>
            <a:r>
              <a:rPr lang="it-IT" sz="1200" dirty="0">
                <a:solidFill>
                  <a:schemeClr val="bg2">
                    <a:lumMod val="50000"/>
                  </a:schemeClr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probabilità di perdita del pacchetto (%).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FAD8CEE-5C35-5CFD-1FDD-421FCCBD791D}"/>
              </a:ext>
            </a:extLst>
          </p:cNvPr>
          <p:cNvSpPr/>
          <p:nvPr/>
        </p:nvSpPr>
        <p:spPr>
          <a:xfrm>
            <a:off x="311295" y="5413365"/>
            <a:ext cx="45719" cy="286872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6FCBC8D-B7FA-1C95-087A-394B6E10FDDA}"/>
              </a:ext>
            </a:extLst>
          </p:cNvPr>
          <p:cNvSpPr/>
          <p:nvPr/>
        </p:nvSpPr>
        <p:spPr>
          <a:xfrm>
            <a:off x="7256526" y="5420150"/>
            <a:ext cx="45719" cy="298908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8069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A592-9470-DB4C-601D-C21171045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F4CDF220-1BF7-D847-39F6-D5E5C33A8621}"/>
              </a:ext>
            </a:extLst>
          </p:cNvPr>
          <p:cNvSpPr/>
          <p:nvPr/>
        </p:nvSpPr>
        <p:spPr>
          <a:xfrm>
            <a:off x="-195210" y="5943602"/>
            <a:ext cx="12387209" cy="97715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E5295CA-425D-3134-0E55-C3F63265D566}"/>
              </a:ext>
            </a:extLst>
          </p:cNvPr>
          <p:cNvSpPr/>
          <p:nvPr/>
        </p:nvSpPr>
        <p:spPr>
          <a:xfrm>
            <a:off x="695324" y="621119"/>
            <a:ext cx="1019983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sz="2200" b="1" noProof="0" dirty="0">
                <a:solidFill>
                  <a:srgbClr val="424242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Policy di Compensazione Temporale – </a:t>
            </a:r>
            <a:r>
              <a:rPr lang="it-IT" sz="2200" b="1" i="1" noProof="0" dirty="0" err="1">
                <a:solidFill>
                  <a:srgbClr val="424242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Hold</a:t>
            </a:r>
            <a:r>
              <a:rPr lang="it-IT" sz="2200" b="1" noProof="0" dirty="0">
                <a:solidFill>
                  <a:srgbClr val="424242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 con Decadimento Esponenziale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B239C9DE-13E2-5AB3-E2BF-D66264BBBAAE}"/>
              </a:ext>
            </a:extLst>
          </p:cNvPr>
          <p:cNvSpPr/>
          <p:nvPr/>
        </p:nvSpPr>
        <p:spPr>
          <a:xfrm>
            <a:off x="-61301" y="5934488"/>
            <a:ext cx="12305631" cy="54425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05CE19C0-A128-FED2-B2E0-DA334F6FE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6078" y="6133296"/>
            <a:ext cx="2283511" cy="56627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832D639B-38D6-32D8-8EEF-18FDE6615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57" y="1747849"/>
            <a:ext cx="4514144" cy="3874801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293018A3-DBE2-0A3F-6542-E54CBF6CA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419" y="1713736"/>
            <a:ext cx="4901484" cy="39995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35FE629-4D5D-C0A1-881B-8804D88234BA}"/>
                  </a:ext>
                </a:extLst>
              </p:cNvPr>
              <p:cNvSpPr/>
              <p:nvPr/>
            </p:nvSpPr>
            <p:spPr>
              <a:xfrm>
                <a:off x="728489" y="1226413"/>
                <a:ext cx="10726050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600"/>
                  </a:spcAft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r>
                  <a:rPr lang="it-IT" dirty="0"/>
                  <a:t>Nuova </a:t>
                </a:r>
                <a:r>
                  <a:rPr lang="it-IT" i="1" dirty="0"/>
                  <a:t>policy </a:t>
                </a:r>
                <a:r>
                  <a:rPr lang="it-IT" dirty="0"/>
                  <a:t>di controllo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it-IT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it-IT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dirty="0"/>
              </a:p>
              <a:p>
                <a:pPr marL="285750" indent="-285750">
                  <a:spcAft>
                    <a:spcPts val="600"/>
                  </a:spcAft>
                  <a:buClr>
                    <a:srgbClr val="1F7E9C"/>
                  </a:buClr>
                  <a:buFont typeface="Wingdings" panose="05000000000000000000" pitchFamily="2" charset="2"/>
                  <a:buChar char="v"/>
                </a:pPr>
                <a:endParaRPr lang="it-IT" dirty="0"/>
              </a:p>
              <a:p>
                <a:endParaRPr lang="it-IT" dirty="0">
                  <a:solidFill>
                    <a:schemeClr val="bg2">
                      <a:lumMod val="25000"/>
                    </a:schemeClr>
                  </a:solidFill>
                  <a:latin typeface="Atkinson Hyperlegible" pitchFamily="2" charset="77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35FE629-4D5D-C0A1-881B-8804D88234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89" y="1226413"/>
                <a:ext cx="10726050" cy="1077218"/>
              </a:xfrm>
              <a:prstGeom prst="rect">
                <a:avLst/>
              </a:prstGeom>
              <a:blipFill>
                <a:blip r:embed="rId5"/>
                <a:stretch>
                  <a:fillRect l="-398" t="-282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uppo 5">
            <a:extLst>
              <a:ext uri="{FF2B5EF4-FFF2-40B4-BE49-F238E27FC236}">
                <a16:creationId xmlns:a16="http://schemas.microsoft.com/office/drawing/2014/main" id="{A1264BAB-BF2A-8E71-EADA-28E66A6FC4F7}"/>
              </a:ext>
            </a:extLst>
          </p:cNvPr>
          <p:cNvGrpSpPr/>
          <p:nvPr/>
        </p:nvGrpSpPr>
        <p:grpSpPr>
          <a:xfrm>
            <a:off x="5354797" y="3605989"/>
            <a:ext cx="1344205" cy="1722650"/>
            <a:chOff x="820944" y="4964353"/>
            <a:chExt cx="1992913" cy="7868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24">
                  <a:extLst>
                    <a:ext uri="{FF2B5EF4-FFF2-40B4-BE49-F238E27FC236}">
                      <a16:creationId xmlns:a16="http://schemas.microsoft.com/office/drawing/2014/main" id="{EB274829-C416-DC79-5D4B-CF19F1C0909B}"/>
                    </a:ext>
                  </a:extLst>
                </p:cNvPr>
                <p:cNvSpPr txBox="1"/>
                <p:nvPr/>
              </p:nvSpPr>
              <p:spPr>
                <a:xfrm>
                  <a:off x="869862" y="4964353"/>
                  <a:ext cx="1674731" cy="786884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1600"/>
                    </a:lnSpc>
                  </a:pPr>
                  <a:r>
                    <a:rPr lang="it-IT" sz="1200" dirty="0">
                      <a:solidFill>
                        <a:schemeClr val="bg2">
                          <a:lumMod val="50000"/>
                        </a:schemeClr>
                      </a:solidFill>
                      <a:latin typeface="Atkinson Hyperlegible" pitchFamily="2" charset="77"/>
                      <a:ea typeface="Roboto" panose="02000000000000000000" pitchFamily="2" charset="0"/>
                      <a:cs typeface="Roboto" panose="02000000000000000000" pitchFamily="2" charset="0"/>
                    </a:rPr>
                    <a:t>Andamento della soglia di probabilità di successo completo (100% delle simulazioni) al variare di </a:t>
                  </a:r>
                  <a14:m>
                    <m:oMath xmlns:m="http://schemas.openxmlformats.org/officeDocument/2006/math">
                      <m:r>
                        <a:rPr lang="it-IT" sz="12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𝛼</m:t>
                      </m:r>
                    </m:oMath>
                  </a14:m>
                  <a:r>
                    <a:rPr lang="it-IT" sz="1200" dirty="0">
                      <a:solidFill>
                        <a:schemeClr val="bg2">
                          <a:lumMod val="50000"/>
                        </a:schemeClr>
                      </a:solidFill>
                      <a:latin typeface="Atkinson Hyperlegible" pitchFamily="2" charset="77"/>
                      <a:ea typeface="Roboto" panose="02000000000000000000" pitchFamily="2" charset="0"/>
                      <a:cs typeface="Roboto" panose="02000000000000000000" pitchFamily="2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7" name="TextBox 24">
                  <a:extLst>
                    <a:ext uri="{FF2B5EF4-FFF2-40B4-BE49-F238E27FC236}">
                      <a16:creationId xmlns:a16="http://schemas.microsoft.com/office/drawing/2014/main" id="{EB274829-C416-DC79-5D4B-CF19F1C09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862" y="4964353"/>
                  <a:ext cx="1674731" cy="786884"/>
                </a:xfrm>
                <a:prstGeom prst="rect">
                  <a:avLst/>
                </a:prstGeom>
                <a:blipFill>
                  <a:blip r:embed="rId6"/>
                  <a:stretch>
                    <a:fillRect l="-541" b="-2128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EC2D0889-AEA8-2C22-F787-8AC4B2D6D0DE}"/>
                </a:ext>
              </a:extLst>
            </p:cNvPr>
            <p:cNvSpPr/>
            <p:nvPr/>
          </p:nvSpPr>
          <p:spPr>
            <a:xfrm>
              <a:off x="820944" y="4964353"/>
              <a:ext cx="67783" cy="751928"/>
            </a:xfrm>
            <a:prstGeom prst="rect">
              <a:avLst/>
            </a:prstGeom>
            <a:solidFill>
              <a:srgbClr val="1F7E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9" name="Triangolo isoscele 8">
              <a:extLst>
                <a:ext uri="{FF2B5EF4-FFF2-40B4-BE49-F238E27FC236}">
                  <a16:creationId xmlns:a16="http://schemas.microsoft.com/office/drawing/2014/main" id="{5E6201F6-B41C-81B1-CA49-755BF60DD965}"/>
                </a:ext>
              </a:extLst>
            </p:cNvPr>
            <p:cNvSpPr/>
            <p:nvPr/>
          </p:nvSpPr>
          <p:spPr>
            <a:xfrm rot="5400000">
              <a:off x="2603136" y="5204734"/>
              <a:ext cx="201096" cy="220346"/>
            </a:xfrm>
            <a:prstGeom prst="triangle">
              <a:avLst/>
            </a:prstGeom>
            <a:solidFill>
              <a:srgbClr val="1F7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FE76115A-0D8C-77FA-0393-960C1AEF7C49}"/>
              </a:ext>
            </a:extLst>
          </p:cNvPr>
          <p:cNvGrpSpPr/>
          <p:nvPr/>
        </p:nvGrpSpPr>
        <p:grpSpPr>
          <a:xfrm>
            <a:off x="5032672" y="1976509"/>
            <a:ext cx="1484714" cy="1393530"/>
            <a:chOff x="349624" y="4892750"/>
            <a:chExt cx="2201231" cy="6036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24">
                  <a:extLst>
                    <a:ext uri="{FF2B5EF4-FFF2-40B4-BE49-F238E27FC236}">
                      <a16:creationId xmlns:a16="http://schemas.microsoft.com/office/drawing/2014/main" id="{459B6733-AAD8-F6C5-8A6E-E8DF452F70E7}"/>
                    </a:ext>
                  </a:extLst>
                </p:cNvPr>
                <p:cNvSpPr txBox="1"/>
                <p:nvPr/>
              </p:nvSpPr>
              <p:spPr>
                <a:xfrm>
                  <a:off x="820946" y="4923169"/>
                  <a:ext cx="1729909" cy="568454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r">
                    <a:lnSpc>
                      <a:spcPts val="1600"/>
                    </a:lnSpc>
                  </a:pPr>
                  <a:r>
                    <a:rPr lang="it-IT" sz="1200" dirty="0">
                      <a:solidFill>
                        <a:schemeClr val="bg2">
                          <a:lumMod val="50000"/>
                        </a:schemeClr>
                      </a:solidFill>
                      <a:latin typeface="Atkinson Hyperlegible" pitchFamily="2" charset="77"/>
                      <a:ea typeface="Roboto" panose="02000000000000000000" pitchFamily="2" charset="0"/>
                      <a:cs typeface="Roboto" panose="02000000000000000000" pitchFamily="2" charset="0"/>
                    </a:rPr>
                    <a:t>Tasso di successo nella stabilizzazione vs probabilità di perdita per varie </a:t>
                  </a:r>
                  <a14:m>
                    <m:oMath xmlns:m="http://schemas.openxmlformats.org/officeDocument/2006/math">
                      <m:r>
                        <a:rPr lang="it-IT" sz="12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𝛼</m:t>
                      </m:r>
                      <m:r>
                        <a:rPr lang="it-IT" sz="12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m:t>.</m:t>
                      </m:r>
                    </m:oMath>
                  </a14:m>
                  <a:endParaRPr lang="it-IT" sz="1200" dirty="0">
                    <a:solidFill>
                      <a:schemeClr val="bg2">
                        <a:lumMod val="50000"/>
                      </a:schemeClr>
                    </a:solidFill>
                    <a:latin typeface="Atkinson Hyperlegible" pitchFamily="2" charset="77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</mc:Choice>
          <mc:Fallback xmlns="">
            <p:sp>
              <p:nvSpPr>
                <p:cNvPr id="12" name="TextBox 24">
                  <a:extLst>
                    <a:ext uri="{FF2B5EF4-FFF2-40B4-BE49-F238E27FC236}">
                      <a16:creationId xmlns:a16="http://schemas.microsoft.com/office/drawing/2014/main" id="{459B6733-AAD8-F6C5-8A6E-E8DF452F70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946" y="4923169"/>
                  <a:ext cx="1729909" cy="568454"/>
                </a:xfrm>
                <a:prstGeom prst="rect">
                  <a:avLst/>
                </a:prstGeom>
                <a:blipFill>
                  <a:blip r:embed="rId7"/>
                  <a:stretch>
                    <a:fillRect l="-524" r="-3141" b="-3721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63337345-A04C-3444-4E40-1944A2DB78E5}"/>
                </a:ext>
              </a:extLst>
            </p:cNvPr>
            <p:cNvSpPr/>
            <p:nvPr/>
          </p:nvSpPr>
          <p:spPr>
            <a:xfrm>
              <a:off x="820944" y="4892750"/>
              <a:ext cx="67783" cy="603649"/>
            </a:xfrm>
            <a:prstGeom prst="rect">
              <a:avLst/>
            </a:prstGeom>
            <a:solidFill>
              <a:srgbClr val="1F7E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4" name="Triangolo isoscele 13">
              <a:extLst>
                <a:ext uri="{FF2B5EF4-FFF2-40B4-BE49-F238E27FC236}">
                  <a16:creationId xmlns:a16="http://schemas.microsoft.com/office/drawing/2014/main" id="{9FF3061B-A1ED-1A2B-5215-46309CE07278}"/>
                </a:ext>
              </a:extLst>
            </p:cNvPr>
            <p:cNvSpPr/>
            <p:nvPr/>
          </p:nvSpPr>
          <p:spPr>
            <a:xfrm rot="16200000">
              <a:off x="359249" y="5105809"/>
              <a:ext cx="201096" cy="220346"/>
            </a:xfrm>
            <a:prstGeom prst="triangle">
              <a:avLst/>
            </a:prstGeom>
            <a:solidFill>
              <a:srgbClr val="1F7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9295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tangolo 20">
            <a:extLst>
              <a:ext uri="{FF2B5EF4-FFF2-40B4-BE49-F238E27FC236}">
                <a16:creationId xmlns:a16="http://schemas.microsoft.com/office/drawing/2014/main" id="{4E8076F9-0D29-BF2D-27F4-FE61A2749289}"/>
              </a:ext>
            </a:extLst>
          </p:cNvPr>
          <p:cNvSpPr/>
          <p:nvPr/>
        </p:nvSpPr>
        <p:spPr>
          <a:xfrm>
            <a:off x="-81023" y="-249391"/>
            <a:ext cx="12371345" cy="6314589"/>
          </a:xfrm>
          <a:prstGeom prst="rect">
            <a:avLst/>
          </a:prstGeom>
          <a:solidFill>
            <a:srgbClr val="1F7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DA9A831D-1B89-6BE4-659B-2B08F1AC6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60703" y="1204272"/>
            <a:ext cx="4395227" cy="4960130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5CF18E0F-0441-0287-C163-2A5BF9643A0D}"/>
              </a:ext>
            </a:extLst>
          </p:cNvPr>
          <p:cNvSpPr/>
          <p:nvPr/>
        </p:nvSpPr>
        <p:spPr>
          <a:xfrm>
            <a:off x="-297951" y="5943602"/>
            <a:ext cx="12489951" cy="97715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44FF0C0-94CE-F78F-ADF1-CFC6322F52FE}"/>
              </a:ext>
            </a:extLst>
          </p:cNvPr>
          <p:cNvSpPr/>
          <p:nvPr/>
        </p:nvSpPr>
        <p:spPr>
          <a:xfrm>
            <a:off x="695325" y="621119"/>
            <a:ext cx="3932924" cy="315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it-IT" sz="2200" b="1" noProof="0" dirty="0">
                <a:solidFill>
                  <a:schemeClr val="bg1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Conclusioni &amp; Sviluppi Futuri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DC1F28BB-FD6C-C1B1-FCFD-EBF4CFB0A1C8}"/>
                  </a:ext>
                </a:extLst>
              </p:cNvPr>
              <p:cNvSpPr/>
              <p:nvPr/>
            </p:nvSpPr>
            <p:spPr>
              <a:xfrm>
                <a:off x="711454" y="1008364"/>
                <a:ext cx="6632321" cy="26161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33375" indent="-285750">
                  <a:spcAft>
                    <a:spcPts val="1200"/>
                  </a:spcAft>
                  <a:buFont typeface="Wingdings" panose="05000000000000000000" pitchFamily="2" charset="2"/>
                  <a:buChar char="ü"/>
                </a:pPr>
                <a:r>
                  <a:rPr lang="it-IT" dirty="0">
                    <a:solidFill>
                      <a:schemeClr val="bg1">
                        <a:lumMod val="95000"/>
                      </a:schemeClr>
                    </a:solidFill>
                    <a:latin typeface="Open Sans Condensed" panose="020B0604020202020204" charset="0"/>
                    <a:ea typeface="Open Sans Condensed" panose="020B0604020202020204" charset="0"/>
                    <a:cs typeface="Open Sans Condensed" panose="020B0604020202020204" charset="0"/>
                  </a:rPr>
                  <a:t>Sono stati validati con simulazioni vari approcci al problema </a:t>
                </a:r>
                <a:r>
                  <a:rPr lang="it-IT" b="1" dirty="0">
                    <a:solidFill>
                      <a:schemeClr val="bg1">
                        <a:lumMod val="95000"/>
                      </a:schemeClr>
                    </a:solidFill>
                    <a:latin typeface="Open Sans Condensed" panose="020B0604020202020204" charset="0"/>
                    <a:ea typeface="Open Sans Condensed" panose="020B0604020202020204" charset="0"/>
                    <a:cs typeface="Open Sans Condensed" panose="020B0604020202020204" charset="0"/>
                  </a:rPr>
                  <a:t>dell’identificazione</a:t>
                </a:r>
                <a:r>
                  <a:rPr lang="it-IT" dirty="0">
                    <a:solidFill>
                      <a:schemeClr val="bg1">
                        <a:lumMod val="95000"/>
                      </a:schemeClr>
                    </a:solidFill>
                    <a:latin typeface="Open Sans Condensed" panose="020B0604020202020204" charset="0"/>
                    <a:ea typeface="Open Sans Condensed" panose="020B0604020202020204" charset="0"/>
                    <a:cs typeface="Open Sans Condensed" panose="020B0604020202020204" charset="0"/>
                  </a:rPr>
                  <a:t> e </a:t>
                </a:r>
                <a:r>
                  <a:rPr lang="it-IT" b="1" dirty="0">
                    <a:solidFill>
                      <a:schemeClr val="bg1">
                        <a:lumMod val="95000"/>
                      </a:schemeClr>
                    </a:solidFill>
                    <a:latin typeface="Open Sans Condensed" panose="020B0604020202020204" charset="0"/>
                    <a:ea typeface="Open Sans Condensed" panose="020B0604020202020204" charset="0"/>
                    <a:cs typeface="Open Sans Condensed" panose="020B0604020202020204" charset="0"/>
                  </a:rPr>
                  <a:t>controllo</a:t>
                </a:r>
                <a:r>
                  <a:rPr lang="it-IT" dirty="0">
                    <a:solidFill>
                      <a:schemeClr val="bg1">
                        <a:lumMod val="95000"/>
                      </a:schemeClr>
                    </a:solidFill>
                    <a:latin typeface="Open Sans Condensed" panose="020B0604020202020204" charset="0"/>
                    <a:ea typeface="Open Sans Condensed" panose="020B0604020202020204" charset="0"/>
                    <a:cs typeface="Open Sans Condensed" panose="020B0604020202020204" charset="0"/>
                  </a:rPr>
                  <a:t> del pendolo inverso, considerando l’impatto di </a:t>
                </a:r>
                <a:r>
                  <a:rPr lang="it-IT" b="1" dirty="0">
                    <a:solidFill>
                      <a:schemeClr val="bg1">
                        <a:lumMod val="95000"/>
                      </a:schemeClr>
                    </a:solidFill>
                    <a:latin typeface="Open Sans Condensed" panose="020B0604020202020204" charset="0"/>
                    <a:ea typeface="Open Sans Condensed" panose="020B0604020202020204" charset="0"/>
                    <a:cs typeface="Open Sans Condensed" panose="020B0604020202020204" charset="0"/>
                  </a:rPr>
                  <a:t>disturbi</a:t>
                </a:r>
                <a:r>
                  <a:rPr lang="it-IT" dirty="0">
                    <a:solidFill>
                      <a:schemeClr val="bg1">
                        <a:lumMod val="95000"/>
                      </a:schemeClr>
                    </a:solidFill>
                    <a:latin typeface="Open Sans Condensed" panose="020B0604020202020204" charset="0"/>
                    <a:ea typeface="Open Sans Condensed" panose="020B0604020202020204" charset="0"/>
                    <a:cs typeface="Open Sans Condensed" panose="020B0604020202020204" charset="0"/>
                  </a:rPr>
                  <a:t>:</a:t>
                </a:r>
              </a:p>
              <a:p>
                <a:pPr marL="742950" lvl="1" indent="-28575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it-IT" dirty="0">
                    <a:solidFill>
                      <a:schemeClr val="bg1">
                        <a:lumMod val="95000"/>
                      </a:schemeClr>
                    </a:solidFill>
                  </a:rPr>
                  <a:t>Impiego con successo delle matrici spazio-stato </a:t>
                </a:r>
                <a:r>
                  <a:rPr lang="it-IT" b="1" dirty="0">
                    <a:solidFill>
                      <a:schemeClr val="bg1">
                        <a:lumMod val="95000"/>
                      </a:schemeClr>
                    </a:solidFill>
                  </a:rPr>
                  <a:t>A</a:t>
                </a:r>
                <a:r>
                  <a:rPr lang="it-IT" dirty="0">
                    <a:solidFill>
                      <a:schemeClr val="bg1">
                        <a:lumMod val="95000"/>
                      </a:schemeClr>
                    </a:solidFill>
                  </a:rPr>
                  <a:t> e</a:t>
                </a:r>
                <a:r>
                  <a:rPr lang="it-IT" b="1" dirty="0">
                    <a:solidFill>
                      <a:schemeClr val="bg1">
                        <a:lumMod val="95000"/>
                      </a:schemeClr>
                    </a:solidFill>
                  </a:rPr>
                  <a:t> B</a:t>
                </a:r>
                <a:r>
                  <a:rPr lang="it-IT" dirty="0">
                    <a:solidFill>
                      <a:schemeClr val="bg1">
                        <a:lumMod val="95000"/>
                      </a:schemeClr>
                    </a:solidFill>
                  </a:rPr>
                  <a:t> nella sintesi di controllori ottimi (</a:t>
                </a:r>
                <a:r>
                  <a:rPr lang="it-IT" b="1" dirty="0">
                    <a:solidFill>
                      <a:schemeClr val="bg1">
                        <a:lumMod val="95000"/>
                      </a:schemeClr>
                    </a:solidFill>
                  </a:rPr>
                  <a:t>LQR</a:t>
                </a:r>
                <a:r>
                  <a:rPr lang="it-IT" dirty="0">
                    <a:solidFill>
                      <a:schemeClr val="bg1">
                        <a:lumMod val="95000"/>
                      </a:schemeClr>
                    </a:solidFill>
                  </a:rPr>
                  <a:t>);</a:t>
                </a:r>
              </a:p>
              <a:p>
                <a:pPr marL="742950" lvl="1" indent="-285750" algn="just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it-IT" dirty="0">
                    <a:solidFill>
                      <a:schemeClr val="bg1">
                        <a:lumMod val="95000"/>
                      </a:schemeClr>
                    </a:solidFill>
                  </a:rPr>
                  <a:t>Impiego con successo di una </a:t>
                </a:r>
                <a:r>
                  <a:rPr lang="it-IT" i="1" dirty="0">
                    <a:solidFill>
                      <a:schemeClr val="bg1">
                        <a:lumMod val="95000"/>
                      </a:schemeClr>
                    </a:solidFill>
                  </a:rPr>
                  <a:t>policy </a:t>
                </a:r>
                <a:r>
                  <a:rPr lang="it-IT" dirty="0">
                    <a:solidFill>
                      <a:schemeClr val="bg1">
                        <a:lumMod val="95000"/>
                      </a:schemeClr>
                    </a:solidFill>
                  </a:rPr>
                  <a:t>di </a:t>
                </a:r>
                <a:r>
                  <a:rPr lang="it-IT" i="1" dirty="0" err="1">
                    <a:solidFill>
                      <a:schemeClr val="bg1">
                        <a:lumMod val="95000"/>
                      </a:schemeClr>
                    </a:solidFill>
                  </a:rPr>
                  <a:t>hold</a:t>
                </a:r>
                <a:r>
                  <a:rPr lang="it-IT" i="1" dirty="0">
                    <a:solidFill>
                      <a:schemeClr val="bg1">
                        <a:lumMod val="95000"/>
                      </a:schemeClr>
                    </a:solidFill>
                  </a:rPr>
                  <a:t> </a:t>
                </a:r>
                <a:r>
                  <a:rPr lang="it-IT" dirty="0">
                    <a:solidFill>
                      <a:schemeClr val="bg1">
                        <a:lumMod val="95000"/>
                      </a:schemeClr>
                    </a:solidFill>
                  </a:rPr>
                  <a:t>dell’ingresso con decadimento esponenziale, e studio delle performance al variare di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it-IT" dirty="0">
                    <a:solidFill>
                      <a:schemeClr val="bg1">
                        <a:lumMod val="95000"/>
                      </a:schemeClr>
                    </a:solidFill>
                  </a:rPr>
                  <a:t> (picco trovato per </a:t>
                </a:r>
                <a14:m>
                  <m:oMath xmlns:m="http://schemas.openxmlformats.org/officeDocument/2006/math">
                    <m:r>
                      <a:rPr lang="it-IT" b="1" i="1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it-IT" i="1">
                        <a:solidFill>
                          <a:schemeClr val="bg1">
                            <a:lumMod val="9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≃95%</m:t>
                    </m:r>
                  </m:oMath>
                </a14:m>
                <a:r>
                  <a:rPr lang="it-IT" dirty="0">
                    <a:solidFill>
                      <a:schemeClr val="bg1">
                        <a:lumMod val="95000"/>
                      </a:schemeClr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DC1F28BB-FD6C-C1B1-FCFD-EBF4CFB0A1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54" y="1008364"/>
                <a:ext cx="6632321" cy="2616101"/>
              </a:xfrm>
              <a:prstGeom prst="rect">
                <a:avLst/>
              </a:prstGeom>
              <a:blipFill>
                <a:blip r:embed="rId3"/>
                <a:stretch>
                  <a:fillRect t="-930" r="-735" b="-255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magine 17">
            <a:extLst>
              <a:ext uri="{FF2B5EF4-FFF2-40B4-BE49-F238E27FC236}">
                <a16:creationId xmlns:a16="http://schemas.microsoft.com/office/drawing/2014/main" id="{2A919CD5-9B1F-0484-92D0-C93A1BE994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6078" y="6133296"/>
            <a:ext cx="2283511" cy="56627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B5DF4F8D-49F4-F096-0F52-26FAB4AFFC3B}"/>
              </a:ext>
            </a:extLst>
          </p:cNvPr>
          <p:cNvSpPr txBox="1"/>
          <p:nvPr/>
        </p:nvSpPr>
        <p:spPr>
          <a:xfrm>
            <a:off x="711454" y="3749507"/>
            <a:ext cx="8297588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625" indent="0">
              <a:spcAft>
                <a:spcPts val="1200"/>
              </a:spcAft>
              <a:buNone/>
            </a:pPr>
            <a:r>
              <a:rPr lang="it-IT" sz="2000" b="1" dirty="0">
                <a:solidFill>
                  <a:schemeClr val="bg1">
                    <a:lumMod val="95000"/>
                  </a:schemeClr>
                </a:solidFill>
              </a:rPr>
              <a:t>Sviluppi Futuri…</a:t>
            </a:r>
            <a:endParaRPr lang="it-IT" sz="2000" dirty="0">
              <a:solidFill>
                <a:schemeClr val="bg1">
                  <a:lumMod val="95000"/>
                </a:schemeClr>
              </a:solidFill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Validazione su un modello </a:t>
            </a:r>
            <a:r>
              <a:rPr lang="it-IT" b="1" i="1" dirty="0">
                <a:solidFill>
                  <a:schemeClr val="bg1">
                    <a:lumMod val="95000"/>
                  </a:schemeClr>
                </a:solidFill>
              </a:rPr>
              <a:t>hardware</a:t>
            </a:r>
            <a:r>
              <a:rPr lang="it-IT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reale;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Modelli di </a:t>
            </a:r>
            <a:r>
              <a:rPr lang="it-IT" b="1" dirty="0">
                <a:solidFill>
                  <a:schemeClr val="bg1">
                    <a:lumMod val="95000"/>
                  </a:schemeClr>
                </a:solidFill>
                <a:ea typeface="Open Sans Condensed" panose="020B0604020202020204" charset="0"/>
                <a:cs typeface="Open Sans Condensed" panose="020B0604020202020204" charset="0"/>
              </a:rPr>
              <a:t>disturbi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  <a:ea typeface="Open Sans Condensed" panose="020B0604020202020204" charset="0"/>
                <a:cs typeface="Open Sans Condensed" panose="020B0604020202020204" charset="0"/>
              </a:rPr>
              <a:t> pi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ù 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  <a:ea typeface="Open Sans Condensed" panose="020B0604020202020204" charset="0"/>
                <a:cs typeface="Open Sans Condensed" panose="020B0604020202020204" charset="0"/>
              </a:rPr>
              <a:t>complessi 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(ritardi, </a:t>
            </a:r>
            <a:r>
              <a:rPr lang="it-IT" i="1" dirty="0">
                <a:solidFill>
                  <a:schemeClr val="bg1">
                    <a:lumMod val="95000"/>
                  </a:schemeClr>
                </a:solidFill>
              </a:rPr>
              <a:t>burst, 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…);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Identificazione e controllo con </a:t>
            </a:r>
            <a:r>
              <a:rPr lang="it-IT" b="1" i="1" dirty="0">
                <a:solidFill>
                  <a:schemeClr val="bg1">
                    <a:lumMod val="95000"/>
                  </a:schemeClr>
                </a:solidFill>
              </a:rPr>
              <a:t>machine</a:t>
            </a:r>
            <a:r>
              <a:rPr lang="it-IT" i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it-IT" b="1" i="1" dirty="0">
                <a:solidFill>
                  <a:schemeClr val="bg1">
                    <a:lumMod val="95000"/>
                  </a:schemeClr>
                </a:solidFill>
              </a:rPr>
              <a:t>learning</a:t>
            </a:r>
            <a:r>
              <a:rPr lang="it-IT" i="1" dirty="0">
                <a:solidFill>
                  <a:schemeClr val="bg1">
                    <a:lumMod val="95000"/>
                  </a:schemeClr>
                </a:solidFill>
              </a:rPr>
              <a:t>;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Approccio </a:t>
            </a:r>
            <a:r>
              <a:rPr lang="it-IT" b="1" dirty="0">
                <a:solidFill>
                  <a:schemeClr val="bg1">
                    <a:lumMod val="95000"/>
                  </a:schemeClr>
                </a:solidFill>
              </a:rPr>
              <a:t>stocastico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 all’analisi della </a:t>
            </a:r>
            <a:r>
              <a:rPr lang="it-IT" b="1" dirty="0">
                <a:solidFill>
                  <a:schemeClr val="bg1">
                    <a:lumMod val="95000"/>
                  </a:schemeClr>
                </a:solidFill>
              </a:rPr>
              <a:t>stabilità</a:t>
            </a:r>
            <a:r>
              <a:rPr lang="it-IT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05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0AFE0103-846C-FBA5-DC5A-4423106F0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98046" y="601202"/>
            <a:ext cx="8432386" cy="9516172"/>
          </a:xfrm>
          <a:prstGeom prst="rect">
            <a:avLst/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FE2B4440-8059-B4E3-ED38-1F15C717BFB1}"/>
              </a:ext>
            </a:extLst>
          </p:cNvPr>
          <p:cNvSpPr/>
          <p:nvPr/>
        </p:nvSpPr>
        <p:spPr>
          <a:xfrm>
            <a:off x="0" y="5943602"/>
            <a:ext cx="12192000" cy="977153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508FC3AB-A64C-8A4B-0E15-0D4F7C93428D}"/>
              </a:ext>
            </a:extLst>
          </p:cNvPr>
          <p:cNvSpPr/>
          <p:nvPr/>
        </p:nvSpPr>
        <p:spPr>
          <a:xfrm>
            <a:off x="695325" y="970112"/>
            <a:ext cx="3932924" cy="326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it-IT" sz="2500" b="1" noProof="0" dirty="0">
                <a:solidFill>
                  <a:srgbClr val="424242"/>
                </a:solidFill>
                <a:latin typeface="Atkinson Hyperlegible" pitchFamily="2" charset="77"/>
                <a:ea typeface="Roboto" panose="02000000000000000000" pitchFamily="2" charset="0"/>
                <a:cs typeface="Roboto" panose="02000000000000000000" pitchFamily="2" charset="0"/>
              </a:rPr>
              <a:t>Riferimenti Bibliografici</a:t>
            </a: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ED342509-A3AE-0C11-66DD-726D510EC007}"/>
              </a:ext>
            </a:extLst>
          </p:cNvPr>
          <p:cNvSpPr/>
          <p:nvPr/>
        </p:nvSpPr>
        <p:spPr>
          <a:xfrm>
            <a:off x="695324" y="1368644"/>
            <a:ext cx="5864502" cy="277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endParaRPr lang="it-IT" sz="1200" noProof="0" dirty="0">
              <a:solidFill>
                <a:srgbClr val="424242"/>
              </a:solidFill>
              <a:latin typeface="Atkinson Hyperlegible" pitchFamily="2" charset="77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1ED790A8-792E-FA49-2A56-98DFA5955E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26078" y="6133296"/>
            <a:ext cx="2283511" cy="56627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92534FF-492C-1A34-990F-A57EA805CAE3}"/>
              </a:ext>
            </a:extLst>
          </p:cNvPr>
          <p:cNvSpPr txBox="1"/>
          <p:nvPr/>
        </p:nvSpPr>
        <p:spPr>
          <a:xfrm>
            <a:off x="695323" y="1717867"/>
            <a:ext cx="4714877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800"/>
              </a:spcAft>
              <a:buClr>
                <a:srgbClr val="1F7E9C"/>
              </a:buClr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Chen Chi‑Tsong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linear system theory and design – </a:t>
            </a:r>
            <a:r>
              <a:rPr lang="en-US" sz="1600" dirty="0">
                <a:solidFill>
                  <a:srgbClr val="1F7E9C"/>
                </a:solidFill>
              </a:rPr>
              <a:t>1999 </a:t>
            </a:r>
            <a:r>
              <a:rPr lang="en-US" sz="1600" dirty="0">
                <a:solidFill>
                  <a:srgbClr val="1F7E9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https://doi.org/10.1016/0005-1098(86)90039-7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it-IT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spcAft>
                <a:spcPts val="1800"/>
              </a:spcAft>
              <a:buClr>
                <a:srgbClr val="1F7E9C"/>
              </a:buClr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Dang Thai-Bao [et al.]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PID Control for Cart and Pole system: Simulation and Experiment – 2024 </a:t>
            </a:r>
            <a:r>
              <a:rPr lang="en-US" sz="1600" dirty="0">
                <a:solidFill>
                  <a:srgbClr val="1F7E9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https://ejournal.ptti.web.id/index.php/jfsc/article/view/165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it-IT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spcAft>
                <a:spcPts val="1800"/>
              </a:spcAft>
              <a:buClr>
                <a:srgbClr val="1F7E9C"/>
              </a:buClr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Vivek Kumar </a:t>
            </a:r>
            <a:r>
              <a:rPr lang="en-US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pathak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and Sankalp </a:t>
            </a:r>
            <a:r>
              <a:rPr lang="en-US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paliwal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Analysis &amp; Control of Inverted Pendulum System Using PID Controller – 2017 </a:t>
            </a:r>
            <a:r>
              <a:rPr lang="en-US" sz="1600" dirty="0">
                <a:solidFill>
                  <a:srgbClr val="1F7E9C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https://www.ijera.com/papers/Vol7_issue5/Part-4/A0705040104.pdf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it-IT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0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4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F31F9"/>
      </a:accent1>
      <a:accent2>
        <a:srgbClr val="FFC00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46a9950-fd3f-4731-a2be-81d3daeaf66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5542D5EE5DE5045A01EDCABFBDE027B" ma:contentTypeVersion="10" ma:contentTypeDescription="Creare un nuovo documento." ma:contentTypeScope="" ma:versionID="c5f4603f29b198122b2d86fea548dbf8">
  <xsd:schema xmlns:xsd="http://www.w3.org/2001/XMLSchema" xmlns:xs="http://www.w3.org/2001/XMLSchema" xmlns:p="http://schemas.microsoft.com/office/2006/metadata/properties" xmlns:ns3="f46a9950-fd3f-4731-a2be-81d3daeaf665" targetNamespace="http://schemas.microsoft.com/office/2006/metadata/properties" ma:root="true" ma:fieldsID="28fd984dde67d999fd17baf9d56a74a4" ns3:_="">
    <xsd:import namespace="f46a9950-fd3f-4731-a2be-81d3daeaf66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6a9950-fd3f-4731-a2be-81d3daeaf66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727B60-781D-4ACC-B115-A22B80241F7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f46a9950-fd3f-4731-a2be-81d3daeaf66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BAD60AD-E7A9-4574-B2B3-A83B408F4D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0825CC-9D41-432C-89BB-FE56C2C1F0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6a9950-fd3f-4731-a2be-81d3daeaf6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2263</TotalTime>
  <Words>1105</Words>
  <Application>Microsoft Office PowerPoint</Application>
  <PresentationFormat>Widescreen</PresentationFormat>
  <Paragraphs>95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4" baseType="lpstr">
      <vt:lpstr>Arial</vt:lpstr>
      <vt:lpstr>Atkinson Hyperlegible</vt:lpstr>
      <vt:lpstr>Calibri</vt:lpstr>
      <vt:lpstr>Cambria Math</vt:lpstr>
      <vt:lpstr>Courier New</vt:lpstr>
      <vt:lpstr>Open Sans Condensed</vt:lpstr>
      <vt:lpstr>Poppins</vt:lpstr>
      <vt:lpstr>Times New Roman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Sk Nirob</dc:creator>
  <cp:lastModifiedBy>Americo Cherubini</cp:lastModifiedBy>
  <cp:revision>529</cp:revision>
  <dcterms:created xsi:type="dcterms:W3CDTF">2024-10-03T05:42:43Z</dcterms:created>
  <dcterms:modified xsi:type="dcterms:W3CDTF">2025-07-20T15:57:13Z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0x01010035542D5EE5DE5045A01EDCABFBDE027B</vt:lpwstr>
  </property>
</Properties>
</file>